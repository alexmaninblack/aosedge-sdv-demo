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11cf4f67da4685" /><Relationship Type="http://schemas.openxmlformats.org/officeDocument/2006/relationships/extended-properties" Target="/docProps/app.xml" Id="Rb6b2e1ce431f440c" /><Relationship Type="http://schemas.openxmlformats.org/officeDocument/2006/relationships/officeDocument" Target="/ppt/presentation.xml" Id="R7d6e58fbf6174085" /></Relationships>
</file>

<file path=ppt/presentation.xml><?xml version="1.0" encoding="utf-8"?>
<p:presentation xmlns:p="http://schemas.openxmlformats.org/presentationml/2006/main">
  <p:sldMasterIdLst>
    <p:sldMasterId xmlns:r="http://schemas.openxmlformats.org/officeDocument/2006/relationships" id="2147483648" r:id="R7eeebe92ac1646cb"/>
  </p:sldMasterIdLst>
  <p:notesMasterIdLst>
    <p:notesMasterId xmlns:r="http://schemas.openxmlformats.org/officeDocument/2006/relationships" r:id="R257c34244f4b4406"/>
  </p:notesMasterIdLst>
  <p:sldIdLst>
    <p:sldId xmlns:r="http://schemas.openxmlformats.org/officeDocument/2006/relationships" id="256" r:id="Ra4c42ccf28d84098"/>
    <p:sldId xmlns:r="http://schemas.openxmlformats.org/officeDocument/2006/relationships" id="257" r:id="R0cd73eb963354ea1"/>
    <p:sldId xmlns:r="http://schemas.openxmlformats.org/officeDocument/2006/relationships" id="258" r:id="Rfc0c3c0012734724"/>
    <p:sldId xmlns:r="http://schemas.openxmlformats.org/officeDocument/2006/relationships" id="259" r:id="R4d29294f1b234413"/>
    <p:sldId xmlns:r="http://schemas.openxmlformats.org/officeDocument/2006/relationships" id="260" r:id="Rc0c13e9ebd3d4738"/>
    <p:sldId xmlns:r="http://schemas.openxmlformats.org/officeDocument/2006/relationships" id="261" r:id="R72fc9ab1a7a6401d"/>
    <p:sldId xmlns:r="http://schemas.openxmlformats.org/officeDocument/2006/relationships" id="262" r:id="Rc99f24beda3544c0"/>
    <p:sldId xmlns:r="http://schemas.openxmlformats.org/officeDocument/2006/relationships" id="263" r:id="R23ff9bf743fb495b"/>
    <p:sldId xmlns:r="http://schemas.openxmlformats.org/officeDocument/2006/relationships" id="264" r:id="R680c5340d5304f82"/>
    <p:sldId xmlns:r="http://schemas.openxmlformats.org/officeDocument/2006/relationships" id="265" r:id="R2d8b93c11a4741ce"/>
    <p:sldId xmlns:r="http://schemas.openxmlformats.org/officeDocument/2006/relationships" id="266" r:id="R6f5f1b5da8704d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87bbad07594445" /><Relationship Type="http://schemas.openxmlformats.org/officeDocument/2006/relationships/slideMaster" Target="/ppt/slideMasters/slideMaster1.xml" Id="R7eeebe92ac1646cb" /><Relationship Type="http://schemas.openxmlformats.org/officeDocument/2006/relationships/notesMaster" Target="/ppt/notesMasters/notesMaster1.xml" Id="R257c34244f4b4406" /><Relationship Type="http://schemas.openxmlformats.org/officeDocument/2006/relationships/presProps" Target="/ppt/presProps.xml" Id="Rdc714deb48704e3f" /><Relationship Type="http://schemas.openxmlformats.org/officeDocument/2006/relationships/tableStyles" Target="/ppt/tableStyles.xml" Id="R64dd0575d0124611" /><Relationship Type="http://schemas.openxmlformats.org/officeDocument/2006/relationships/slide" Target="/ppt/slides/slide1.xml" Id="Ra4c42ccf28d84098" /><Relationship Type="http://schemas.openxmlformats.org/officeDocument/2006/relationships/slide" Target="/ppt/slides/slide2.xml" Id="R0cd73eb963354ea1" /><Relationship Type="http://schemas.openxmlformats.org/officeDocument/2006/relationships/slide" Target="/ppt/slides/slide3.xml" Id="Rfc0c3c0012734724" /><Relationship Type="http://schemas.openxmlformats.org/officeDocument/2006/relationships/slide" Target="/ppt/slides/slide4.xml" Id="R4d29294f1b234413" /><Relationship Type="http://schemas.openxmlformats.org/officeDocument/2006/relationships/slide" Target="/ppt/slides/slide5.xml" Id="Rc0c13e9ebd3d4738" /><Relationship Type="http://schemas.openxmlformats.org/officeDocument/2006/relationships/slide" Target="/ppt/slides/slide6.xml" Id="R72fc9ab1a7a6401d" /><Relationship Type="http://schemas.openxmlformats.org/officeDocument/2006/relationships/slide" Target="/ppt/slides/slide7.xml" Id="Rc99f24beda3544c0" /><Relationship Type="http://schemas.openxmlformats.org/officeDocument/2006/relationships/slide" Target="/ppt/slides/slide8.xml" Id="R23ff9bf743fb495b" /><Relationship Type="http://schemas.openxmlformats.org/officeDocument/2006/relationships/slide" Target="/ppt/slides/slide9.xml" Id="R680c5340d5304f82" /><Relationship Type="http://schemas.openxmlformats.org/officeDocument/2006/relationships/slide" Target="/ppt/slides/slide10.xml" Id="R2d8b93c11a4741ce" /><Relationship Type="http://schemas.openxmlformats.org/officeDocument/2006/relationships/slide" Target="/ppt/slides/slide11.xml" Id="R6f5f1b5da8704d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0a0bb77d8044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141f883e654827" /><Relationship Type="http://schemas.openxmlformats.org/officeDocument/2006/relationships/notesMaster" Target="/ppt/notesMasters/notesMaster1.xml" Id="R529e08ee28bf4b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587eccba714825" /><Relationship Type="http://schemas.openxmlformats.org/officeDocument/2006/relationships/notesMaster" Target="/ppt/notesMasters/notesMaster1.xml" Id="Ra722d8f3ef8348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ed6c5b0bb54403" /><Relationship Type="http://schemas.openxmlformats.org/officeDocument/2006/relationships/notesMaster" Target="/ppt/notesMasters/notesMaster1.xml" Id="Rc84487173a234e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32d23f38ff4e54" /><Relationship Type="http://schemas.openxmlformats.org/officeDocument/2006/relationships/notesMaster" Target="/ppt/notesMasters/notesMaster1.xml" Id="R24cef3f6a00942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7a4cb867fd464f" /><Relationship Type="http://schemas.openxmlformats.org/officeDocument/2006/relationships/notesMaster" Target="/ppt/notesMasters/notesMaster1.xml" Id="R08c0c41cf7494f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1e344807524cdd" /><Relationship Type="http://schemas.openxmlformats.org/officeDocument/2006/relationships/notesMaster" Target="/ppt/notesMasters/notesMaster1.xml" Id="Ree903e9cdf3f4d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66b8a4205b4d2e" /><Relationship Type="http://schemas.openxmlformats.org/officeDocument/2006/relationships/notesMaster" Target="/ppt/notesMasters/notesMaster1.xml" Id="Re53791a09db448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409ef71a6114d89" /><Relationship Type="http://schemas.openxmlformats.org/officeDocument/2006/relationships/notesMaster" Target="/ppt/notesMasters/notesMaster1.xml" Id="Ra8e26aa5b8054d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2a8ba6c35646f1" /><Relationship Type="http://schemas.openxmlformats.org/officeDocument/2006/relationships/notesMaster" Target="/ppt/notesMasters/notesMaster1.xml" Id="Rcb21ef2cd33741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09e36c991644cc3" /><Relationship Type="http://schemas.openxmlformats.org/officeDocument/2006/relationships/notesMaster" Target="/ppt/notesMasters/notesMaster1.xml" Id="R24473c11fb69441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b1f54c92b114f88" /><Relationship Type="http://schemas.openxmlformats.org/officeDocument/2006/relationships/notesMaster" Target="/ppt/notesMasters/notesMaster1.xml" Id="R6b7361f5ac504a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purpose: align the architecture and the audience-visible story before entering detailed design. This is deliberately a content-first draft; no visual polish or implementation claim is implied.</a:t>
            </a:r>
          </a:p>
          <a:p xmlns:a="http://schemas.openxmlformats.org/drawingml/2006/main">
            <a:r>
              <a:t/>
            </a:r>
          </a:p>
          <a:p xmlns:a="http://schemas.openxmlformats.org/drawingml/2006/main">
            <a:r>
              <a:t>[Sources]</a:t>
            </a:r>
          </a:p>
          <a:p xmlns:a="http://schemas.openxmlformats.org/drawingml/2006/main">
            <a:r>
              <a:t>- file:///Users/alexagizim/OpenAI/aosedge-sdv-demo/docs/architecture/high-level-architecture.md</a:t>
            </a:r>
          </a:p>
          <a:p xmlns:a="http://schemas.openxmlformats.org/drawingml/2006/main">
            <a:r>
              <a:t>- file:///Users/alexagizim/OpenAI/aosedge-sdv-demo/docs/demo/staged-post-sop-brake-health-demo-scenarios.md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claim precise: the demo does not say that software never changes after SOP. It says the SOP architecture already contains the controlled extension mechanisms required for later FOTA and SOTA evolution.</a:t>
            </a:r>
          </a:p>
          <a:p xmlns:a="http://schemas.openxmlformats.org/drawingml/2006/main">
            <a:r>
              <a:t/>
            </a:r>
          </a:p>
          <a:p xmlns:a="http://schemas.openxmlformats.org/drawingml/2006/main">
            <a:r>
              <a:t>[Sources]</a:t>
            </a:r>
          </a:p>
          <a:p xmlns:a="http://schemas.openxmlformats.org/drawingml/2006/main">
            <a:r>
              <a:t>- file:///Users/alexagizim/OpenAI/aosedge-sdv-demo/docs/demo/staged-post-sop-brake-health-demo-scenarios.md</a:t>
            </a:r>
          </a:p>
          <a:p xmlns:a="http://schemas.openxmlformats.org/drawingml/2006/main">
            <a:r>
              <a:t>- file:///Users/alexagizim/OpenAI/aosedge-sdv-demo/docs/architecture/high-level-architecture.md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CARLA is the physical vehicle simulation. The Gateway converts CARLA-specific state to VSS and exposes VISS. AosVM models a separate Domain Controller ECU. The service consumes KUKSA, never CARLA or VISS directly. The engineering dashboard remains a read-only observer of the Gateway path.</a:t>
            </a:r>
          </a:p>
          <a:p xmlns:a="http://schemas.openxmlformats.org/drawingml/2006/main">
            <a:r>
              <a:t/>
            </a:r>
          </a:p>
          <a:p xmlns:a="http://schemas.openxmlformats.org/drawingml/2006/main">
            <a:r>
              <a:t>[Sources]</a:t>
            </a:r>
          </a:p>
          <a:p xmlns:a="http://schemas.openxmlformats.org/drawingml/2006/main">
            <a:r>
              <a:t>- file:///Users/alexagizim/OpenAI/aosedge-sdv-demo/docs/architecture/high-level-architecture.md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organizational decoupling. A platform defect creates a new FOTA artifact; a service or model defect creates a new SOTA version. They meet on the Validation Unit, freeze one compatible graph, then promote the same accepted bytes to the Demonstration Unit.</a:t>
            </a:r>
          </a:p>
          <a:p xmlns:a="http://schemas.openxmlformats.org/drawingml/2006/main">
            <a:r>
              <a:t/>
            </a:r>
          </a:p>
          <a:p xmlns:a="http://schemas.openxmlformats.org/drawingml/2006/main">
            <a:r>
              <a:t>[Sources]</a:t>
            </a:r>
          </a:p>
          <a:p xmlns:a="http://schemas.openxmlformats.org/drawingml/2006/main">
            <a:r>
              <a:t>- file:///Users/alexagizim/OpenAI/aosedge-sdv-demo/docs/architecture/high-level-architecture.md</a:t>
            </a:r>
          </a:p>
          <a:p xmlns:a="http://schemas.openxmlformats.org/drawingml/2006/main">
            <a:r>
              <a:t>- file:///Users/alexagizim/OpenAI/aosedge-sdv-demo/docs/demo/staged-post-sop-brake-health-demo-scenarios.md</a:t>
            </a:r>
          </a:p>
          <a:p xmlns:a="http://schemas.openxmlformats.org/drawingml/2006/main">
            <a:r>
              <a:t>- file:///Users/alexagizim/OpenAI/aosedge-sdv-demo/docs/architecture/demo-scenario-architecture-flows.md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audience's mental model for the whole demo. Do not introduce implementation details here. The same physical scenario runs against successive immutable software graphs.</a:t>
            </a:r>
          </a:p>
          <a:p xmlns:a="http://schemas.openxmlformats.org/drawingml/2006/main">
            <a:r>
              <a:t/>
            </a:r>
          </a:p>
          <a:p xmlns:a="http://schemas.openxmlformats.org/drawingml/2006/main">
            <a:r>
              <a:t>[Sources]</a:t>
            </a:r>
          </a:p>
          <a:p xmlns:a="http://schemas.openxmlformats.org/drawingml/2006/main">
            <a:r>
              <a:t>- file:///Users/alexagizim/OpenAI/aosedge-sdv-demo/docs/demo/staged-post-sop-brake-health-demo-scenarios.md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G0 the vehicle and engineering telemetry already work. G1 is platform value: an approved subset enters KUKSA. G2 is functional value: a separately deployed service consumes that contract and publishes to its own backend. Stopping S1 should not remove P1 or the direct engineering path.</a:t>
            </a:r>
          </a:p>
          <a:p xmlns:a="http://schemas.openxmlformats.org/drawingml/2006/main">
            <a:r>
              <a:t/>
            </a:r>
          </a:p>
          <a:p xmlns:a="http://schemas.openxmlformats.org/drawingml/2006/main">
            <a:r>
              <a:t>[Sources]</a:t>
            </a:r>
          </a:p>
          <a:p xmlns:a="http://schemas.openxmlformats.org/drawingml/2006/main">
            <a:r>
              <a:t>- file:///Users/alexagizim/OpenAI/aosedge-sdv-demo/docs/demo/staged-post-sop-brake-health-demo-scenarios.md</a:t>
            </a:r>
          </a:p>
          <a:p xmlns:a="http://schemas.openxmlformats.org/drawingml/2006/main">
            <a:r>
              <a:t>- file:///Users/alexagizim/OpenAI/aosedge-sdv-demo/docs/architecture/demo-scenario-architecture-flows.md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G3 shows why two lifecycles matter. The Function Team cannot simply reach into the vehicle network. It requests an extended, versioned capability. The Platform Team qualifies P2 first; the Function Team then validates S2 and its prepared model. The demo shows deterministic inference, not live training or production diagnostic accuracy.</a:t>
            </a:r>
          </a:p>
          <a:p xmlns:a="http://schemas.openxmlformats.org/drawingml/2006/main">
            <a:r>
              <a:t/>
            </a:r>
          </a:p>
          <a:p xmlns:a="http://schemas.openxmlformats.org/drawingml/2006/main">
            <a:r>
              <a:t>[Sources]</a:t>
            </a:r>
          </a:p>
          <a:p xmlns:a="http://schemas.openxmlformats.org/drawingml/2006/main">
            <a:r>
              <a:t>- file:///Users/alexagizim/OpenAI/aosedge-sdv-demo/docs/demo/staged-post-sop-brake-health-demo-scenarios.md</a:t>
            </a:r>
          </a:p>
          <a:p xmlns:a="http://schemas.openxmlformats.org/drawingml/2006/main">
            <a:r>
              <a:t>- file:///Users/alexagizim/OpenAI/aosedge-sdv-demo/docs/architecture/demo-scenario-architecture-flows.md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proof is the complete on-board loop: signal, KUKSA, local inference, bounded actuator target, outbound provider, Gateway receipt, and factual status in the Engineering Dashboard. Cloud loss may delay the functional report but cannot block the advisory decision. The demo does not claim that a driver display exists.</a:t>
            </a:r>
          </a:p>
          <a:p xmlns:a="http://schemas.openxmlformats.org/drawingml/2006/main">
            <a:r>
              <a:t/>
            </a:r>
          </a:p>
          <a:p xmlns:a="http://schemas.openxmlformats.org/drawingml/2006/main">
            <a:r>
              <a:t>[Sources]</a:t>
            </a:r>
          </a:p>
          <a:p xmlns:a="http://schemas.openxmlformats.org/drawingml/2006/main">
            <a:r>
              <a:t>- file:///Users/alexagizim/OpenAI/aosedge-sdv-demo/docs/architecture/high-level-architecture.md</a:t>
            </a:r>
          </a:p>
          <a:p xmlns:a="http://schemas.openxmlformats.org/drawingml/2006/main">
            <a:r>
              <a:t>- file:///Users/alexagizim/OpenAI/aosedge-sdv-demo/docs/demo/staged-post-sop-brake-health-demo-scenarios.md</a:t>
            </a:r>
          </a:p>
          <a:p xmlns:a="http://schemas.openxmlformats.org/drawingml/2006/main">
            <a:r>
              <a:t>- file:///Users/alexagizim/OpenAI/aosedge-sdv-demo/docs/architecture/demo-scenario-architecture-flows.md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main story by asking for alignment, not detailed implementation review. Each surface has one authority: CARLA shows physical behavior; Engineering Telemetry shows Gateway facts; Software Delivery presents real AosCloud lifecycle state; the Function Dashboard shows feature output. ELK is optional evidence, not the main narrative.</a:t>
            </a:r>
          </a:p>
          <a:p xmlns:a="http://schemas.openxmlformats.org/drawingml/2006/main">
            <a:r>
              <a:t/>
            </a:r>
          </a:p>
          <a:p xmlns:a="http://schemas.openxmlformats.org/drawingml/2006/main">
            <a:r>
              <a:t>[Sources]</a:t>
            </a:r>
          </a:p>
          <a:p xmlns:a="http://schemas.openxmlformats.org/drawingml/2006/main">
            <a:r>
              <a:t>- file:///Users/alexagizim/OpenAI/aosedge-sdv-demo/docs/demo/staged-post-sop-brake-health-demo-scenarios.md</a:t>
            </a:r>
          </a:p>
          <a:p xmlns:a="http://schemas.openxmlformats.org/drawingml/2006/main">
            <a:r>
              <a:t>- file:///Users/alexagizim/OpenAI/aosedge-sdv-demo/docs/architecture/demo-scenario-architecture-flows.md</a:t>
            </a:r>
          </a:p>
          <a:p xmlns:a="http://schemas.openxmlformats.org/drawingml/2006/main">
            <a:r>
              <a:t>- file:///Users/alexagizim/OpenAI/aosedge-sdv-demo/docs/architecture/high-level-architecture.md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if the discussion moves from story alignment to implementation readiness. These are consolidated capability groups, not a claim that all gaps are equal in size or risk. Reset is highlighted because it crosses VM, Cloud desired state, external dashboards, backend data and CARLA scenario state.</a:t>
            </a:r>
          </a:p>
          <a:p xmlns:a="http://schemas.openxmlformats.org/drawingml/2006/main">
            <a:r>
              <a:t/>
            </a:r>
          </a:p>
          <a:p xmlns:a="http://schemas.openxmlformats.org/drawingml/2006/main">
            <a:r>
              <a:t>[Sources]</a:t>
            </a:r>
          </a:p>
          <a:p xmlns:a="http://schemas.openxmlformats.org/drawingml/2006/main">
            <a:r>
              <a:t>- file:///Users/alexagizim/OpenAI/aosedge-sdv-demo/docs/architecture/demo-scenario-architecture-flows.md</a:t>
            </a:r>
          </a:p>
          <a:p xmlns:a="http://schemas.openxmlformats.org/drawingml/2006/main">
            <a:r>
              <a:t>- file:///Users/alexagizim/OpenAI/aosedge-sdv-demo/docs/planning/roadmap.md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accepted scenario needs a fast, repeatable reset, but the supported mechanism is not yet proven. The research gate must distinguish a platform-supported rollback from an out-of-band demo reset and account for Cloud desired state after any VM snapshot restore.</a:t>
            </a:r>
          </a:p>
          <a:p xmlns:a="http://schemas.openxmlformats.org/drawingml/2006/main">
            <a:r>
              <a:t/>
            </a:r>
          </a:p>
          <a:p xmlns:a="http://schemas.openxmlformats.org/drawingml/2006/main">
            <a:r>
              <a:t>[Sources]</a:t>
            </a:r>
          </a:p>
          <a:p xmlns:a="http://schemas.openxmlformats.org/drawingml/2006/main">
            <a:r>
              <a:t>- file:///Users/alexagizim/OpenAI/aosedge-sdv-demo/docs/planning/roadmap.md</a:t>
            </a:r>
          </a:p>
          <a:p xmlns:a="http://schemas.openxmlformats.org/drawingml/2006/main">
            <a:r>
              <a:t>- file:///Users/alexagizim/OpenAI/aosedge-sdv-demo/docs/demo/staged-post-sop-brake-health-demo-scenarios.md</a:t>
            </a:r>
          </a:p>
          <a:p xmlns:a="http://schemas.openxmlformats.org/drawingml/2006/main">
            <a:r>
              <a:t>- file:///Users/alexagizim/OpenAI/aosedge-sdv-demo/docs/architecture/demo-scenario-architecture-flows.md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d47f7f8ddc48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b1a206623143e1" /><Relationship Type="http://schemas.openxmlformats.org/officeDocument/2006/relationships/slideLayout" Target="/ppt/slideLayouts/slideLayout1.xml" Id="Ra334c53e5d994b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34c53e5d994b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b93cfee5b1e4901" /><Relationship Type="http://schemas.openxmlformats.org/officeDocument/2006/relationships/notesSlide" Target="/ppt/notesSlides/notesSlide1.xml" Id="Rfb84d7e32cac49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f13285d10f4174" /><Relationship Type="http://schemas.openxmlformats.org/officeDocument/2006/relationships/notesSlide" Target="/ppt/notesSlides/notesSlide2.xml" Id="R861cbd0f51ab44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617a90dceae4c3d" /><Relationship Type="http://schemas.openxmlformats.org/officeDocument/2006/relationships/notesSlide" Target="/ppt/notesSlides/notesSlide3.xml" Id="R473fa7196a8943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bda7eb9c0f64b15" /><Relationship Type="http://schemas.openxmlformats.org/officeDocument/2006/relationships/notesSlide" Target="/ppt/notesSlides/notesSlide4.xml" Id="Rb643ebebdaf1439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790c40f732e42d6" /><Relationship Type="http://schemas.openxmlformats.org/officeDocument/2006/relationships/notesSlide" Target="/ppt/notesSlides/notesSlide5.xml" Id="Radd344340d474a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e5a64e35c17460f" /><Relationship Type="http://schemas.openxmlformats.org/officeDocument/2006/relationships/notesSlide" Target="/ppt/notesSlides/notesSlide6.xml" Id="R47f72288b33d45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6acdb543a274e49" /><Relationship Type="http://schemas.openxmlformats.org/officeDocument/2006/relationships/notesSlide" Target="/ppt/notesSlides/notesSlide7.xml" Id="R7b7864b05eb44a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a8f858a5c1e4100" /><Relationship Type="http://schemas.openxmlformats.org/officeDocument/2006/relationships/notesSlide" Target="/ppt/notesSlides/notesSlide8.xml" Id="R706549b863674f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baca15d1f9c41f9" /><Relationship Type="http://schemas.openxmlformats.org/officeDocument/2006/relationships/notesSlide" Target="/ppt/notesSlides/notesSlide9.xml" Id="R0814ebf44b7b44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0ac5b7034804e8b" /><Relationship Type="http://schemas.openxmlformats.org/officeDocument/2006/relationships/notesSlide" Target="/ppt/notesSlides/notesSlide10.xml" Id="R397ecfef907c4d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81ca1251cb94d75" /><Relationship Type="http://schemas.openxmlformats.org/officeDocument/2006/relationships/notesSlide" Target="/ppt/notesSlides/notesSlide11.xml" Id="R879002484e554d0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92BFA9A-5605-4379-B50D-9E9C26B8288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F6F98"/>
          </a:solidFill>
          <a:ln xmlns:a="http://schemas.openxmlformats.org/drawingml/2006/main" w="0">
            <a:solidFill>
              <a:srgbClr val="2F6F98"/>
            </a:solidFill>
            <a:prstDash val="solid"/>
          </a:ln>
        </p:spPr>
      </p:sp>
      <p:sp>
        <p:nvSpPr>
          <p:cNvPr id="2" name="">
            <a:extLst xmlns:a="http://schemas.openxmlformats.org/drawingml/2006/main">
              <a:ext uri="{FF2B5EF4-FFF2-40B4-BE49-F238E27FC236}">
                <a16:creationId xmlns:a16="http://schemas.microsoft.com/office/drawing/2014/main" id="{03E80770-B0EE-4F3B-B888-C28B97106704}"/>
              </a:ext>
            </a:extLst>
          </p:cNvPr>
          <p:cNvSpPr>
            <a:spLocks xmlns:a="http://schemas.openxmlformats.org/drawingml/2006/main" noGrp="1"/>
          </p:cNvSpPr>
          <p:nvPr/>
        </p:nvSpPr>
        <p:spPr>
          <a:xfrm xmlns:a="http://schemas.openxmlformats.org/drawingml/2006/main">
            <a:off x="819150" y="11239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a:solidFill>
                  <a:srgbClr val="2F6F98"/>
                </a:solidFill>
                <a:latin typeface="Aptos"/>
                <a:ea typeface="Aptos"/>
                <a:cs typeface="Aptos"/>
              </a:defRPr>
            </a:pPr>
            <a:r>
              <a:rPr sz="1125" b="1">
                <a:solidFill>
                  <a:srgbClr val="2F6F98"/>
                </a:solidFill>
                <a:latin typeface="Aptos"/>
                <a:ea typeface="Aptos"/>
                <a:cs typeface="Aptos"/>
              </a:rPr>
              <a:t>POST-SOP VEHICLE EVOLUTION</a:t>
            </a:r>
          </a:p>
        </p:txBody>
      </p:sp>
      <p:sp>
        <p:nvSpPr>
          <p:cNvPr id="3" name="deck-title">
            <a:extLst xmlns:a="http://schemas.openxmlformats.org/drawingml/2006/main">
              <a:ext uri="{FF2B5EF4-FFF2-40B4-BE49-F238E27FC236}">
                <a16:creationId xmlns:a16="http://schemas.microsoft.com/office/drawing/2014/main" id="{A9DB450B-723A-4B56-8F12-8D2D055CD640}"/>
              </a:ext>
            </a:extLst>
          </p:cNvPr>
          <p:cNvSpPr>
            <a:spLocks xmlns:a="http://schemas.openxmlformats.org/drawingml/2006/main" noGrp="1"/>
          </p:cNvSpPr>
          <p:nvPr/>
        </p:nvSpPr>
        <p:spPr>
          <a:xfrm xmlns:a="http://schemas.openxmlformats.org/drawingml/2006/main">
            <a:off x="819150" y="1619250"/>
            <a:ext cx="80010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4200" b="1">
                <a:solidFill>
                  <a:srgbClr val="17212B"/>
                </a:solidFill>
                <a:latin typeface="Aptos"/>
                <a:ea typeface="Aptos"/>
                <a:cs typeface="Aptos"/>
              </a:defRPr>
            </a:pPr>
            <a:r>
              <a:rPr sz="4200" b="1">
                <a:solidFill>
                  <a:srgbClr val="17212B"/>
                </a:solidFill>
                <a:latin typeface="Aptos"/>
                <a:ea typeface="Aptos"/>
                <a:cs typeface="Aptos"/>
              </a:rPr>
              <a:t>Brake Health capabilities</a:t>
            </a:r>
          </a:p>
          <a:p xmlns:a="http://schemas.openxmlformats.org/drawingml/2006/main">
            <a:pPr algn="l">
              <a:lnSpc>
                <a:spcPct val="98000"/>
              </a:lnSpc>
              <a:buNone/>
              <a:defRPr sz="4200" b="1">
                <a:solidFill>
                  <a:srgbClr val="17212B"/>
                </a:solidFill>
                <a:latin typeface="Aptos"/>
                <a:ea typeface="Aptos"/>
                <a:cs typeface="Aptos"/>
              </a:defRPr>
            </a:pPr>
            <a:r>
              <a:rPr sz="4200" b="1">
                <a:solidFill>
                  <a:srgbClr val="17212B"/>
                </a:solidFill>
                <a:latin typeface="Aptos"/>
                <a:ea typeface="Aptos"/>
                <a:cs typeface="Aptos"/>
              </a:rPr>
              <a:t>with AosEdge</a:t>
            </a:r>
          </a:p>
        </p:txBody>
      </p:sp>
      <p:sp>
        <p:nvSpPr>
          <p:cNvPr id="4" name="">
            <a:extLst xmlns:a="http://schemas.openxmlformats.org/drawingml/2006/main">
              <a:ext uri="{FF2B5EF4-FFF2-40B4-BE49-F238E27FC236}">
                <a16:creationId xmlns:a16="http://schemas.microsoft.com/office/drawing/2014/main" id="{8A79353A-705B-4234-B1EB-9F35330B3F3A}"/>
              </a:ext>
            </a:extLst>
          </p:cNvPr>
          <p:cNvSpPr>
            <a:spLocks xmlns:a="http://schemas.openxmlformats.org/drawingml/2006/main" noGrp="1"/>
          </p:cNvSpPr>
          <p:nvPr/>
        </p:nvSpPr>
        <p:spPr>
          <a:xfrm xmlns:a="http://schemas.openxmlformats.org/drawingml/2006/main">
            <a:off x="857250" y="3333750"/>
            <a:ext cx="781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0">
                <a:solidFill>
                  <a:srgbClr val="5E6A76"/>
                </a:solidFill>
                <a:latin typeface="Aptos"/>
                <a:ea typeface="Aptos"/>
                <a:cs typeface="Aptos"/>
              </a:defRPr>
            </a:pPr>
            <a:r>
              <a:rPr sz="1875" b="0">
                <a:solidFill>
                  <a:srgbClr val="5E6A76"/>
                </a:solidFill>
                <a:latin typeface="Aptos"/>
                <a:ea typeface="Aptos"/>
                <a:cs typeface="Aptos"/>
              </a:rPr>
              <a:t>High-level architecture and demonstration storyboard</a:t>
            </a:r>
          </a:p>
        </p:txBody>
      </p:sp>
      <p:sp>
        <p:nvSpPr>
          <p:cNvPr id="5" name="">
            <a:extLst xmlns:a="http://schemas.openxmlformats.org/drawingml/2006/main">
              <a:ext uri="{FF2B5EF4-FFF2-40B4-BE49-F238E27FC236}">
                <a16:creationId xmlns:a16="http://schemas.microsoft.com/office/drawing/2014/main" id="{94171598-B438-44A0-B5BA-EF98F3C36D31}"/>
              </a:ext>
            </a:extLst>
          </p:cNvPr>
          <p:cNvSpPr>
            <a:spLocks xmlns:a="http://schemas.openxmlformats.org/drawingml/2006/main" noGrp="1"/>
          </p:cNvSpPr>
          <p:nvPr/>
        </p:nvSpPr>
        <p:spPr>
          <a:xfrm xmlns:a="http://schemas.openxmlformats.org/drawingml/2006/main">
            <a:off x="857250" y="57912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E6A76"/>
                </a:solidFill>
                <a:latin typeface="Aptos"/>
                <a:ea typeface="Aptos"/>
                <a:cs typeface="Aptos"/>
              </a:defRPr>
            </a:pPr>
            <a:r>
              <a:rPr sz="1275" b="0">
                <a:solidFill>
                  <a:srgbClr val="5E6A76"/>
                </a:solidFill>
                <a:latin typeface="Aptos"/>
                <a:ea typeface="Aptos"/>
                <a:cs typeface="Aptos"/>
              </a:rPr>
              <a:t>Discussion draft 0.1  •  16 August 2026</a:t>
            </a:r>
          </a:p>
        </p:txBody>
      </p:sp>
      <p:sp>
        <p:nvSpPr>
          <p:cNvPr id="6" name="">
            <a:extLst xmlns:a="http://schemas.openxmlformats.org/drawingml/2006/main">
              <a:ext uri="{FF2B5EF4-FFF2-40B4-BE49-F238E27FC236}">
                <a16:creationId xmlns:a16="http://schemas.microsoft.com/office/drawing/2014/main" id="{4262C598-3558-4E54-9FBF-3678874ACD3C}"/>
              </a:ext>
            </a:extLst>
          </p:cNvPr>
          <p:cNvSpPr>
            <a:spLocks xmlns:a="http://schemas.openxmlformats.org/drawingml/2006/main" noGrp="1"/>
          </p:cNvSpPr>
          <p:nvPr/>
        </p:nvSpPr>
        <p:spPr>
          <a:xfrm xmlns:a="http://schemas.openxmlformats.org/drawingml/2006/main">
            <a:off x="857250" y="61531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a:solidFill>
                  <a:srgbClr val="17212B"/>
                </a:solidFill>
                <a:latin typeface="Aptos"/>
                <a:ea typeface="Aptos"/>
                <a:cs typeface="Aptos"/>
              </a:defRPr>
            </a:pPr>
            <a:r>
              <a:rPr sz="1125" b="1">
                <a:solidFill>
                  <a:srgbClr val="17212B"/>
                </a:solidFill>
                <a:latin typeface="Aptos"/>
                <a:ea typeface="Aptos"/>
                <a:cs typeface="Aptos"/>
              </a:rPr>
              <a:t>OEM Vehicle Platform + Brake Health Function Team</a:t>
            </a:r>
          </a:p>
        </p:txBody>
      </p:sp>
    </p:spTree>
    <p:extLst>
      <p:ext uri="{BB962C8B-B14F-4D97-AF65-F5344CB8AC3E}">
        <p14:creationId xmlns:p14="http://schemas.microsoft.com/office/powerpoint/2010/main" val="17211969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ection-2">
            <a:extLst xmlns:a="http://schemas.openxmlformats.org/drawingml/2006/main">
              <a:ext uri="{FF2B5EF4-FFF2-40B4-BE49-F238E27FC236}">
                <a16:creationId xmlns:a16="http://schemas.microsoft.com/office/drawing/2014/main" id="{B945C1C5-04AE-4B65-AF76-B1E4B390850C}"/>
              </a:ext>
            </a:extLst>
          </p:cNvPr>
          <p:cNvSpPr>
            <a:spLocks xmlns:a="http://schemas.openxmlformats.org/drawingml/2006/main" noGrp="1"/>
          </p:cNvSpPr>
          <p:nvPr/>
        </p:nvSpPr>
        <p:spPr>
          <a:xfrm xmlns:a="http://schemas.openxmlformats.org/drawingml/2006/main">
            <a:off x="609600" y="3238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a:solidFill>
                  <a:srgbClr val="2F6F98"/>
                </a:solidFill>
                <a:latin typeface="Aptos"/>
                <a:ea typeface="Aptos"/>
                <a:cs typeface="Aptos"/>
              </a:defRPr>
            </a:pPr>
            <a:r>
              <a:rPr sz="975" b="1">
                <a:solidFill>
                  <a:srgbClr val="2F6F98"/>
                </a:solidFill>
                <a:latin typeface="Aptos"/>
                <a:ea typeface="Aptos"/>
                <a:cs typeface="Aptos"/>
              </a:rPr>
              <a:t>CORE CLAIM</a:t>
            </a:r>
          </a:p>
        </p:txBody>
      </p:sp>
      <p:sp>
        <p:nvSpPr>
          <p:cNvPr id="2" name="title-2">
            <a:extLst xmlns:a="http://schemas.openxmlformats.org/drawingml/2006/main">
              <a:ext uri="{FF2B5EF4-FFF2-40B4-BE49-F238E27FC236}">
                <a16:creationId xmlns:a16="http://schemas.microsoft.com/office/drawing/2014/main" id="{E357E533-D057-499F-9DBD-3119482234B0}"/>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801"/>
          </a:bodyPr>
          <a:lstStyle xmlns:a="http://schemas.openxmlformats.org/drawingml/2006/main"/>
          <a:p xmlns:a="http://schemas.openxmlformats.org/drawingml/2006/main">
            <a:pPr algn="l">
              <a:lnSpc>
                <a:spcPct val="108000"/>
              </a:lnSpc>
              <a:buNone/>
              <a:defRPr sz="2850" b="1">
                <a:solidFill>
                  <a:srgbClr val="17212B"/>
                </a:solidFill>
                <a:latin typeface="Aptos"/>
                <a:ea typeface="Aptos"/>
                <a:cs typeface="Aptos"/>
              </a:defRPr>
            </a:pPr>
            <a:r>
              <a:rPr sz="2850" b="1">
                <a:solidFill>
                  <a:srgbClr val="17212B"/>
                </a:solidFill>
                <a:latin typeface="Aptos"/>
                <a:ea typeface="Aptos"/>
                <a:cs typeface="Aptos"/>
              </a:rPr>
              <a:t>A platform integrated at SOP becomes the extension point after SOP</a:t>
            </a:r>
          </a:p>
        </p:txBody>
      </p:sp>
      <p:sp>
        <p:nvSpPr>
          <p:cNvPr id="3" name="">
            <a:extLst xmlns:a="http://schemas.openxmlformats.org/drawingml/2006/main">
              <a:ext uri="{FF2B5EF4-FFF2-40B4-BE49-F238E27FC236}">
                <a16:creationId xmlns:a16="http://schemas.microsoft.com/office/drawing/2014/main" id="{58079071-F21B-49F8-B718-5964E2EB608F}"/>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B9C3CC"/>
            </a:solidFill>
            <a:prstDash val="solid"/>
          </a:ln>
        </p:spPr>
      </p:sp>
      <p:sp>
        <p:nvSpPr>
          <p:cNvPr id="4" name="">
            <a:extLst xmlns:a="http://schemas.openxmlformats.org/drawingml/2006/main">
              <a:ext uri="{FF2B5EF4-FFF2-40B4-BE49-F238E27FC236}">
                <a16:creationId xmlns:a16="http://schemas.microsoft.com/office/drawing/2014/main" id="{D3BDEED3-E453-4F9F-AA8F-AB0A0B5CBFEF}"/>
              </a:ext>
            </a:extLst>
          </p:cNvPr>
          <p:cNvSpPr>
            <a:spLocks xmlns:a="http://schemas.openxmlformats.org/drawingml/2006/main" noGrp="1"/>
          </p:cNvSpPr>
          <p:nvPr/>
        </p:nvSpPr>
        <p:spPr>
          <a:xfrm xmlns:a="http://schemas.openxmlformats.org/drawingml/2006/main">
            <a:off x="609600" y="1409700"/>
            <a:ext cx="10744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498"/>
          </a:bodyPr>
          <a:lstStyle xmlns:a="http://schemas.openxmlformats.org/drawingml/2006/main"/>
          <a:p xmlns:a="http://schemas.openxmlformats.org/drawingml/2006/main">
            <a:pPr algn="l">
              <a:lnSpc>
                <a:spcPct val="108000"/>
              </a:lnSpc>
              <a:buNone/>
              <a:defRPr sz="1875" b="0">
                <a:solidFill>
                  <a:srgbClr val="17212B"/>
                </a:solidFill>
                <a:latin typeface="Aptos"/>
                <a:ea typeface="Aptos"/>
                <a:cs typeface="Aptos"/>
              </a:defRPr>
            </a:pPr>
            <a:r>
              <a:rPr sz="1875" b="0">
                <a:solidFill>
                  <a:srgbClr val="17212B"/>
                </a:solidFill>
                <a:latin typeface="Aptos"/>
                <a:ea typeface="Aptos"/>
                <a:cs typeface="Aptos"/>
              </a:rPr>
              <a:t>The vehicle is produced with AosEdge lifecycle, security and execution foundations. Later capabilities arrive as versioned FOTA platform components and independently versioned SOTA services.</a:t>
            </a:r>
          </a:p>
        </p:txBody>
      </p:sp>
      <p:sp>
        <p:nvSpPr>
          <p:cNvPr id="5" name="">
            <a:extLst xmlns:a="http://schemas.openxmlformats.org/drawingml/2006/main">
              <a:ext uri="{FF2B5EF4-FFF2-40B4-BE49-F238E27FC236}">
                <a16:creationId xmlns:a16="http://schemas.microsoft.com/office/drawing/2014/main" id="{11151B6C-C04D-4BD6-9496-58282357CA24}"/>
              </a:ext>
            </a:extLst>
          </p:cNvPr>
          <p:cNvSpPr>
            <a:spLocks xmlns:a="http://schemas.openxmlformats.org/drawingml/2006/main" noGrp="1"/>
          </p:cNvSpPr>
          <p:nvPr/>
        </p:nvSpPr>
        <p:spPr>
          <a:xfrm xmlns:a="http://schemas.openxmlformats.org/drawingml/2006/main">
            <a:off x="609600" y="2686050"/>
            <a:ext cx="2362200" cy="1504950"/>
          </a:xfrm>
          <a:prstGeom xmlns:a="http://schemas.openxmlformats.org/drawingml/2006/main" prst="roundRect">
            <a:avLst>
              <a:gd name="adj" fmla="val 5063"/>
            </a:avLst>
          </a:prstGeom>
          <a:solidFill xmlns:a="http://schemas.openxmlformats.org/drawingml/2006/main">
            <a:srgbClr val="F0ECF8"/>
          </a:solidFill>
          <a:ln xmlns:a="http://schemas.openxmlformats.org/drawingml/2006/main" w="14288">
            <a:solidFill>
              <a:srgbClr val="6C55A3"/>
            </a:solidFill>
            <a:prstDash val="solid"/>
          </a:ln>
        </p:spPr>
        <p:txBody>
          <a:bodyPr xmlns:a="http://schemas.openxmlformats.org/drawingml/2006/main" lIns="95250" tIns="76200" rIns="95250" bIns="76200" anchor="ctr">
            <a:normAutofit/>
          </a:bodyPr>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4A099EAC-7D83-4262-A4CE-A9CDE7B84A9C}"/>
              </a:ext>
            </a:extLst>
          </p:cNvPr>
          <p:cNvSpPr>
            <a:spLocks xmlns:a="http://schemas.openxmlformats.org/drawingml/2006/main" noGrp="1"/>
          </p:cNvSpPr>
          <p:nvPr/>
        </p:nvSpPr>
        <p:spPr>
          <a:xfrm xmlns:a="http://schemas.openxmlformats.org/drawingml/2006/main">
            <a:off x="742950" y="28098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a:solidFill>
                  <a:srgbClr val="6C55A3"/>
                </a:solidFill>
                <a:latin typeface="Aptos"/>
                <a:ea typeface="Aptos"/>
                <a:cs typeface="Aptos"/>
              </a:defRPr>
            </a:pPr>
            <a:r>
              <a:rPr sz="1575" b="1">
                <a:solidFill>
                  <a:srgbClr val="6C55A3"/>
                </a:solidFill>
                <a:latin typeface="Aptos"/>
                <a:ea typeface="Aptos"/>
                <a:cs typeface="Aptos"/>
              </a:rPr>
              <a:t>SOP</a:t>
            </a:r>
          </a:p>
        </p:txBody>
      </p:sp>
      <p:sp>
        <p:nvSpPr>
          <p:cNvPr id="7" name="">
            <a:extLst xmlns:a="http://schemas.openxmlformats.org/drawingml/2006/main">
              <a:ext uri="{FF2B5EF4-FFF2-40B4-BE49-F238E27FC236}">
                <a16:creationId xmlns:a16="http://schemas.microsoft.com/office/drawing/2014/main" id="{6BEBCAC6-75D2-4646-A438-AB4CD2C36AE7}"/>
              </a:ext>
            </a:extLst>
          </p:cNvPr>
          <p:cNvSpPr>
            <a:spLocks xmlns:a="http://schemas.openxmlformats.org/drawingml/2006/main" noGrp="1"/>
          </p:cNvSpPr>
          <p:nvPr/>
        </p:nvSpPr>
        <p:spPr>
          <a:xfrm xmlns:a="http://schemas.openxmlformats.org/drawingml/2006/main">
            <a:off x="742950" y="313372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a:solidFill>
                  <a:srgbClr val="17212B"/>
                </a:solidFill>
                <a:latin typeface="Aptos"/>
                <a:ea typeface="Aptos"/>
                <a:cs typeface="Aptos"/>
              </a:defRPr>
            </a:pPr>
            <a:r>
              <a:rPr sz="1425" b="1">
                <a:solidFill>
                  <a:srgbClr val="17212B"/>
                </a:solidFill>
                <a:latin typeface="Aptos"/>
                <a:ea typeface="Aptos"/>
                <a:cs typeface="Aptos"/>
              </a:rPr>
              <a:t>Integrated substrate</a:t>
            </a:r>
          </a:p>
        </p:txBody>
      </p:sp>
      <p:sp>
        <p:nvSpPr>
          <p:cNvPr id="8" name="">
            <a:extLst xmlns:a="http://schemas.openxmlformats.org/drawingml/2006/main">
              <a:ext uri="{FF2B5EF4-FFF2-40B4-BE49-F238E27FC236}">
                <a16:creationId xmlns:a16="http://schemas.microsoft.com/office/drawing/2014/main" id="{F48E559E-0121-4CD0-B004-BE5DBA862B98}"/>
              </a:ext>
            </a:extLst>
          </p:cNvPr>
          <p:cNvSpPr>
            <a:spLocks xmlns:a="http://schemas.openxmlformats.org/drawingml/2006/main" noGrp="1"/>
          </p:cNvSpPr>
          <p:nvPr/>
        </p:nvSpPr>
        <p:spPr>
          <a:xfrm xmlns:a="http://schemas.openxmlformats.org/drawingml/2006/main">
            <a:off x="742950" y="3648075"/>
            <a:ext cx="2095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0">
                <a:solidFill>
                  <a:srgbClr val="5E6A76"/>
                </a:solidFill>
                <a:latin typeface="Aptos"/>
                <a:ea typeface="Aptos"/>
                <a:cs typeface="Aptos"/>
              </a:defRPr>
            </a:pPr>
            <a:r>
              <a:rPr sz="1125" b="0">
                <a:solidFill>
                  <a:srgbClr val="5E6A76"/>
                </a:solidFill>
                <a:latin typeface="Aptos"/>
                <a:ea typeface="Aptos"/>
                <a:cs typeface="Aptos"/>
              </a:rPr>
              <a:t>Lifecycle, security and execution foundations</a:t>
            </a:r>
          </a:p>
        </p:txBody>
      </p:sp>
      <p:sp>
        <p:nvSpPr>
          <p:cNvPr id="9" name="">
            <a:extLst xmlns:a="http://schemas.openxmlformats.org/drawingml/2006/main">
              <a:ext uri="{FF2B5EF4-FFF2-40B4-BE49-F238E27FC236}">
                <a16:creationId xmlns:a16="http://schemas.microsoft.com/office/drawing/2014/main" id="{77FEFAA9-8F5C-4DAF-954D-C01D00F59FD5}"/>
              </a:ext>
            </a:extLst>
          </p:cNvPr>
          <p:cNvSpPr>
            <a:spLocks xmlns:a="http://schemas.openxmlformats.org/drawingml/2006/main" noGrp="1"/>
          </p:cNvSpPr>
          <p:nvPr/>
        </p:nvSpPr>
        <p:spPr>
          <a:xfrm xmlns:a="http://schemas.openxmlformats.org/drawingml/2006/main">
            <a:off x="3371850" y="2686050"/>
            <a:ext cx="2362200" cy="1504950"/>
          </a:xfrm>
          <a:prstGeom xmlns:a="http://schemas.openxmlformats.org/drawingml/2006/main" prst="roundRect">
            <a:avLst>
              <a:gd name="adj" fmla="val 5063"/>
            </a:avLst>
          </a:prstGeom>
          <a:solidFill xmlns:a="http://schemas.openxmlformats.org/drawingml/2006/main">
            <a:srgbClr val="E5F4F0"/>
          </a:solidFill>
          <a:ln xmlns:a="http://schemas.openxmlformats.org/drawingml/2006/main" w="14288">
            <a:solidFill>
              <a:srgbClr val="14806F"/>
            </a:solidFill>
            <a:prstDash val="solid"/>
          </a:ln>
        </p:spPr>
        <p:txBody>
          <a:bodyPr xmlns:a="http://schemas.openxmlformats.org/drawingml/2006/main" lIns="95250" tIns="76200" rIns="95250" bIns="76200" anchor="ctr">
            <a:normAutofit/>
          </a:bodyPr>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667035E4-803E-4F67-96B0-3ADF648A53D1}"/>
              </a:ext>
            </a:extLst>
          </p:cNvPr>
          <p:cNvSpPr>
            <a:spLocks xmlns:a="http://schemas.openxmlformats.org/drawingml/2006/main" noGrp="1"/>
          </p:cNvSpPr>
          <p:nvPr/>
        </p:nvSpPr>
        <p:spPr>
          <a:xfrm xmlns:a="http://schemas.openxmlformats.org/drawingml/2006/main">
            <a:off x="3505200" y="28098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a:solidFill>
                  <a:srgbClr val="14806F"/>
                </a:solidFill>
                <a:latin typeface="Aptos"/>
                <a:ea typeface="Aptos"/>
                <a:cs typeface="Aptos"/>
              </a:defRPr>
            </a:pPr>
            <a:r>
              <a:rPr sz="1575" b="1">
                <a:solidFill>
                  <a:srgbClr val="14806F"/>
                </a:solidFill>
                <a:latin typeface="Aptos"/>
                <a:ea typeface="Aptos"/>
                <a:cs typeface="Aptos"/>
              </a:rPr>
              <a:t>FOTA</a:t>
            </a:r>
          </a:p>
        </p:txBody>
      </p:sp>
      <p:sp>
        <p:nvSpPr>
          <p:cNvPr id="11" name="">
            <a:extLst xmlns:a="http://schemas.openxmlformats.org/drawingml/2006/main">
              <a:ext uri="{FF2B5EF4-FFF2-40B4-BE49-F238E27FC236}">
                <a16:creationId xmlns:a16="http://schemas.microsoft.com/office/drawing/2014/main" id="{F4F6CCBB-5795-4DCE-A9AA-1A0FC910C366}"/>
              </a:ext>
            </a:extLst>
          </p:cNvPr>
          <p:cNvSpPr>
            <a:spLocks xmlns:a="http://schemas.openxmlformats.org/drawingml/2006/main" noGrp="1"/>
          </p:cNvSpPr>
          <p:nvPr/>
        </p:nvSpPr>
        <p:spPr>
          <a:xfrm xmlns:a="http://schemas.openxmlformats.org/drawingml/2006/main">
            <a:off x="3505200" y="313372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a:solidFill>
                  <a:srgbClr val="17212B"/>
                </a:solidFill>
                <a:latin typeface="Aptos"/>
                <a:ea typeface="Aptos"/>
                <a:cs typeface="Aptos"/>
              </a:defRPr>
            </a:pPr>
            <a:r>
              <a:rPr sz="1425" b="1">
                <a:solidFill>
                  <a:srgbClr val="17212B"/>
                </a:solidFill>
                <a:latin typeface="Aptos"/>
                <a:ea typeface="Aptos"/>
                <a:cs typeface="Aptos"/>
              </a:rPr>
              <a:t>Platform capability</a:t>
            </a:r>
          </a:p>
        </p:txBody>
      </p:sp>
      <p:sp>
        <p:nvSpPr>
          <p:cNvPr id="12" name="">
            <a:extLst xmlns:a="http://schemas.openxmlformats.org/drawingml/2006/main">
              <a:ext uri="{FF2B5EF4-FFF2-40B4-BE49-F238E27FC236}">
                <a16:creationId xmlns:a16="http://schemas.microsoft.com/office/drawing/2014/main" id="{0B467875-FD18-4E31-92CC-77F5A0D7933A}"/>
              </a:ext>
            </a:extLst>
          </p:cNvPr>
          <p:cNvSpPr>
            <a:spLocks xmlns:a="http://schemas.openxmlformats.org/drawingml/2006/main" noGrp="1"/>
          </p:cNvSpPr>
          <p:nvPr/>
        </p:nvSpPr>
        <p:spPr>
          <a:xfrm xmlns:a="http://schemas.openxmlformats.org/drawingml/2006/main">
            <a:off x="3505200" y="3648075"/>
            <a:ext cx="2095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0">
                <a:solidFill>
                  <a:srgbClr val="5E6A76"/>
                </a:solidFill>
                <a:latin typeface="Aptos"/>
                <a:ea typeface="Aptos"/>
                <a:cs typeface="Aptos"/>
              </a:defRPr>
            </a:pPr>
            <a:r>
              <a:rPr sz="1125" b="0">
                <a:solidFill>
                  <a:srgbClr val="5E6A76"/>
                </a:solidFill>
                <a:latin typeface="Aptos"/>
                <a:ea typeface="Aptos"/>
                <a:cs typeface="Aptos"/>
              </a:rPr>
              <a:t>Vehicle-facing contract evolves under Platform Team control</a:t>
            </a:r>
          </a:p>
        </p:txBody>
      </p:sp>
      <p:sp>
        <p:nvSpPr>
          <p:cNvPr id="13" name="">
            <a:extLst xmlns:a="http://schemas.openxmlformats.org/drawingml/2006/main">
              <a:ext uri="{FF2B5EF4-FFF2-40B4-BE49-F238E27FC236}">
                <a16:creationId xmlns:a16="http://schemas.microsoft.com/office/drawing/2014/main" id="{2F62D85B-6DAB-479B-8E19-1C32B67018B2}"/>
              </a:ext>
            </a:extLst>
          </p:cNvPr>
          <p:cNvSpPr>
            <a:spLocks xmlns:a="http://schemas.openxmlformats.org/drawingml/2006/main" noGrp="1"/>
          </p:cNvSpPr>
          <p:nvPr/>
        </p:nvSpPr>
        <p:spPr>
          <a:xfrm xmlns:a="http://schemas.openxmlformats.org/drawingml/2006/main">
            <a:off x="6134100" y="2686050"/>
            <a:ext cx="2362200" cy="1504950"/>
          </a:xfrm>
          <a:prstGeom xmlns:a="http://schemas.openxmlformats.org/drawingml/2006/main" prst="roundRect">
            <a:avLst>
              <a:gd name="adj" fmla="val 5063"/>
            </a:avLst>
          </a:prstGeom>
          <a:solidFill xmlns:a="http://schemas.openxmlformats.org/drawingml/2006/main">
            <a:srgbClr val="FFF0E5"/>
          </a:solidFill>
          <a:ln xmlns:a="http://schemas.openxmlformats.org/drawingml/2006/main" w="14288">
            <a:solidFill>
              <a:srgbClr val="C76724"/>
            </a:solidFill>
            <a:prstDash val="solid"/>
          </a:ln>
        </p:spPr>
        <p:txBody>
          <a:bodyPr xmlns:a="http://schemas.openxmlformats.org/drawingml/2006/main" lIns="95250" tIns="76200" rIns="95250" bIns="76200" anchor="ctr">
            <a:normAutofit/>
          </a:bodyPr>
          <a:lstStyle xmlns:a="http://schemas.openxmlformats.org/drawingml/2006/main"/>
          <a:p xmlns:a="http://schemas.openxmlformats.org/drawingml/2006/main">
            <a:r>
              <a:t/>
            </a:r>
          </a:p>
        </p:txBody>
      </p:sp>
      <p:sp>
        <p:nvSpPr>
          <p:cNvPr id="14" name="">
            <a:extLst xmlns:a="http://schemas.openxmlformats.org/drawingml/2006/main">
              <a:ext uri="{FF2B5EF4-FFF2-40B4-BE49-F238E27FC236}">
                <a16:creationId xmlns:a16="http://schemas.microsoft.com/office/drawing/2014/main" id="{125D8175-DC8E-4450-9179-69C3DB9B6D95}"/>
              </a:ext>
            </a:extLst>
          </p:cNvPr>
          <p:cNvSpPr>
            <a:spLocks xmlns:a="http://schemas.openxmlformats.org/drawingml/2006/main" noGrp="1"/>
          </p:cNvSpPr>
          <p:nvPr/>
        </p:nvSpPr>
        <p:spPr>
          <a:xfrm xmlns:a="http://schemas.openxmlformats.org/drawingml/2006/main">
            <a:off x="6267450" y="28098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a:solidFill>
                  <a:srgbClr val="C76724"/>
                </a:solidFill>
                <a:latin typeface="Aptos"/>
                <a:ea typeface="Aptos"/>
                <a:cs typeface="Aptos"/>
              </a:defRPr>
            </a:pPr>
            <a:r>
              <a:rPr sz="1575" b="1">
                <a:solidFill>
                  <a:srgbClr val="C76724"/>
                </a:solidFill>
                <a:latin typeface="Aptos"/>
                <a:ea typeface="Aptos"/>
                <a:cs typeface="Aptos"/>
              </a:rPr>
              <a:t>SOTA</a:t>
            </a:r>
          </a:p>
        </p:txBody>
      </p:sp>
      <p:sp>
        <p:nvSpPr>
          <p:cNvPr id="15" name="">
            <a:extLst xmlns:a="http://schemas.openxmlformats.org/drawingml/2006/main">
              <a:ext uri="{FF2B5EF4-FFF2-40B4-BE49-F238E27FC236}">
                <a16:creationId xmlns:a16="http://schemas.microsoft.com/office/drawing/2014/main" id="{0FAF740B-FC15-4C48-88AF-0D33263D9C34}"/>
              </a:ext>
            </a:extLst>
          </p:cNvPr>
          <p:cNvSpPr>
            <a:spLocks xmlns:a="http://schemas.openxmlformats.org/drawingml/2006/main" noGrp="1"/>
          </p:cNvSpPr>
          <p:nvPr/>
        </p:nvSpPr>
        <p:spPr>
          <a:xfrm xmlns:a="http://schemas.openxmlformats.org/drawingml/2006/main">
            <a:off x="6267450" y="313372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a:solidFill>
                  <a:srgbClr val="17212B"/>
                </a:solidFill>
                <a:latin typeface="Aptos"/>
                <a:ea typeface="Aptos"/>
                <a:cs typeface="Aptos"/>
              </a:defRPr>
            </a:pPr>
            <a:r>
              <a:rPr sz="1425" b="1">
                <a:solidFill>
                  <a:srgbClr val="17212B"/>
                </a:solidFill>
                <a:latin typeface="Aptos"/>
                <a:ea typeface="Aptos"/>
                <a:cs typeface="Aptos"/>
              </a:rPr>
              <a:t>Functional service</a:t>
            </a:r>
          </a:p>
        </p:txBody>
      </p:sp>
      <p:sp>
        <p:nvSpPr>
          <p:cNvPr id="16" name="">
            <a:extLst xmlns:a="http://schemas.openxmlformats.org/drawingml/2006/main">
              <a:ext uri="{FF2B5EF4-FFF2-40B4-BE49-F238E27FC236}">
                <a16:creationId xmlns:a16="http://schemas.microsoft.com/office/drawing/2014/main" id="{1C383131-9127-4BE2-8FBE-33DECA72254E}"/>
              </a:ext>
            </a:extLst>
          </p:cNvPr>
          <p:cNvSpPr>
            <a:spLocks xmlns:a="http://schemas.openxmlformats.org/drawingml/2006/main" noGrp="1"/>
          </p:cNvSpPr>
          <p:nvPr/>
        </p:nvSpPr>
        <p:spPr>
          <a:xfrm xmlns:a="http://schemas.openxmlformats.org/drawingml/2006/main">
            <a:off x="6267450" y="3648075"/>
            <a:ext cx="2095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0">
                <a:solidFill>
                  <a:srgbClr val="5E6A76"/>
                </a:solidFill>
                <a:latin typeface="Aptos"/>
                <a:ea typeface="Aptos"/>
                <a:cs typeface="Aptos"/>
              </a:defRPr>
            </a:pPr>
            <a:r>
              <a:rPr sz="1125" b="0">
                <a:solidFill>
                  <a:srgbClr val="5E6A76"/>
                </a:solidFill>
                <a:latin typeface="Aptos"/>
                <a:ea typeface="Aptos"/>
                <a:cs typeface="Aptos"/>
              </a:rPr>
              <a:t>Feature logic evolves under Function Team control</a:t>
            </a:r>
          </a:p>
        </p:txBody>
      </p:sp>
      <p:sp>
        <p:nvSpPr>
          <p:cNvPr id="17" name="">
            <a:extLst xmlns:a="http://schemas.openxmlformats.org/drawingml/2006/main">
              <a:ext uri="{FF2B5EF4-FFF2-40B4-BE49-F238E27FC236}">
                <a16:creationId xmlns:a16="http://schemas.microsoft.com/office/drawing/2014/main" id="{0C8E3CB0-2828-46C9-8857-A4160A87E28E}"/>
              </a:ext>
            </a:extLst>
          </p:cNvPr>
          <p:cNvSpPr>
            <a:spLocks xmlns:a="http://schemas.openxmlformats.org/drawingml/2006/main" noGrp="1"/>
          </p:cNvSpPr>
          <p:nvPr/>
        </p:nvSpPr>
        <p:spPr>
          <a:xfrm xmlns:a="http://schemas.openxmlformats.org/drawingml/2006/main">
            <a:off x="8896350" y="2686050"/>
            <a:ext cx="2362200" cy="1504950"/>
          </a:xfrm>
          <a:prstGeom xmlns:a="http://schemas.openxmlformats.org/drawingml/2006/main" prst="roundRect">
            <a:avLst>
              <a:gd name="adj" fmla="val 5063"/>
            </a:avLst>
          </a:prstGeom>
          <a:solidFill xmlns:a="http://schemas.openxmlformats.org/drawingml/2006/main">
            <a:srgbClr val="E8F2F8"/>
          </a:solidFill>
          <a:ln xmlns:a="http://schemas.openxmlformats.org/drawingml/2006/main" w="14288">
            <a:solidFill>
              <a:srgbClr val="2F6F98"/>
            </a:solidFill>
            <a:prstDash val="solid"/>
          </a:ln>
        </p:spPr>
        <p:txBody>
          <a:bodyPr xmlns:a="http://schemas.openxmlformats.org/drawingml/2006/main" lIns="95250" tIns="76200" rIns="95250" bIns="76200" anchor="ctr">
            <a:normAutofit/>
          </a:bodyPr>
          <a:lstStyle xmlns:a="http://schemas.openxmlformats.org/drawingml/2006/main"/>
          <a:p xmlns:a="http://schemas.openxmlformats.org/drawingml/2006/main">
            <a:r>
              <a:t/>
            </a:r>
          </a:p>
        </p:txBody>
      </p:sp>
      <p:sp>
        <p:nvSpPr>
          <p:cNvPr id="18" name="">
            <a:extLst xmlns:a="http://schemas.openxmlformats.org/drawingml/2006/main">
              <a:ext uri="{FF2B5EF4-FFF2-40B4-BE49-F238E27FC236}">
                <a16:creationId xmlns:a16="http://schemas.microsoft.com/office/drawing/2014/main" id="{20777A7F-8CCA-4642-B021-F8086921DF34}"/>
              </a:ext>
            </a:extLst>
          </p:cNvPr>
          <p:cNvSpPr>
            <a:spLocks xmlns:a="http://schemas.openxmlformats.org/drawingml/2006/main" noGrp="1"/>
          </p:cNvSpPr>
          <p:nvPr/>
        </p:nvSpPr>
        <p:spPr>
          <a:xfrm xmlns:a="http://schemas.openxmlformats.org/drawingml/2006/main">
            <a:off x="9029700" y="28098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a:solidFill>
                  <a:srgbClr val="2F6F98"/>
                </a:solidFill>
                <a:latin typeface="Aptos"/>
                <a:ea typeface="Aptos"/>
                <a:cs typeface="Aptos"/>
              </a:defRPr>
            </a:pPr>
            <a:r>
              <a:rPr sz="1575" b="1">
                <a:solidFill>
                  <a:srgbClr val="2F6F98"/>
                </a:solidFill>
                <a:latin typeface="Aptos"/>
                <a:ea typeface="Aptos"/>
                <a:cs typeface="Aptos"/>
              </a:rPr>
              <a:t>NEXT</a:t>
            </a:r>
          </a:p>
        </p:txBody>
      </p:sp>
      <p:sp>
        <p:nvSpPr>
          <p:cNvPr id="19" name="">
            <a:extLst xmlns:a="http://schemas.openxmlformats.org/drawingml/2006/main">
              <a:ext uri="{FF2B5EF4-FFF2-40B4-BE49-F238E27FC236}">
                <a16:creationId xmlns:a16="http://schemas.microsoft.com/office/drawing/2014/main" id="{EB568131-2151-4EB4-9107-40104A374B58}"/>
              </a:ext>
            </a:extLst>
          </p:cNvPr>
          <p:cNvSpPr>
            <a:spLocks xmlns:a="http://schemas.openxmlformats.org/drawingml/2006/main" noGrp="1"/>
          </p:cNvSpPr>
          <p:nvPr/>
        </p:nvSpPr>
        <p:spPr>
          <a:xfrm xmlns:a="http://schemas.openxmlformats.org/drawingml/2006/main">
            <a:off x="9029700" y="313372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a:solidFill>
                  <a:srgbClr val="17212B"/>
                </a:solidFill>
                <a:latin typeface="Aptos"/>
                <a:ea typeface="Aptos"/>
                <a:cs typeface="Aptos"/>
              </a:defRPr>
            </a:pPr>
            <a:r>
              <a:rPr sz="1425" b="1">
                <a:solidFill>
                  <a:srgbClr val="17212B"/>
                </a:solidFill>
                <a:latin typeface="Aptos"/>
                <a:ea typeface="Aptos"/>
                <a:cs typeface="Aptos"/>
              </a:rPr>
              <a:t>Independent evolution</a:t>
            </a:r>
          </a:p>
        </p:txBody>
      </p:sp>
      <p:sp>
        <p:nvSpPr>
          <p:cNvPr id="20" name="">
            <a:extLst xmlns:a="http://schemas.openxmlformats.org/drawingml/2006/main">
              <a:ext uri="{FF2B5EF4-FFF2-40B4-BE49-F238E27FC236}">
                <a16:creationId xmlns:a16="http://schemas.microsoft.com/office/drawing/2014/main" id="{A314AA82-1979-4B76-BA42-4DD14C2AC72B}"/>
              </a:ext>
            </a:extLst>
          </p:cNvPr>
          <p:cNvSpPr>
            <a:spLocks xmlns:a="http://schemas.openxmlformats.org/drawingml/2006/main" noGrp="1"/>
          </p:cNvSpPr>
          <p:nvPr/>
        </p:nvSpPr>
        <p:spPr>
          <a:xfrm xmlns:a="http://schemas.openxmlformats.org/drawingml/2006/main">
            <a:off x="9029700" y="3648075"/>
            <a:ext cx="2095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0">
                <a:solidFill>
                  <a:srgbClr val="5E6A76"/>
                </a:solidFill>
                <a:latin typeface="Aptos"/>
                <a:ea typeface="Aptos"/>
                <a:cs typeface="Aptos"/>
              </a:defRPr>
            </a:pPr>
            <a:r>
              <a:rPr sz="1125" b="0">
                <a:solidFill>
                  <a:srgbClr val="5E6A76"/>
                </a:solidFill>
                <a:latin typeface="Aptos"/>
                <a:ea typeface="Aptos"/>
                <a:cs typeface="Aptos"/>
              </a:rPr>
              <a:t>New versions reuse the same vehicle identity and architecture</a:t>
            </a:r>
          </a:p>
        </p:txBody>
      </p:sp>
      <p:cxnSp>
        <p:nvCxnSpPr>
          <p:cNvPr id="48" name=""/>
          <p:cNvCxnSpPr>
            <a:stCxn xmlns:a="http://schemas.openxmlformats.org/drawingml/2006/main" id="5" idx="3"/>
            <a:endCxn xmlns:a="http://schemas.openxmlformats.org/drawingml/2006/main" id="9" idx="1"/>
          </p:cNvCxnSpPr>
          <p:nvPr/>
        </p:nvCxnSpPr>
        <p:spPr>
          <a:xfrm xmlns:a="http://schemas.openxmlformats.org/drawingml/2006/main">
            <a:off x="2971800" y="3438525"/>
            <a:ext cx="400050" cy="0"/>
          </a:xfrm>
          <a:prstGeom xmlns:a="http://schemas.openxmlformats.org/drawingml/2006/main" prst="straightConnector1">
            <a:avLst/>
          </a:prstGeom>
          <a:ln xmlns:a="http://schemas.openxmlformats.org/drawingml/2006/main" w="19050">
            <a:solidFill>
              <a:srgbClr val="788692"/>
            </a:solidFill>
            <a:prstDash val="solid"/>
            <a:tailEnd type="arrow" w="med" len="med"/>
          </a:ln>
        </p:spPr>
      </p:cxnSp>
      <p:cxnSp>
        <p:nvCxnSpPr>
          <p:cNvPr id="49" name=""/>
          <p:cNvCxnSpPr>
            <a:stCxn xmlns:a="http://schemas.openxmlformats.org/drawingml/2006/main" id="9" idx="3"/>
            <a:endCxn xmlns:a="http://schemas.openxmlformats.org/drawingml/2006/main" id="13" idx="1"/>
          </p:cNvCxnSpPr>
          <p:nvPr/>
        </p:nvCxnSpPr>
        <p:spPr>
          <a:xfrm xmlns:a="http://schemas.openxmlformats.org/drawingml/2006/main">
            <a:off x="5734050" y="3438525"/>
            <a:ext cx="400050" cy="0"/>
          </a:xfrm>
          <a:prstGeom xmlns:a="http://schemas.openxmlformats.org/drawingml/2006/main" prst="straightConnector1">
            <a:avLst/>
          </a:prstGeom>
          <a:ln xmlns:a="http://schemas.openxmlformats.org/drawingml/2006/main" w="19050">
            <a:solidFill>
              <a:srgbClr val="788692"/>
            </a:solidFill>
            <a:prstDash val="solid"/>
            <a:tailEnd type="arrow" w="med" len="med"/>
          </a:ln>
        </p:spPr>
      </p:cxnSp>
      <p:cxnSp>
        <p:nvCxnSpPr>
          <p:cNvPr id="50" name=""/>
          <p:cNvCxnSpPr>
            <a:stCxn xmlns:a="http://schemas.openxmlformats.org/drawingml/2006/main" id="13" idx="3"/>
            <a:endCxn xmlns:a="http://schemas.openxmlformats.org/drawingml/2006/main" id="17" idx="1"/>
          </p:cNvCxnSpPr>
          <p:nvPr/>
        </p:nvCxnSpPr>
        <p:spPr>
          <a:xfrm xmlns:a="http://schemas.openxmlformats.org/drawingml/2006/main">
            <a:off x="8496300" y="3438525"/>
            <a:ext cx="400050" cy="0"/>
          </a:xfrm>
          <a:prstGeom xmlns:a="http://schemas.openxmlformats.org/drawingml/2006/main" prst="straightConnector1">
            <a:avLst/>
          </a:prstGeom>
          <a:ln xmlns:a="http://schemas.openxmlformats.org/drawingml/2006/main" w="19050">
            <a:solidFill>
              <a:srgbClr val="788692"/>
            </a:solidFill>
            <a:prstDash val="solid"/>
            <a:tailEnd type="arrow" w="med" len="med"/>
          </a:ln>
        </p:spPr>
      </p:cxnSp>
      <p:sp>
        <p:nvSpPr>
          <p:cNvPr id="24" name="">
            <a:extLst xmlns:a="http://schemas.openxmlformats.org/drawingml/2006/main">
              <a:ext uri="{FF2B5EF4-FFF2-40B4-BE49-F238E27FC236}">
                <a16:creationId xmlns:a16="http://schemas.microsoft.com/office/drawing/2014/main" id="{1BAAE602-DA0E-456C-8CC0-72E4ECE8120F}"/>
              </a:ext>
            </a:extLst>
          </p:cNvPr>
          <p:cNvSpPr>
            <a:spLocks xmlns:a="http://schemas.openxmlformats.org/drawingml/2006/main" noGrp="1"/>
          </p:cNvSpPr>
          <p:nvPr/>
        </p:nvSpPr>
        <p:spPr>
          <a:xfrm xmlns:a="http://schemas.openxmlformats.org/drawingml/2006/main">
            <a:off x="609600" y="4857750"/>
            <a:ext cx="1074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1">
                <a:solidFill>
                  <a:srgbClr val="2F6F98"/>
                </a:solidFill>
                <a:latin typeface="Aptos"/>
                <a:ea typeface="Aptos"/>
                <a:cs typeface="Aptos"/>
              </a:defRPr>
            </a:pPr>
            <a:r>
              <a:rPr sz="1650" b="1">
                <a:solidFill>
                  <a:srgbClr val="2F6F98"/>
                </a:solidFill>
                <a:latin typeface="Aptos"/>
                <a:ea typeface="Aptos"/>
                <a:cs typeface="Aptos"/>
              </a:rPr>
              <a:t>One vehicle identity  •  one SOP platform substrate  •  no architectural redesign between stages</a:t>
            </a:r>
          </a:p>
        </p:txBody>
      </p:sp>
      <p:sp>
        <p:nvSpPr>
          <p:cNvPr id="25" name="">
            <a:extLst xmlns:a="http://schemas.openxmlformats.org/drawingml/2006/main">
              <a:ext uri="{FF2B5EF4-FFF2-40B4-BE49-F238E27FC236}">
                <a16:creationId xmlns:a16="http://schemas.microsoft.com/office/drawing/2014/main" id="{72D14DFE-46B0-4BCA-AC3C-CEA69AE0B254}"/>
              </a:ext>
            </a:extLst>
          </p:cNvPr>
          <p:cNvSpPr>
            <a:spLocks xmlns:a="http://schemas.openxmlformats.org/drawingml/2006/main" noGrp="1"/>
          </p:cNvSpPr>
          <p:nvPr/>
        </p:nvSpPr>
        <p:spPr>
          <a:xfrm xmlns:a="http://schemas.openxmlformats.org/drawingml/2006/main">
            <a:off x="1428750" y="5429250"/>
            <a:ext cx="933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0">
                <a:solidFill>
                  <a:srgbClr val="5E6A76"/>
                </a:solidFill>
                <a:latin typeface="Aptos"/>
                <a:ea typeface="Aptos"/>
                <a:cs typeface="Aptos"/>
              </a:defRPr>
            </a:pPr>
            <a:r>
              <a:rPr sz="1425" b="0">
                <a:solidFill>
                  <a:srgbClr val="5E6A76"/>
                </a:solidFill>
                <a:latin typeface="Aptos"/>
                <a:ea typeface="Aptos"/>
                <a:cs typeface="Aptos"/>
              </a:rPr>
              <a:t>All artifacts are prepared and staged before the live demonstration; the audience sees controlled deployment and runtime behavior.</a:t>
            </a:r>
          </a:p>
        </p:txBody>
      </p:sp>
      <p:sp>
        <p:nvSpPr>
          <p:cNvPr id="26" name="">
            <a:extLst xmlns:a="http://schemas.openxmlformats.org/drawingml/2006/main">
              <a:ext uri="{FF2B5EF4-FFF2-40B4-BE49-F238E27FC236}">
                <a16:creationId xmlns:a16="http://schemas.microsoft.com/office/drawing/2014/main" id="{5A7894A1-15D8-44F4-A435-571E09B79AAB}"/>
              </a:ext>
            </a:extLst>
          </p:cNvPr>
          <p:cNvSpPr>
            <a:spLocks xmlns:a="http://schemas.openxmlformats.org/drawingml/2006/main" noGrp="1"/>
          </p:cNvSpPr>
          <p:nvPr/>
        </p:nvSpPr>
        <p:spPr>
          <a:xfrm xmlns:a="http://schemas.openxmlformats.org/drawingml/2006/main">
            <a:off x="609600" y="65341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825" b="1">
                <a:solidFill>
                  <a:srgbClr val="5E6A76"/>
                </a:solidFill>
                <a:latin typeface="Aptos"/>
                <a:ea typeface="Aptos"/>
                <a:cs typeface="Aptos"/>
              </a:defRPr>
            </a:pPr>
            <a:r>
              <a:rPr sz="825" b="1">
                <a:solidFill>
                  <a:srgbClr val="5E6A76"/>
                </a:solidFill>
                <a:latin typeface="Aptos"/>
                <a:ea typeface="Aptos"/>
                <a:cs typeface="Aptos"/>
              </a:rPr>
              <a:t>DISCUSSION DRAFT 0.1</a:t>
            </a:r>
          </a:p>
        </p:txBody>
      </p:sp>
      <p:sp>
        <p:nvSpPr>
          <p:cNvPr id="27" name="">
            <a:extLst xmlns:a="http://schemas.openxmlformats.org/drawingml/2006/main">
              <a:ext uri="{FF2B5EF4-FFF2-40B4-BE49-F238E27FC236}">
                <a16:creationId xmlns:a16="http://schemas.microsoft.com/office/drawing/2014/main" id="{AA573B2E-D201-4E65-B105-0C278D9F7717}"/>
              </a:ext>
            </a:extLst>
          </p:cNvPr>
          <p:cNvSpPr>
            <a:spLocks xmlns:a="http://schemas.openxmlformats.org/drawingml/2006/main" noGrp="1"/>
          </p:cNvSpPr>
          <p:nvPr/>
        </p:nvSpPr>
        <p:spPr>
          <a:xfrm xmlns:a="http://schemas.openxmlformats.org/drawingml/2006/main">
            <a:off x="112014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00" b="0">
                <a:solidFill>
                  <a:srgbClr val="5E6A76"/>
                </a:solidFill>
                <a:latin typeface="Aptos"/>
                <a:ea typeface="Aptos"/>
                <a:cs typeface="Aptos"/>
              </a:defRPr>
            </a:pPr>
            <a:r>
              <a:rPr sz="900" b="0">
                <a:solidFill>
                  <a:srgbClr val="5E6A76"/>
                </a:solidFill>
                <a:latin typeface="Aptos"/>
                <a:ea typeface="Aptos"/>
                <a:cs typeface="Aptos"/>
              </a:rPr>
              <a:t>2</a:t>
            </a:r>
          </a:p>
        </p:txBody>
      </p:sp>
    </p:spTree>
    <p:extLst>
      <p:ext uri="{BB962C8B-B14F-4D97-AF65-F5344CB8AC3E}">
        <p14:creationId xmlns:p14="http://schemas.microsoft.com/office/powerpoint/2010/main" val="17392070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section-3">
            <a:extLst xmlns:a="http://schemas.openxmlformats.org/drawingml/2006/main">
              <a:ext uri="{FF2B5EF4-FFF2-40B4-BE49-F238E27FC236}">
                <a16:creationId xmlns:a16="http://schemas.microsoft.com/office/drawing/2014/main" id="{6BF6D2D5-6C3C-4D23-A5FA-B861C612A994}"/>
              </a:ext>
            </a:extLst>
          </p:cNvPr>
          <p:cNvSpPr>
            <a:spLocks xmlns:a="http://schemas.openxmlformats.org/drawingml/2006/main" noGrp="1"/>
          </p:cNvSpPr>
          <p:nvPr/>
        </p:nvSpPr>
        <p:spPr>
          <a:xfrm xmlns:a="http://schemas.openxmlformats.org/drawingml/2006/main">
            <a:off x="609600" y="3238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a:solidFill>
                  <a:srgbClr val="2F6F98"/>
                </a:solidFill>
                <a:latin typeface="Aptos"/>
                <a:ea typeface="Aptos"/>
                <a:cs typeface="Aptos"/>
              </a:defRPr>
            </a:pPr>
            <a:r>
              <a:rPr sz="975" b="1">
                <a:solidFill>
                  <a:srgbClr val="2F6F98"/>
                </a:solidFill>
                <a:latin typeface="Aptos"/>
                <a:ea typeface="Aptos"/>
                <a:cs typeface="Aptos"/>
              </a:rPr>
              <a:t>HIGH-LEVEL ARCHITECTURE</a:t>
            </a:r>
          </a:p>
        </p:txBody>
      </p:sp>
      <p:sp>
        <p:nvSpPr>
          <p:cNvPr id="2" name="title-3">
            <a:extLst xmlns:a="http://schemas.openxmlformats.org/drawingml/2006/main">
              <a:ext uri="{FF2B5EF4-FFF2-40B4-BE49-F238E27FC236}">
                <a16:creationId xmlns:a16="http://schemas.microsoft.com/office/drawing/2014/main" id="{E79E105C-3A65-4FBC-BB15-D474FC44F3FB}"/>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850" b="1">
                <a:solidFill>
                  <a:srgbClr val="17212B"/>
                </a:solidFill>
                <a:latin typeface="Aptos"/>
                <a:ea typeface="Aptos"/>
                <a:cs typeface="Aptos"/>
              </a:defRPr>
            </a:pPr>
            <a:r>
              <a:rPr sz="2850" b="1">
                <a:solidFill>
                  <a:srgbClr val="17212B"/>
                </a:solidFill>
                <a:latin typeface="Aptos"/>
                <a:ea typeface="Aptos"/>
                <a:cs typeface="Aptos"/>
              </a:rPr>
              <a:t>The demo preserves real automotive boundaries</a:t>
            </a:r>
          </a:p>
        </p:txBody>
      </p:sp>
      <p:sp>
        <p:nvSpPr>
          <p:cNvPr id="3" name="">
            <a:extLst xmlns:a="http://schemas.openxmlformats.org/drawingml/2006/main">
              <a:ext uri="{FF2B5EF4-FFF2-40B4-BE49-F238E27FC236}">
                <a16:creationId xmlns:a16="http://schemas.microsoft.com/office/drawing/2014/main" id="{CA708D86-C1EA-4A03-864E-39ABE897508D}"/>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B9C3CC"/>
            </a:solidFill>
            <a:prstDash val="solid"/>
          </a:ln>
        </p:spPr>
      </p:sp>
      <p:sp>
        <p:nvSpPr>
          <p:cNvPr id="4" name="">
            <a:extLst xmlns:a="http://schemas.openxmlformats.org/drawingml/2006/main">
              <a:ext uri="{FF2B5EF4-FFF2-40B4-BE49-F238E27FC236}">
                <a16:creationId xmlns:a16="http://schemas.microsoft.com/office/drawing/2014/main" id="{BBB96C9E-08BB-4AAE-893D-13DCAB5A1A5B}"/>
              </a:ext>
            </a:extLst>
          </p:cNvPr>
          <p:cNvSpPr>
            <a:spLocks xmlns:a="http://schemas.openxmlformats.org/drawingml/2006/main" noGrp="1"/>
          </p:cNvSpPr>
          <p:nvPr/>
        </p:nvSpPr>
        <p:spPr>
          <a:xfrm xmlns:a="http://schemas.openxmlformats.org/drawingml/2006/main">
            <a:off x="609600" y="2247900"/>
            <a:ext cx="1600200" cy="1066800"/>
          </a:xfrm>
          <a:prstGeom xmlns:a="http://schemas.openxmlformats.org/drawingml/2006/main" prst="roundRect">
            <a:avLst>
              <a:gd name="adj" fmla="val 8929"/>
            </a:avLst>
          </a:prstGeom>
          <a:solidFill xmlns:a="http://schemas.openxmlformats.org/drawingml/2006/main">
            <a:srgbClr val="E8F2F8"/>
          </a:solidFill>
          <a:ln xmlns:a="http://schemas.openxmlformats.org/drawingml/2006/main" w="14288">
            <a:solidFill>
              <a:srgbClr val="2F6F98"/>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575" b="1">
                <a:solidFill>
                  <a:srgbClr val="17212B"/>
                </a:solidFill>
                <a:latin typeface="Aptos"/>
                <a:ea typeface="Aptos"/>
                <a:cs typeface="Aptos"/>
              </a:defRPr>
            </a:pPr>
            <a:r>
              <a:rPr sz="1575" b="1">
                <a:solidFill>
                  <a:srgbClr val="17212B"/>
                </a:solidFill>
                <a:latin typeface="Aptos"/>
                <a:ea typeface="Aptos"/>
                <a:cs typeface="Aptos"/>
              </a:rPr>
              <a:t>CARLA</a:t>
            </a:r>
          </a:p>
          <a:p xmlns:a="http://schemas.openxmlformats.org/drawingml/2006/main">
            <a:pPr algn="ctr">
              <a:lnSpc>
                <a:spcPct val="104000"/>
              </a:lnSpc>
              <a:buNone/>
              <a:defRPr sz="1575" b="1">
                <a:solidFill>
                  <a:srgbClr val="17212B"/>
                </a:solidFill>
                <a:latin typeface="Aptos"/>
                <a:ea typeface="Aptos"/>
                <a:cs typeface="Aptos"/>
              </a:defRPr>
            </a:pPr>
            <a:r>
              <a:rPr sz="1575" b="1">
                <a:solidFill>
                  <a:srgbClr val="17212B"/>
                </a:solidFill>
                <a:latin typeface="Aptos"/>
                <a:ea typeface="Aptos"/>
                <a:cs typeface="Aptos"/>
              </a:rPr>
              <a:t>Physical vehicle</a:t>
            </a:r>
          </a:p>
        </p:txBody>
      </p:sp>
      <p:sp>
        <p:nvSpPr>
          <p:cNvPr id="5" name="">
            <a:extLst xmlns:a="http://schemas.openxmlformats.org/drawingml/2006/main">
              <a:ext uri="{FF2B5EF4-FFF2-40B4-BE49-F238E27FC236}">
                <a16:creationId xmlns:a16="http://schemas.microsoft.com/office/drawing/2014/main" id="{AD159F7B-90E9-478C-B8FF-2AE0851715D5}"/>
              </a:ext>
            </a:extLst>
          </p:cNvPr>
          <p:cNvSpPr>
            <a:spLocks xmlns:a="http://schemas.openxmlformats.org/drawingml/2006/main" noGrp="1"/>
          </p:cNvSpPr>
          <p:nvPr/>
        </p:nvSpPr>
        <p:spPr>
          <a:xfrm xmlns:a="http://schemas.openxmlformats.org/drawingml/2006/main">
            <a:off x="2667000" y="2057400"/>
            <a:ext cx="2000250" cy="1447800"/>
          </a:xfrm>
          <a:prstGeom xmlns:a="http://schemas.openxmlformats.org/drawingml/2006/main" prst="roundRect">
            <a:avLst>
              <a:gd name="adj" fmla="val 6579"/>
            </a:avLst>
          </a:prstGeom>
          <a:solidFill xmlns:a="http://schemas.openxmlformats.org/drawingml/2006/main">
            <a:srgbClr val="E8F2F8"/>
          </a:solidFill>
          <a:ln xmlns:a="http://schemas.openxmlformats.org/drawingml/2006/main" w="14288">
            <a:solidFill>
              <a:srgbClr val="2F6F98"/>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500" b="1">
                <a:solidFill>
                  <a:srgbClr val="17212B"/>
                </a:solidFill>
                <a:latin typeface="Aptos"/>
                <a:ea typeface="Aptos"/>
                <a:cs typeface="Aptos"/>
              </a:defRPr>
            </a:pPr>
            <a:r>
              <a:rPr sz="1500" b="1">
                <a:solidFill>
                  <a:srgbClr val="17212B"/>
                </a:solidFill>
                <a:latin typeface="Aptos"/>
                <a:ea typeface="Aptos"/>
                <a:cs typeface="Aptos"/>
              </a:rPr>
              <a:t>Vehicle Gateway ECU</a:t>
            </a:r>
          </a:p>
          <a:p xmlns:a="http://schemas.openxmlformats.org/drawingml/2006/main">
            <a:pPr algn="ctr">
              <a:lnSpc>
                <a:spcPct val="104000"/>
              </a:lnSpc>
              <a:buNone/>
              <a:defRPr sz="1500" b="1">
                <a:solidFill>
                  <a:srgbClr val="17212B"/>
                </a:solidFill>
                <a:latin typeface="Aptos"/>
                <a:ea typeface="Aptos"/>
                <a:cs typeface="Aptos"/>
              </a:defRPr>
            </a:pPr>
            <a:r>
              <a:rPr sz="1500" b="1">
                <a:solidFill>
                  <a:srgbClr val="17212B"/>
                </a:solidFill>
                <a:latin typeface="Aptos"/>
                <a:ea typeface="Aptos"/>
                <a:cs typeface="Aptos"/>
              </a:rPr>
              <a:t>carla-ego-runtime</a:t>
            </a:r>
          </a:p>
          <a:p xmlns:a="http://schemas.openxmlformats.org/drawingml/2006/main">
            <a:pPr algn="ctr">
              <a:lnSpc>
                <a:spcPct val="104000"/>
              </a:lnSpc>
              <a:buNone/>
              <a:defRPr sz="1500" b="1">
                <a:solidFill>
                  <a:srgbClr val="17212B"/>
                </a:solidFill>
                <a:latin typeface="Aptos"/>
                <a:ea typeface="Aptos"/>
                <a:cs typeface="Aptos"/>
              </a:defRPr>
            </a:pPr>
            <a:r>
              <a:rPr sz="1500" b="1">
                <a:solidFill>
                  <a:srgbClr val="17212B"/>
                </a:solidFill>
                <a:latin typeface="Aptos"/>
                <a:ea typeface="Aptos"/>
                <a:cs typeface="Aptos"/>
              </a:rPr>
              <a:t>VISS 3.1</a:t>
            </a:r>
          </a:p>
        </p:txBody>
      </p:sp>
      <p:sp>
        <p:nvSpPr>
          <p:cNvPr id="6" name="">
            <a:extLst xmlns:a="http://schemas.openxmlformats.org/drawingml/2006/main">
              <a:ext uri="{FF2B5EF4-FFF2-40B4-BE49-F238E27FC236}">
                <a16:creationId xmlns:a16="http://schemas.microsoft.com/office/drawing/2014/main" id="{98F7BCAE-6519-4D40-8F0C-77154AC2F570}"/>
              </a:ext>
            </a:extLst>
          </p:cNvPr>
          <p:cNvSpPr>
            <a:spLocks xmlns:a="http://schemas.openxmlformats.org/drawingml/2006/main" noGrp="1"/>
          </p:cNvSpPr>
          <p:nvPr/>
        </p:nvSpPr>
        <p:spPr>
          <a:xfrm xmlns:a="http://schemas.openxmlformats.org/drawingml/2006/main">
            <a:off x="5257800" y="1638300"/>
            <a:ext cx="3143250" cy="2305050"/>
          </a:xfrm>
          <a:prstGeom xmlns:a="http://schemas.openxmlformats.org/drawingml/2006/main" prst="roundRect">
            <a:avLst>
              <a:gd name="adj" fmla="val 3306"/>
            </a:avLst>
          </a:prstGeom>
          <a:solidFill xmlns:a="http://schemas.openxmlformats.org/drawingml/2006/main">
            <a:srgbClr val="E5F4F0"/>
          </a:solidFill>
          <a:ln xmlns:a="http://schemas.openxmlformats.org/drawingml/2006/main" w="19050">
            <a:solidFill>
              <a:srgbClr val="14806F"/>
            </a:solidFill>
            <a:prstDash val="solid"/>
          </a:ln>
        </p:spPr>
        <p:txBody>
          <a:bodyPr xmlns:a="http://schemas.openxmlformats.org/drawingml/2006/main" lIns="95250" tIns="76200" rIns="95250" bIns="76200" anchor="ctr">
            <a:norm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8B75BD1E-8DBC-46C8-968F-E5008907CE8F}"/>
              </a:ext>
            </a:extLst>
          </p:cNvPr>
          <p:cNvSpPr>
            <a:spLocks xmlns:a="http://schemas.openxmlformats.org/drawingml/2006/main" noGrp="1"/>
          </p:cNvSpPr>
          <p:nvPr/>
        </p:nvSpPr>
        <p:spPr>
          <a:xfrm xmlns:a="http://schemas.openxmlformats.org/drawingml/2006/main">
            <a:off x="5448300" y="17907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5192"/>
          </a:bodyPr>
          <a:lstStyle xmlns:a="http://schemas.openxmlformats.org/drawingml/2006/main"/>
          <a:p xmlns:a="http://schemas.openxmlformats.org/drawingml/2006/main">
            <a:pPr algn="ctr">
              <a:lnSpc>
                <a:spcPct val="108000"/>
              </a:lnSpc>
              <a:buNone/>
              <a:defRPr sz="1425" b="1">
                <a:solidFill>
                  <a:srgbClr val="14806F"/>
                </a:solidFill>
                <a:latin typeface="Aptos"/>
                <a:ea typeface="Aptos"/>
                <a:cs typeface="Aptos"/>
              </a:defRPr>
            </a:pPr>
            <a:r>
              <a:rPr sz="1425" b="1">
                <a:solidFill>
                  <a:srgbClr val="14806F"/>
                </a:solidFill>
                <a:latin typeface="Aptos"/>
                <a:ea typeface="Aptos"/>
                <a:cs typeface="Aptos"/>
              </a:rPr>
              <a:t>Domain Controller ECU — QEMU + AosVM</a:t>
            </a:r>
          </a:p>
        </p:txBody>
      </p:sp>
      <p:sp>
        <p:nvSpPr>
          <p:cNvPr id="8" name="">
            <a:extLst xmlns:a="http://schemas.openxmlformats.org/drawingml/2006/main">
              <a:ext uri="{FF2B5EF4-FFF2-40B4-BE49-F238E27FC236}">
                <a16:creationId xmlns:a16="http://schemas.microsoft.com/office/drawing/2014/main" id="{DD6600E1-829C-44D8-B045-BDC11407CDD4}"/>
              </a:ext>
            </a:extLst>
          </p:cNvPr>
          <p:cNvSpPr>
            <a:spLocks xmlns:a="http://schemas.openxmlformats.org/drawingml/2006/main" noGrp="1"/>
          </p:cNvSpPr>
          <p:nvPr/>
        </p:nvSpPr>
        <p:spPr>
          <a:xfrm xmlns:a="http://schemas.openxmlformats.org/drawingml/2006/main">
            <a:off x="5505450" y="2247900"/>
            <a:ext cx="1104900" cy="723900"/>
          </a:xfrm>
          <a:prstGeom xmlns:a="http://schemas.openxmlformats.org/drawingml/2006/main" prst="roundRect">
            <a:avLst>
              <a:gd name="adj" fmla="val 13158"/>
            </a:avLst>
          </a:prstGeom>
          <a:solidFill xmlns:a="http://schemas.openxmlformats.org/drawingml/2006/main">
            <a:srgbClr val="F0ECF8"/>
          </a:solidFill>
          <a:ln xmlns:a="http://schemas.openxmlformats.org/drawingml/2006/main" w="11430">
            <a:solidFill>
              <a:srgbClr val="6C55A3"/>
            </a:solidFill>
            <a:prstDash val="solid"/>
          </a:ln>
        </p:spPr>
        <p:txBody>
          <a:bodyPr xmlns:a="http://schemas.openxmlformats.org/drawingml/2006/main" lIns="95250" tIns="76200" rIns="95250" bIns="76200" anchor="ctr">
            <a:normAutofit fontScale="90381"/>
          </a:bodyPr>
          <a:lstStyle xmlns:a="http://schemas.openxmlformats.org/drawingml/2006/main"/>
          <a:p xmlns:a="http://schemas.openxmlformats.org/drawingml/2006/main">
            <a:pPr algn="ctr">
              <a:lnSpc>
                <a:spcPct val="104000"/>
              </a:lnSpc>
              <a:buNone/>
              <a:defRPr sz="1200" b="1">
                <a:solidFill>
                  <a:srgbClr val="17212B"/>
                </a:solidFill>
                <a:latin typeface="Aptos"/>
                <a:ea typeface="Aptos"/>
                <a:cs typeface="Aptos"/>
              </a:defRPr>
            </a:pPr>
            <a:r>
              <a:rPr sz="1200" b="1">
                <a:solidFill>
                  <a:srgbClr val="17212B"/>
                </a:solidFill>
                <a:latin typeface="Aptos"/>
                <a:ea typeface="Aptos"/>
                <a:cs typeface="Aptos"/>
              </a:rPr>
              <a:t>AosCore</a:t>
            </a:r>
          </a:p>
          <a:p xmlns:a="http://schemas.openxmlformats.org/drawingml/2006/main">
            <a:pPr algn="ctr">
              <a:lnSpc>
                <a:spcPct val="104000"/>
              </a:lnSpc>
              <a:buNone/>
              <a:defRPr sz="1200" b="1">
                <a:solidFill>
                  <a:srgbClr val="17212B"/>
                </a:solidFill>
                <a:latin typeface="Aptos"/>
                <a:ea typeface="Aptos"/>
                <a:cs typeface="Aptos"/>
              </a:defRPr>
            </a:pPr>
            <a:r>
              <a:rPr sz="1200" b="1">
                <a:solidFill>
                  <a:srgbClr val="17212B"/>
                </a:solidFill>
                <a:latin typeface="Aptos"/>
                <a:ea typeface="Aptos"/>
                <a:cs typeface="Aptos"/>
              </a:rPr>
              <a:t>lifecycle + security</a:t>
            </a:r>
          </a:p>
        </p:txBody>
      </p:sp>
      <p:sp>
        <p:nvSpPr>
          <p:cNvPr id="9" name="">
            <a:extLst xmlns:a="http://schemas.openxmlformats.org/drawingml/2006/main">
              <a:ext uri="{FF2B5EF4-FFF2-40B4-BE49-F238E27FC236}">
                <a16:creationId xmlns:a16="http://schemas.microsoft.com/office/drawing/2014/main" id="{DF395B64-78F1-4A73-8F58-10690F729FDC}"/>
              </a:ext>
            </a:extLst>
          </p:cNvPr>
          <p:cNvSpPr>
            <a:spLocks xmlns:a="http://schemas.openxmlformats.org/drawingml/2006/main" noGrp="1"/>
          </p:cNvSpPr>
          <p:nvPr/>
        </p:nvSpPr>
        <p:spPr>
          <a:xfrm xmlns:a="http://schemas.openxmlformats.org/drawingml/2006/main">
            <a:off x="6772275" y="2247900"/>
            <a:ext cx="1371600" cy="723900"/>
          </a:xfrm>
          <a:prstGeom xmlns:a="http://schemas.openxmlformats.org/drawingml/2006/main" prst="roundRect">
            <a:avLst>
              <a:gd name="adj" fmla="val 13158"/>
            </a:avLst>
          </a:prstGeom>
          <a:solidFill xmlns:a="http://schemas.openxmlformats.org/drawingml/2006/main">
            <a:srgbClr val="FFFFFF"/>
          </a:solidFill>
          <a:ln xmlns:a="http://schemas.openxmlformats.org/drawingml/2006/main" w="11430">
            <a:solidFill>
              <a:srgbClr val="14806F"/>
            </a:solidFill>
            <a:prstDash val="solid"/>
          </a:ln>
        </p:spPr>
        <p:txBody>
          <a:bodyPr xmlns:a="http://schemas.openxmlformats.org/drawingml/2006/main" lIns="95250" tIns="76200" rIns="95250" bIns="76200" anchor="ctr">
            <a:normAutofit fontScale="90381"/>
          </a:bodyPr>
          <a:lstStyle xmlns:a="http://schemas.openxmlformats.org/drawingml/2006/main"/>
          <a:p xmlns:a="http://schemas.openxmlformats.org/drawingml/2006/main">
            <a:pPr algn="ctr">
              <a:lnSpc>
                <a:spcPct val="104000"/>
              </a:lnSpc>
              <a:buNone/>
              <a:defRPr sz="1200" b="1">
                <a:solidFill>
                  <a:srgbClr val="17212B"/>
                </a:solidFill>
                <a:latin typeface="Aptos"/>
                <a:ea typeface="Aptos"/>
                <a:cs typeface="Aptos"/>
              </a:defRPr>
            </a:pPr>
            <a:r>
              <a:rPr sz="1200" b="1">
                <a:solidFill>
                  <a:srgbClr val="17212B"/>
                </a:solidFill>
                <a:latin typeface="Aptos"/>
                <a:ea typeface="Aptos"/>
                <a:cs typeface="Aptos"/>
              </a:rPr>
              <a:t>KUKSA</a:t>
            </a:r>
          </a:p>
          <a:p xmlns:a="http://schemas.openxmlformats.org/drawingml/2006/main">
            <a:pPr algn="ctr">
              <a:lnSpc>
                <a:spcPct val="104000"/>
              </a:lnSpc>
              <a:buNone/>
              <a:defRPr sz="1200" b="1">
                <a:solidFill>
                  <a:srgbClr val="17212B"/>
                </a:solidFill>
                <a:latin typeface="Aptos"/>
                <a:ea typeface="Aptos"/>
                <a:cs typeface="Aptos"/>
              </a:defRPr>
            </a:pPr>
            <a:r>
              <a:rPr sz="1200" b="1">
                <a:solidFill>
                  <a:srgbClr val="17212B"/>
                </a:solidFill>
                <a:latin typeface="Aptos"/>
                <a:ea typeface="Aptos"/>
                <a:cs typeface="Aptos"/>
              </a:rPr>
              <a:t>stable VSS contract</a:t>
            </a:r>
          </a:p>
        </p:txBody>
      </p:sp>
      <p:sp>
        <p:nvSpPr>
          <p:cNvPr id="10" name="">
            <a:extLst xmlns:a="http://schemas.openxmlformats.org/drawingml/2006/main">
              <a:ext uri="{FF2B5EF4-FFF2-40B4-BE49-F238E27FC236}">
                <a16:creationId xmlns:a16="http://schemas.microsoft.com/office/drawing/2014/main" id="{BE0F2A7C-1328-4AA3-BC3F-2EF4AC161F19}"/>
              </a:ext>
            </a:extLst>
          </p:cNvPr>
          <p:cNvSpPr>
            <a:spLocks xmlns:a="http://schemas.openxmlformats.org/drawingml/2006/main" noGrp="1"/>
          </p:cNvSpPr>
          <p:nvPr/>
        </p:nvSpPr>
        <p:spPr>
          <a:xfrm xmlns:a="http://schemas.openxmlformats.org/drawingml/2006/main">
            <a:off x="6143625" y="3124200"/>
            <a:ext cx="1371600" cy="571500"/>
          </a:xfrm>
          <a:prstGeom xmlns:a="http://schemas.openxmlformats.org/drawingml/2006/main" prst="roundRect">
            <a:avLst>
              <a:gd name="adj" fmla="val 16667"/>
            </a:avLst>
          </a:prstGeom>
          <a:solidFill xmlns:a="http://schemas.openxmlformats.org/drawingml/2006/main">
            <a:srgbClr val="FFF0E5"/>
          </a:solidFill>
          <a:ln xmlns:a="http://schemas.openxmlformats.org/drawingml/2006/main" w="11430">
            <a:solidFill>
              <a:srgbClr val="C76724"/>
            </a:solidFill>
            <a:prstDash val="solid"/>
          </a:ln>
        </p:spPr>
        <p:txBody>
          <a:bodyPr xmlns:a="http://schemas.openxmlformats.org/drawingml/2006/main" lIns="95250" tIns="76200" rIns="95250" bIns="76200" anchor="ctr">
            <a:normAutofit fontScale="95508"/>
          </a:bodyPr>
          <a:lstStyle xmlns:a="http://schemas.openxmlformats.org/drawingml/2006/main"/>
          <a:p xmlns:a="http://schemas.openxmlformats.org/drawingml/2006/main">
            <a:pPr algn="ctr">
              <a:lnSpc>
                <a:spcPct val="104000"/>
              </a:lnSpc>
              <a:buNone/>
              <a:defRPr sz="1200" b="1">
                <a:solidFill>
                  <a:srgbClr val="17212B"/>
                </a:solidFill>
                <a:latin typeface="Aptos"/>
                <a:ea typeface="Aptos"/>
                <a:cs typeface="Aptos"/>
              </a:defRPr>
            </a:pPr>
            <a:r>
              <a:rPr sz="1200" b="1">
                <a:solidFill>
                  <a:srgbClr val="17212B"/>
                </a:solidFill>
                <a:latin typeface="Aptos"/>
                <a:ea typeface="Aptos"/>
                <a:cs typeface="Aptos"/>
              </a:rPr>
              <a:t>Brake Health</a:t>
            </a:r>
          </a:p>
          <a:p xmlns:a="http://schemas.openxmlformats.org/drawingml/2006/main">
            <a:pPr algn="ctr">
              <a:lnSpc>
                <a:spcPct val="104000"/>
              </a:lnSpc>
              <a:buNone/>
              <a:defRPr sz="1200" b="1">
                <a:solidFill>
                  <a:srgbClr val="17212B"/>
                </a:solidFill>
                <a:latin typeface="Aptos"/>
                <a:ea typeface="Aptos"/>
                <a:cs typeface="Aptos"/>
              </a:defRPr>
            </a:pPr>
            <a:r>
              <a:rPr sz="1200" b="1">
                <a:solidFill>
                  <a:srgbClr val="17212B"/>
                </a:solidFill>
                <a:latin typeface="Aptos"/>
                <a:ea typeface="Aptos"/>
                <a:cs typeface="Aptos"/>
              </a:rPr>
              <a:t>SOTA service</a:t>
            </a:r>
          </a:p>
        </p:txBody>
      </p:sp>
      <p:sp>
        <p:nvSpPr>
          <p:cNvPr id="11" name="">
            <a:extLst xmlns:a="http://schemas.openxmlformats.org/drawingml/2006/main">
              <a:ext uri="{FF2B5EF4-FFF2-40B4-BE49-F238E27FC236}">
                <a16:creationId xmlns:a16="http://schemas.microsoft.com/office/drawing/2014/main" id="{BD3F193B-CDD8-4CA0-8462-5381C0C7CE2E}"/>
              </a:ext>
            </a:extLst>
          </p:cNvPr>
          <p:cNvSpPr>
            <a:spLocks xmlns:a="http://schemas.openxmlformats.org/drawingml/2006/main" noGrp="1"/>
          </p:cNvSpPr>
          <p:nvPr/>
        </p:nvSpPr>
        <p:spPr>
          <a:xfrm xmlns:a="http://schemas.openxmlformats.org/drawingml/2006/main">
            <a:off x="9124950" y="2076450"/>
            <a:ext cx="1562100" cy="800100"/>
          </a:xfrm>
          <a:prstGeom xmlns:a="http://schemas.openxmlformats.org/drawingml/2006/main" prst="roundRect">
            <a:avLst>
              <a:gd name="adj" fmla="val 11905"/>
            </a:avLst>
          </a:prstGeom>
          <a:solidFill xmlns:a="http://schemas.openxmlformats.org/drawingml/2006/main">
            <a:srgbClr val="FFF0E5"/>
          </a:solidFill>
          <a:ln xmlns:a="http://schemas.openxmlformats.org/drawingml/2006/main" w="14288">
            <a:solidFill>
              <a:srgbClr val="C7672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Function Team</a:t>
            </a:r>
          </a:p>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Backend</a:t>
            </a:r>
          </a:p>
        </p:txBody>
      </p:sp>
      <p:sp>
        <p:nvSpPr>
          <p:cNvPr id="12" name="">
            <a:extLst xmlns:a="http://schemas.openxmlformats.org/drawingml/2006/main">
              <a:ext uri="{FF2B5EF4-FFF2-40B4-BE49-F238E27FC236}">
                <a16:creationId xmlns:a16="http://schemas.microsoft.com/office/drawing/2014/main" id="{B5DC4DC5-C97C-4484-9091-1DAEA53E76AA}"/>
              </a:ext>
            </a:extLst>
          </p:cNvPr>
          <p:cNvSpPr>
            <a:spLocks xmlns:a="http://schemas.openxmlformats.org/drawingml/2006/main" noGrp="1"/>
          </p:cNvSpPr>
          <p:nvPr/>
        </p:nvSpPr>
        <p:spPr>
          <a:xfrm xmlns:a="http://schemas.openxmlformats.org/drawingml/2006/main">
            <a:off x="9124950" y="3181350"/>
            <a:ext cx="1562100" cy="800100"/>
          </a:xfrm>
          <a:prstGeom xmlns:a="http://schemas.openxmlformats.org/drawingml/2006/main" prst="roundRect">
            <a:avLst>
              <a:gd name="adj" fmla="val 11905"/>
            </a:avLst>
          </a:prstGeom>
          <a:solidFill xmlns:a="http://schemas.openxmlformats.org/drawingml/2006/main">
            <a:srgbClr val="FFFFFF"/>
          </a:solidFill>
          <a:ln xmlns:a="http://schemas.openxmlformats.org/drawingml/2006/main" w="11430">
            <a:solidFill>
              <a:srgbClr val="C76724"/>
            </a:solidFill>
            <a:prstDash val="solid"/>
          </a:ln>
        </p:spPr>
        <p:txBody>
          <a:bodyPr xmlns:a="http://schemas.openxmlformats.org/drawingml/2006/main" lIns="95250" tIns="76200" rIns="95250" bIns="76200" anchor="ctr">
            <a:normAutofit fontScale="97634"/>
          </a:bodyPr>
          <a:lstStyle xmlns:a="http://schemas.openxmlformats.org/drawingml/2006/main"/>
          <a:p xmlns:a="http://schemas.openxmlformats.org/drawingml/2006/main">
            <a:pPr algn="ctr">
              <a:lnSpc>
                <a:spcPct val="104000"/>
              </a:lnSpc>
              <a:buNone/>
              <a:defRPr sz="1275" b="1">
                <a:solidFill>
                  <a:srgbClr val="17212B"/>
                </a:solidFill>
                <a:latin typeface="Aptos"/>
                <a:ea typeface="Aptos"/>
                <a:cs typeface="Aptos"/>
              </a:defRPr>
            </a:pPr>
            <a:r>
              <a:rPr sz="1275" b="1">
                <a:solidFill>
                  <a:srgbClr val="17212B"/>
                </a:solidFill>
                <a:latin typeface="Aptos"/>
                <a:ea typeface="Aptos"/>
                <a:cs typeface="Aptos"/>
              </a:rPr>
              <a:t>Brake Health</a:t>
            </a:r>
          </a:p>
          <a:p xmlns:a="http://schemas.openxmlformats.org/drawingml/2006/main">
            <a:pPr algn="ctr">
              <a:lnSpc>
                <a:spcPct val="104000"/>
              </a:lnSpc>
              <a:buNone/>
              <a:defRPr sz="1275" b="1">
                <a:solidFill>
                  <a:srgbClr val="17212B"/>
                </a:solidFill>
                <a:latin typeface="Aptos"/>
                <a:ea typeface="Aptos"/>
                <a:cs typeface="Aptos"/>
              </a:defRPr>
            </a:pPr>
            <a:r>
              <a:rPr sz="1275" b="1">
                <a:solidFill>
                  <a:srgbClr val="17212B"/>
                </a:solidFill>
                <a:latin typeface="Aptos"/>
                <a:ea typeface="Aptos"/>
                <a:cs typeface="Aptos"/>
              </a:rPr>
              <a:t>Function Dashboard</a:t>
            </a:r>
          </a:p>
        </p:txBody>
      </p:sp>
      <p:sp>
        <p:nvSpPr>
          <p:cNvPr id="13" name="">
            <a:extLst xmlns:a="http://schemas.openxmlformats.org/drawingml/2006/main">
              <a:ext uri="{FF2B5EF4-FFF2-40B4-BE49-F238E27FC236}">
                <a16:creationId xmlns:a16="http://schemas.microsoft.com/office/drawing/2014/main" id="{E397CBB7-7D87-4594-93E6-F9202EF222B8}"/>
              </a:ext>
            </a:extLst>
          </p:cNvPr>
          <p:cNvSpPr>
            <a:spLocks xmlns:a="http://schemas.openxmlformats.org/drawingml/2006/main" noGrp="1"/>
          </p:cNvSpPr>
          <p:nvPr/>
        </p:nvSpPr>
        <p:spPr>
          <a:xfrm xmlns:a="http://schemas.openxmlformats.org/drawingml/2006/main">
            <a:off x="5505450" y="4514850"/>
            <a:ext cx="2019300" cy="723900"/>
          </a:xfrm>
          <a:prstGeom xmlns:a="http://schemas.openxmlformats.org/drawingml/2006/main" prst="roundRect">
            <a:avLst>
              <a:gd name="adj" fmla="val 13158"/>
            </a:avLst>
          </a:prstGeom>
          <a:solidFill xmlns:a="http://schemas.openxmlformats.org/drawingml/2006/main">
            <a:srgbClr val="F0ECF8"/>
          </a:solidFill>
          <a:ln xmlns:a="http://schemas.openxmlformats.org/drawingml/2006/main" w="14288">
            <a:solidFill>
              <a:srgbClr val="6C55A3"/>
            </a:solidFill>
            <a:prstDash val="solid"/>
          </a:ln>
        </p:spPr>
        <p:txBody>
          <a:bodyPr xmlns:a="http://schemas.openxmlformats.org/drawingml/2006/main" lIns="95250" tIns="76200" rIns="95250" bIns="76200" anchor="ctr">
            <a:normAutofit fontScale="98014"/>
          </a:bodyPr>
          <a:lstStyle xmlns:a="http://schemas.openxmlformats.org/drawingml/2006/main"/>
          <a:p xmlns:a="http://schemas.openxmlformats.org/drawingml/2006/main">
            <a:pPr algn="ctr">
              <a:lnSpc>
                <a:spcPct val="104000"/>
              </a:lnSpc>
              <a:buNone/>
              <a:defRPr sz="1350" b="1">
                <a:solidFill>
                  <a:srgbClr val="17212B"/>
                </a:solidFill>
                <a:latin typeface="Aptos"/>
                <a:ea typeface="Aptos"/>
                <a:cs typeface="Aptos"/>
              </a:defRPr>
            </a:pPr>
            <a:r>
              <a:rPr sz="1350" b="1">
                <a:solidFill>
                  <a:srgbClr val="17212B"/>
                </a:solidFill>
                <a:latin typeface="Aptos"/>
                <a:ea typeface="Aptos"/>
                <a:cs typeface="Aptos"/>
              </a:rPr>
              <a:t>AosCloud</a:t>
            </a:r>
          </a:p>
          <a:p xmlns:a="http://schemas.openxmlformats.org/drawingml/2006/main">
            <a:pPr algn="ctr">
              <a:lnSpc>
                <a:spcPct val="104000"/>
              </a:lnSpc>
              <a:buNone/>
              <a:defRPr sz="1350" b="1">
                <a:solidFill>
                  <a:srgbClr val="17212B"/>
                </a:solidFill>
                <a:latin typeface="Aptos"/>
                <a:ea typeface="Aptos"/>
                <a:cs typeface="Aptos"/>
              </a:defRPr>
            </a:pPr>
            <a:r>
              <a:rPr sz="1350" b="1">
                <a:solidFill>
                  <a:srgbClr val="17212B"/>
                </a:solidFill>
                <a:latin typeface="Aptos"/>
                <a:ea typeface="Aptos"/>
                <a:cs typeface="Aptos"/>
              </a:rPr>
              <a:t>FOTA + SOTA lifecycle</a:t>
            </a:r>
          </a:p>
        </p:txBody>
      </p:sp>
      <p:sp>
        <p:nvSpPr>
          <p:cNvPr id="14" name="">
            <a:extLst xmlns:a="http://schemas.openxmlformats.org/drawingml/2006/main">
              <a:ext uri="{FF2B5EF4-FFF2-40B4-BE49-F238E27FC236}">
                <a16:creationId xmlns:a16="http://schemas.microsoft.com/office/drawing/2014/main" id="{8EA6691E-AD34-458F-8A13-AFE19484B4A8}"/>
              </a:ext>
            </a:extLst>
          </p:cNvPr>
          <p:cNvSpPr>
            <a:spLocks xmlns:a="http://schemas.openxmlformats.org/drawingml/2006/main" noGrp="1"/>
          </p:cNvSpPr>
          <p:nvPr/>
        </p:nvSpPr>
        <p:spPr>
          <a:xfrm xmlns:a="http://schemas.openxmlformats.org/drawingml/2006/main">
            <a:off x="2381250" y="4514850"/>
            <a:ext cx="2019300" cy="723900"/>
          </a:xfrm>
          <a:prstGeom xmlns:a="http://schemas.openxmlformats.org/drawingml/2006/main" prst="roundRect">
            <a:avLst>
              <a:gd name="adj" fmla="val 13158"/>
            </a:avLst>
          </a:prstGeom>
          <a:solidFill xmlns:a="http://schemas.openxmlformats.org/drawingml/2006/main">
            <a:srgbClr val="F5F7F9"/>
          </a:solidFill>
          <a:ln xmlns:a="http://schemas.openxmlformats.org/drawingml/2006/main" w="11430">
            <a:solidFill>
              <a:srgbClr val="788692"/>
            </a:solidFill>
            <a:prstDash val="solid"/>
          </a:ln>
        </p:spPr>
        <p:txBody>
          <a:bodyPr xmlns:a="http://schemas.openxmlformats.org/drawingml/2006/main" lIns="95250" tIns="76200" rIns="95250" bIns="76200" anchor="ctr">
            <a:normAutofit fontScale="97569"/>
          </a:bodyPr>
          <a:lstStyle xmlns:a="http://schemas.openxmlformats.org/drawingml/2006/main"/>
          <a:p xmlns:a="http://schemas.openxmlformats.org/drawingml/2006/main">
            <a:pPr algn="ctr">
              <a:lnSpc>
                <a:spcPct val="104000"/>
              </a:lnSpc>
              <a:buNone/>
              <a:defRPr sz="1350" b="1">
                <a:solidFill>
                  <a:srgbClr val="17212B"/>
                </a:solidFill>
                <a:latin typeface="Aptos"/>
                <a:ea typeface="Aptos"/>
                <a:cs typeface="Aptos"/>
              </a:defRPr>
            </a:pPr>
            <a:r>
              <a:rPr sz="1350" b="1">
                <a:solidFill>
                  <a:srgbClr val="17212B"/>
                </a:solidFill>
                <a:latin typeface="Aptos"/>
                <a:ea typeface="Aptos"/>
                <a:cs typeface="Aptos"/>
              </a:rPr>
              <a:t>Engineering Telemetry</a:t>
            </a:r>
          </a:p>
          <a:p xmlns:a="http://schemas.openxmlformats.org/drawingml/2006/main">
            <a:pPr algn="ctr">
              <a:lnSpc>
                <a:spcPct val="104000"/>
              </a:lnSpc>
              <a:buNone/>
              <a:defRPr sz="1350" b="1">
                <a:solidFill>
                  <a:srgbClr val="17212B"/>
                </a:solidFill>
                <a:latin typeface="Aptos"/>
                <a:ea typeface="Aptos"/>
                <a:cs typeface="Aptos"/>
              </a:defRPr>
            </a:pPr>
            <a:r>
              <a:rPr sz="1350" b="1">
                <a:solidFill>
                  <a:srgbClr val="17212B"/>
                </a:solidFill>
                <a:latin typeface="Aptos"/>
                <a:ea typeface="Aptos"/>
                <a:cs typeface="Aptos"/>
              </a:rPr>
              <a:t>Dashboard</a:t>
            </a:r>
          </a:p>
        </p:txBody>
      </p:sp>
      <p:sp>
        <p:nvSpPr>
          <p:cNvPr id="15" name="">
            <a:extLst xmlns:a="http://schemas.openxmlformats.org/drawingml/2006/main">
              <a:ext uri="{FF2B5EF4-FFF2-40B4-BE49-F238E27FC236}">
                <a16:creationId xmlns:a16="http://schemas.microsoft.com/office/drawing/2014/main" id="{B01FE601-2EE9-4C7C-AD01-DD1530D86F27}"/>
              </a:ext>
            </a:extLst>
          </p:cNvPr>
          <p:cNvSpPr>
            <a:spLocks xmlns:a="http://schemas.openxmlformats.org/drawingml/2006/main" noGrp="1"/>
          </p:cNvSpPr>
          <p:nvPr/>
        </p:nvSpPr>
        <p:spPr>
          <a:xfrm xmlns:a="http://schemas.openxmlformats.org/drawingml/2006/main">
            <a:off x="8210550" y="4514850"/>
            <a:ext cx="2152650" cy="723900"/>
          </a:xfrm>
          <a:prstGeom xmlns:a="http://schemas.openxmlformats.org/drawingml/2006/main" prst="roundRect">
            <a:avLst>
              <a:gd name="adj" fmla="val 13158"/>
            </a:avLst>
          </a:prstGeom>
          <a:solidFill xmlns:a="http://schemas.openxmlformats.org/drawingml/2006/main">
            <a:srgbClr val="F5F7F9"/>
          </a:solidFill>
          <a:ln xmlns:a="http://schemas.openxmlformats.org/drawingml/2006/main" w="11430">
            <a:solidFill>
              <a:srgbClr val="78869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350" b="1">
                <a:solidFill>
                  <a:srgbClr val="17212B"/>
                </a:solidFill>
                <a:latin typeface="Aptos"/>
                <a:ea typeface="Aptos"/>
                <a:cs typeface="Aptos"/>
              </a:defRPr>
            </a:pPr>
            <a:r>
              <a:rPr sz="1350" b="1">
                <a:solidFill>
                  <a:srgbClr val="17212B"/>
                </a:solidFill>
                <a:latin typeface="Aptos"/>
                <a:ea typeface="Aptos"/>
                <a:cs typeface="Aptos"/>
              </a:rPr>
              <a:t>OEM Software Delivery</a:t>
            </a:r>
          </a:p>
          <a:p xmlns:a="http://schemas.openxmlformats.org/drawingml/2006/main">
            <a:pPr algn="ctr">
              <a:lnSpc>
                <a:spcPct val="104000"/>
              </a:lnSpc>
              <a:buNone/>
              <a:defRPr sz="1350" b="1">
                <a:solidFill>
                  <a:srgbClr val="17212B"/>
                </a:solidFill>
                <a:latin typeface="Aptos"/>
                <a:ea typeface="Aptos"/>
                <a:cs typeface="Aptos"/>
              </a:defRPr>
            </a:pPr>
            <a:r>
              <a:rPr sz="1350" b="1">
                <a:solidFill>
                  <a:srgbClr val="17212B"/>
                </a:solidFill>
                <a:latin typeface="Aptos"/>
                <a:ea typeface="Aptos"/>
                <a:cs typeface="Aptos"/>
              </a:rPr>
              <a:t>Dashboard</a:t>
            </a:r>
          </a:p>
        </p:txBody>
      </p:sp>
      <p:cxnSp>
        <p:nvCxnSpPr>
          <p:cNvPr id="45" name=""/>
          <p:cNvCxnSpPr>
            <a:stCxn xmlns:a="http://schemas.openxmlformats.org/drawingml/2006/main" id="4" idx="3"/>
            <a:endCxn xmlns:a="http://schemas.openxmlformats.org/drawingml/2006/main" id="5" idx="1"/>
          </p:cNvCxnSpPr>
          <p:nvPr/>
        </p:nvCxnSpPr>
        <p:spPr>
          <a:xfrm xmlns:a="http://schemas.openxmlformats.org/drawingml/2006/main">
            <a:off x="2209800" y="2781300"/>
            <a:ext cx="457200" cy="0"/>
          </a:xfrm>
          <a:prstGeom xmlns:a="http://schemas.openxmlformats.org/drawingml/2006/main" prst="straightConnector1">
            <a:avLst/>
          </a:prstGeom>
          <a:ln xmlns:a="http://schemas.openxmlformats.org/drawingml/2006/main" w="19050">
            <a:solidFill>
              <a:srgbClr val="2F6F98"/>
            </a:solidFill>
            <a:prstDash val="solid"/>
            <a:tailEnd type="arrow" w="med" len="med"/>
          </a:ln>
        </p:spPr>
      </p:cxnSp>
      <p:cxnSp>
        <p:nvCxnSpPr>
          <p:cNvPr id="46" name=""/>
          <p:cNvCxnSpPr>
            <a:stCxn xmlns:a="http://schemas.openxmlformats.org/drawingml/2006/main" id="5" idx="3"/>
            <a:endCxn xmlns:a="http://schemas.openxmlformats.org/drawingml/2006/main" id="6" idx="1"/>
          </p:cNvCxnSpPr>
          <p:nvPr/>
        </p:nvCxnSpPr>
        <p:spPr>
          <a:xfrm xmlns:a="http://schemas.openxmlformats.org/drawingml/2006/main">
            <a:off x="4667250" y="2781300"/>
            <a:ext cx="590550" cy="9525"/>
          </a:xfrm>
          <a:prstGeom xmlns:a="http://schemas.openxmlformats.org/drawingml/2006/main" prst="straightConnector1">
            <a:avLst/>
          </a:prstGeom>
          <a:ln xmlns:a="http://schemas.openxmlformats.org/drawingml/2006/main" w="19050">
            <a:solidFill>
              <a:srgbClr val="2F6F98"/>
            </a:solidFill>
            <a:prstDash val="solid"/>
            <a:tailEnd type="arrow" w="med" len="med"/>
          </a:ln>
        </p:spPr>
      </p:cxnSp>
      <p:cxnSp>
        <p:nvCxnSpPr>
          <p:cNvPr id="47" name=""/>
          <p:cNvCxnSpPr>
            <a:stCxn xmlns:a="http://schemas.openxmlformats.org/drawingml/2006/main" id="9" idx="2"/>
            <a:endCxn xmlns:a="http://schemas.openxmlformats.org/drawingml/2006/main" id="10" idx="0"/>
          </p:cNvCxnSpPr>
          <p:nvPr/>
        </p:nvCxnSpPr>
        <p:spPr>
          <a:xfrm xmlns:a="http://schemas.openxmlformats.org/drawingml/2006/main" flipH="1">
            <a:off x="6829425" y="2971800"/>
            <a:ext cx="628650" cy="152400"/>
          </a:xfrm>
          <a:prstGeom xmlns:a="http://schemas.openxmlformats.org/drawingml/2006/main" prst="straightConnector1">
            <a:avLst/>
          </a:prstGeom>
          <a:ln xmlns:a="http://schemas.openxmlformats.org/drawingml/2006/main" w="19050">
            <a:solidFill>
              <a:srgbClr val="C76724"/>
            </a:solidFill>
            <a:prstDash val="solid"/>
            <a:tailEnd type="arrow" w="med" len="med"/>
          </a:ln>
        </p:spPr>
      </p:cxnSp>
      <p:cxnSp>
        <p:nvCxnSpPr>
          <p:cNvPr id="48" name=""/>
          <p:cNvCxnSpPr>
            <a:stCxn xmlns:a="http://schemas.openxmlformats.org/drawingml/2006/main" id="10" idx="3"/>
            <a:endCxn xmlns:a="http://schemas.openxmlformats.org/drawingml/2006/main" id="11" idx="1"/>
          </p:cNvCxnSpPr>
          <p:nvPr/>
        </p:nvCxnSpPr>
        <p:spPr>
          <a:xfrm xmlns:a="http://schemas.openxmlformats.org/drawingml/2006/main" flipV="1">
            <a:off x="7515225" y="2476500"/>
            <a:ext cx="1609725" cy="933450"/>
          </a:xfrm>
          <a:prstGeom xmlns:a="http://schemas.openxmlformats.org/drawingml/2006/main" prst="straightConnector1">
            <a:avLst/>
          </a:prstGeom>
          <a:ln xmlns:a="http://schemas.openxmlformats.org/drawingml/2006/main" w="19050">
            <a:solidFill>
              <a:srgbClr val="C76724"/>
            </a:solidFill>
            <a:prstDash val="dash"/>
            <a:tailEnd type="arrow" w="med" len="med"/>
          </a:ln>
        </p:spPr>
      </p:cxnSp>
      <p:cxnSp>
        <p:nvCxnSpPr>
          <p:cNvPr id="49" name=""/>
          <p:cNvCxnSpPr>
            <a:stCxn xmlns:a="http://schemas.openxmlformats.org/drawingml/2006/main" id="11" idx="2"/>
            <a:endCxn xmlns:a="http://schemas.openxmlformats.org/drawingml/2006/main" id="12" idx="0"/>
          </p:cNvCxnSpPr>
          <p:nvPr/>
        </p:nvCxnSpPr>
        <p:spPr>
          <a:xfrm xmlns:a="http://schemas.openxmlformats.org/drawingml/2006/main">
            <a:off x="9906000" y="2876550"/>
            <a:ext cx="0" cy="304800"/>
          </a:xfrm>
          <a:prstGeom xmlns:a="http://schemas.openxmlformats.org/drawingml/2006/main" prst="straightConnector1">
            <a:avLst/>
          </a:prstGeom>
          <a:ln xmlns:a="http://schemas.openxmlformats.org/drawingml/2006/main" w="19050">
            <a:solidFill>
              <a:srgbClr val="C76724"/>
            </a:solidFill>
            <a:prstDash val="solid"/>
            <a:tailEnd type="arrow" w="med" len="med"/>
          </a:ln>
        </p:spPr>
      </p:cxnSp>
      <p:cxnSp>
        <p:nvCxnSpPr>
          <p:cNvPr id="50" name=""/>
          <p:cNvCxnSpPr>
            <a:stCxn xmlns:a="http://schemas.openxmlformats.org/drawingml/2006/main" id="13" idx="0"/>
            <a:endCxn xmlns:a="http://schemas.openxmlformats.org/drawingml/2006/main" id="8" idx="2"/>
          </p:cNvCxnSpPr>
          <p:nvPr/>
        </p:nvCxnSpPr>
        <p:spPr>
          <a:xfrm xmlns:a="http://schemas.openxmlformats.org/drawingml/2006/main" flipH="1" flipV="1">
            <a:off x="6057900" y="2971800"/>
            <a:ext cx="457200" cy="1543050"/>
          </a:xfrm>
          <a:prstGeom xmlns:a="http://schemas.openxmlformats.org/drawingml/2006/main" prst="straightConnector1">
            <a:avLst/>
          </a:prstGeom>
          <a:ln xmlns:a="http://schemas.openxmlformats.org/drawingml/2006/main" w="19050">
            <a:solidFill>
              <a:srgbClr val="6C55A3"/>
            </a:solidFill>
            <a:prstDash val="solid"/>
            <a:tailEnd type="arrow" w="med" len="med"/>
          </a:ln>
        </p:spPr>
      </p:cxnSp>
      <p:cxnSp>
        <p:nvCxnSpPr>
          <p:cNvPr id="51" name=""/>
          <p:cNvCxnSpPr>
            <a:stCxn xmlns:a="http://schemas.openxmlformats.org/drawingml/2006/main" id="5" idx="2"/>
            <a:endCxn xmlns:a="http://schemas.openxmlformats.org/drawingml/2006/main" id="14" idx="0"/>
          </p:cNvCxnSpPr>
          <p:nvPr/>
        </p:nvCxnSpPr>
        <p:spPr>
          <a:xfrm xmlns:a="http://schemas.openxmlformats.org/drawingml/2006/main" flipH="1">
            <a:off x="3390900" y="3505200"/>
            <a:ext cx="276225" cy="1009650"/>
          </a:xfrm>
          <a:prstGeom xmlns:a="http://schemas.openxmlformats.org/drawingml/2006/main" prst="straightConnector1">
            <a:avLst/>
          </a:prstGeom>
          <a:ln xmlns:a="http://schemas.openxmlformats.org/drawingml/2006/main" w="17145">
            <a:solidFill>
              <a:srgbClr val="788692"/>
            </a:solidFill>
            <a:prstDash val="solid"/>
            <a:tailEnd type="arrow" w="med" len="med"/>
          </a:ln>
        </p:spPr>
      </p:cxnSp>
      <p:cxnSp>
        <p:nvCxnSpPr>
          <p:cNvPr id="52" name=""/>
          <p:cNvCxnSpPr>
            <a:stCxn xmlns:a="http://schemas.openxmlformats.org/drawingml/2006/main" id="13" idx="3"/>
            <a:endCxn xmlns:a="http://schemas.openxmlformats.org/drawingml/2006/main" id="15" idx="1"/>
          </p:cNvCxnSpPr>
          <p:nvPr/>
        </p:nvCxnSpPr>
        <p:spPr>
          <a:xfrm xmlns:a="http://schemas.openxmlformats.org/drawingml/2006/main">
            <a:off x="7524750" y="4876800"/>
            <a:ext cx="685800" cy="0"/>
          </a:xfrm>
          <a:prstGeom xmlns:a="http://schemas.openxmlformats.org/drawingml/2006/main" prst="straightConnector1">
            <a:avLst/>
          </a:prstGeom>
          <a:ln xmlns:a="http://schemas.openxmlformats.org/drawingml/2006/main" w="17145">
            <a:solidFill>
              <a:srgbClr val="6C55A3"/>
            </a:solidFill>
            <a:prstDash val="solid"/>
            <a:tailEnd type="arrow" w="med" len="med"/>
          </a:ln>
        </p:spPr>
      </p:cxnSp>
      <p:sp>
        <p:nvSpPr>
          <p:cNvPr id="24" name="">
            <a:extLst xmlns:a="http://schemas.openxmlformats.org/drawingml/2006/main">
              <a:ext uri="{FF2B5EF4-FFF2-40B4-BE49-F238E27FC236}">
                <a16:creationId xmlns:a16="http://schemas.microsoft.com/office/drawing/2014/main" id="{E9946F5B-F18A-4948-A567-F04C850B3E08}"/>
              </a:ext>
            </a:extLst>
          </p:cNvPr>
          <p:cNvSpPr>
            <a:spLocks xmlns:a="http://schemas.openxmlformats.org/drawingml/2006/main" noGrp="1"/>
          </p:cNvSpPr>
          <p:nvPr/>
        </p:nvSpPr>
        <p:spPr>
          <a:xfrm xmlns:a="http://schemas.openxmlformats.org/drawingml/2006/main">
            <a:off x="3028950" y="36766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125" b="0">
                <a:solidFill>
                  <a:srgbClr val="2F6F98"/>
                </a:solidFill>
                <a:latin typeface="Aptos"/>
                <a:ea typeface="Aptos"/>
                <a:cs typeface="Aptos"/>
              </a:defRPr>
            </a:pPr>
            <a:r>
              <a:rPr sz="1125" b="0">
                <a:solidFill>
                  <a:srgbClr val="2F6F98"/>
                </a:solidFill>
                <a:latin typeface="Aptos"/>
                <a:ea typeface="Aptos"/>
                <a:cs typeface="Aptos"/>
              </a:rPr>
              <a:t>VSS / VISS over simulated in-vehicle network</a:t>
            </a:r>
          </a:p>
        </p:txBody>
      </p:sp>
      <p:sp>
        <p:nvSpPr>
          <p:cNvPr id="25" name="">
            <a:extLst xmlns:a="http://schemas.openxmlformats.org/drawingml/2006/main">
              <a:ext uri="{FF2B5EF4-FFF2-40B4-BE49-F238E27FC236}">
                <a16:creationId xmlns:a16="http://schemas.microsoft.com/office/drawing/2014/main" id="{7333F1D5-094D-456F-B4A1-E725CB549DB6}"/>
              </a:ext>
            </a:extLst>
          </p:cNvPr>
          <p:cNvSpPr>
            <a:spLocks xmlns:a="http://schemas.openxmlformats.org/drawingml/2006/main" noGrp="1"/>
          </p:cNvSpPr>
          <p:nvPr/>
        </p:nvSpPr>
        <p:spPr>
          <a:xfrm xmlns:a="http://schemas.openxmlformats.org/drawingml/2006/main">
            <a:off x="609600" y="1428750"/>
            <a:ext cx="398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a:solidFill>
                  <a:srgbClr val="2F6F98"/>
                </a:solidFill>
                <a:latin typeface="Aptos"/>
                <a:ea typeface="Aptos"/>
                <a:cs typeface="Aptos"/>
              </a:defRPr>
            </a:pPr>
            <a:r>
              <a:rPr sz="1275" b="1">
                <a:solidFill>
                  <a:srgbClr val="2F6F98"/>
                </a:solidFill>
                <a:latin typeface="Aptos"/>
                <a:ea typeface="Aptos"/>
                <a:cs typeface="Aptos"/>
              </a:rPr>
              <a:t>Vehicle</a:t>
            </a:r>
          </a:p>
        </p:txBody>
      </p:sp>
      <p:sp>
        <p:nvSpPr>
          <p:cNvPr id="26" name="">
            <a:extLst xmlns:a="http://schemas.openxmlformats.org/drawingml/2006/main">
              <a:ext uri="{FF2B5EF4-FFF2-40B4-BE49-F238E27FC236}">
                <a16:creationId xmlns:a16="http://schemas.microsoft.com/office/drawing/2014/main" id="{80D3CE33-2DB6-413B-A60B-105E641B1609}"/>
              </a:ext>
            </a:extLst>
          </p:cNvPr>
          <p:cNvSpPr>
            <a:spLocks xmlns:a="http://schemas.openxmlformats.org/drawingml/2006/main" noGrp="1"/>
          </p:cNvSpPr>
          <p:nvPr/>
        </p:nvSpPr>
        <p:spPr>
          <a:xfrm xmlns:a="http://schemas.openxmlformats.org/drawingml/2006/main">
            <a:off x="5257800" y="13525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a:solidFill>
                  <a:srgbClr val="14806F"/>
                </a:solidFill>
                <a:latin typeface="Aptos"/>
                <a:ea typeface="Aptos"/>
                <a:cs typeface="Aptos"/>
              </a:defRPr>
            </a:pPr>
            <a:r>
              <a:rPr sz="1275" b="1">
                <a:solidFill>
                  <a:srgbClr val="14806F"/>
                </a:solidFill>
                <a:latin typeface="Aptos"/>
                <a:ea typeface="Aptos"/>
                <a:cs typeface="Aptos"/>
              </a:rPr>
              <a:t>Separate vehicle ECU</a:t>
            </a:r>
          </a:p>
        </p:txBody>
      </p:sp>
      <p:sp>
        <p:nvSpPr>
          <p:cNvPr id="27" name="">
            <a:extLst xmlns:a="http://schemas.openxmlformats.org/drawingml/2006/main">
              <a:ext uri="{FF2B5EF4-FFF2-40B4-BE49-F238E27FC236}">
                <a16:creationId xmlns:a16="http://schemas.microsoft.com/office/drawing/2014/main" id="{F7CA131B-D4D9-4A17-B33F-D06FC98A5970}"/>
              </a:ext>
            </a:extLst>
          </p:cNvPr>
          <p:cNvSpPr>
            <a:spLocks xmlns:a="http://schemas.openxmlformats.org/drawingml/2006/main" noGrp="1"/>
          </p:cNvSpPr>
          <p:nvPr/>
        </p:nvSpPr>
        <p:spPr>
          <a:xfrm xmlns:a="http://schemas.openxmlformats.org/drawingml/2006/main">
            <a:off x="9124950" y="1428750"/>
            <a:ext cx="1562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a:solidFill>
                  <a:srgbClr val="C76724"/>
                </a:solidFill>
                <a:latin typeface="Aptos"/>
                <a:ea typeface="Aptos"/>
                <a:cs typeface="Aptos"/>
              </a:defRPr>
            </a:pPr>
            <a:r>
              <a:rPr sz="1275" b="1">
                <a:solidFill>
                  <a:srgbClr val="C76724"/>
                </a:solidFill>
                <a:latin typeface="Aptos"/>
                <a:ea typeface="Aptos"/>
                <a:cs typeface="Aptos"/>
              </a:rPr>
              <a:t>OEM systems</a:t>
            </a:r>
          </a:p>
        </p:txBody>
      </p:sp>
      <p:sp>
        <p:nvSpPr>
          <p:cNvPr id="28" name="">
            <a:extLst xmlns:a="http://schemas.openxmlformats.org/drawingml/2006/main">
              <a:ext uri="{FF2B5EF4-FFF2-40B4-BE49-F238E27FC236}">
                <a16:creationId xmlns:a16="http://schemas.microsoft.com/office/drawing/2014/main" id="{B0EAD243-E37D-4DE1-94DD-21664B4651D5}"/>
              </a:ext>
            </a:extLst>
          </p:cNvPr>
          <p:cNvSpPr>
            <a:spLocks xmlns:a="http://schemas.openxmlformats.org/drawingml/2006/main" noGrp="1"/>
          </p:cNvSpPr>
          <p:nvPr/>
        </p:nvSpPr>
        <p:spPr>
          <a:xfrm xmlns:a="http://schemas.openxmlformats.org/drawingml/2006/main">
            <a:off x="609600" y="65341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825" b="1">
                <a:solidFill>
                  <a:srgbClr val="5E6A76"/>
                </a:solidFill>
                <a:latin typeface="Aptos"/>
                <a:ea typeface="Aptos"/>
                <a:cs typeface="Aptos"/>
              </a:defRPr>
            </a:pPr>
            <a:r>
              <a:rPr sz="825" b="1">
                <a:solidFill>
                  <a:srgbClr val="5E6A76"/>
                </a:solidFill>
                <a:latin typeface="Aptos"/>
                <a:ea typeface="Aptos"/>
                <a:cs typeface="Aptos"/>
              </a:rPr>
              <a:t>DISCUSSION DRAFT 0.1</a:t>
            </a:r>
          </a:p>
        </p:txBody>
      </p:sp>
      <p:sp>
        <p:nvSpPr>
          <p:cNvPr id="29" name="">
            <a:extLst xmlns:a="http://schemas.openxmlformats.org/drawingml/2006/main">
              <a:ext uri="{FF2B5EF4-FFF2-40B4-BE49-F238E27FC236}">
                <a16:creationId xmlns:a16="http://schemas.microsoft.com/office/drawing/2014/main" id="{E4B73542-9452-4A76-8865-25C075539F2A}"/>
              </a:ext>
            </a:extLst>
          </p:cNvPr>
          <p:cNvSpPr>
            <a:spLocks xmlns:a="http://schemas.openxmlformats.org/drawingml/2006/main" noGrp="1"/>
          </p:cNvSpPr>
          <p:nvPr/>
        </p:nvSpPr>
        <p:spPr>
          <a:xfrm xmlns:a="http://schemas.openxmlformats.org/drawingml/2006/main">
            <a:off x="112014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00" b="0">
                <a:solidFill>
                  <a:srgbClr val="5E6A76"/>
                </a:solidFill>
                <a:latin typeface="Aptos"/>
                <a:ea typeface="Aptos"/>
                <a:cs typeface="Aptos"/>
              </a:defRPr>
            </a:pPr>
            <a:r>
              <a:rPr sz="900" b="0">
                <a:solidFill>
                  <a:srgbClr val="5E6A76"/>
                </a:solidFill>
                <a:latin typeface="Aptos"/>
                <a:ea typeface="Aptos"/>
                <a:cs typeface="Aptos"/>
              </a:rPr>
              <a:t>3</a:t>
            </a:r>
          </a:p>
        </p:txBody>
      </p:sp>
    </p:spTree>
    <p:extLst>
      <p:ext uri="{BB962C8B-B14F-4D97-AF65-F5344CB8AC3E}">
        <p14:creationId xmlns:p14="http://schemas.microsoft.com/office/powerpoint/2010/main" val="189103357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ection-4">
            <a:extLst xmlns:a="http://schemas.openxmlformats.org/drawingml/2006/main">
              <a:ext uri="{FF2B5EF4-FFF2-40B4-BE49-F238E27FC236}">
                <a16:creationId xmlns:a16="http://schemas.microsoft.com/office/drawing/2014/main" id="{5C767F0E-9012-4B12-B23B-61E9737B6451}"/>
              </a:ext>
            </a:extLst>
          </p:cNvPr>
          <p:cNvSpPr>
            <a:spLocks xmlns:a="http://schemas.openxmlformats.org/drawingml/2006/main" noGrp="1"/>
          </p:cNvSpPr>
          <p:nvPr/>
        </p:nvSpPr>
        <p:spPr>
          <a:xfrm xmlns:a="http://schemas.openxmlformats.org/drawingml/2006/main">
            <a:off x="609600" y="3238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a:solidFill>
                  <a:srgbClr val="2F6F98"/>
                </a:solidFill>
                <a:latin typeface="Aptos"/>
                <a:ea typeface="Aptos"/>
                <a:cs typeface="Aptos"/>
              </a:defRPr>
            </a:pPr>
            <a:r>
              <a:rPr sz="975" b="1">
                <a:solidFill>
                  <a:srgbClr val="2F6F98"/>
                </a:solidFill>
                <a:latin typeface="Aptos"/>
                <a:ea typeface="Aptos"/>
                <a:cs typeface="Aptos"/>
              </a:rPr>
              <a:t>OEM RELEASE MODEL</a:t>
            </a:r>
          </a:p>
        </p:txBody>
      </p:sp>
      <p:sp>
        <p:nvSpPr>
          <p:cNvPr id="2" name="title-4">
            <a:extLst xmlns:a="http://schemas.openxmlformats.org/drawingml/2006/main">
              <a:ext uri="{FF2B5EF4-FFF2-40B4-BE49-F238E27FC236}">
                <a16:creationId xmlns:a16="http://schemas.microsoft.com/office/drawing/2014/main" id="{7148031D-1BEA-446A-B1BB-2053255F9982}"/>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850" b="1">
                <a:solidFill>
                  <a:srgbClr val="17212B"/>
                </a:solidFill>
                <a:latin typeface="Aptos"/>
                <a:ea typeface="Aptos"/>
                <a:cs typeface="Aptos"/>
              </a:defRPr>
            </a:pPr>
            <a:r>
              <a:rPr sz="2850" b="1">
                <a:solidFill>
                  <a:srgbClr val="17212B"/>
                </a:solidFill>
                <a:latin typeface="Aptos"/>
                <a:ea typeface="Aptos"/>
                <a:cs typeface="Aptos"/>
              </a:rPr>
              <a:t>FOTA and SOTA remain independent—but meet at validation</a:t>
            </a:r>
          </a:p>
        </p:txBody>
      </p:sp>
      <p:sp>
        <p:nvSpPr>
          <p:cNvPr id="3" name="">
            <a:extLst xmlns:a="http://schemas.openxmlformats.org/drawingml/2006/main">
              <a:ext uri="{FF2B5EF4-FFF2-40B4-BE49-F238E27FC236}">
                <a16:creationId xmlns:a16="http://schemas.microsoft.com/office/drawing/2014/main" id="{25BB312E-AE64-4E21-BC95-E863AB827E75}"/>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B9C3CC"/>
            </a:solidFill>
            <a:prstDash val="solid"/>
          </a:ln>
        </p:spPr>
      </p:sp>
      <p:sp>
        <p:nvSpPr>
          <p:cNvPr id="4" name="">
            <a:extLst xmlns:a="http://schemas.openxmlformats.org/drawingml/2006/main">
              <a:ext uri="{FF2B5EF4-FFF2-40B4-BE49-F238E27FC236}">
                <a16:creationId xmlns:a16="http://schemas.microsoft.com/office/drawing/2014/main" id="{EFC2ADA2-BCA8-43C7-9D15-E774405EDFBF}"/>
              </a:ext>
            </a:extLst>
          </p:cNvPr>
          <p:cNvSpPr>
            <a:spLocks xmlns:a="http://schemas.openxmlformats.org/drawingml/2006/main" noGrp="1"/>
          </p:cNvSpPr>
          <p:nvPr/>
        </p:nvSpPr>
        <p:spPr>
          <a:xfrm xmlns:a="http://schemas.openxmlformats.org/drawingml/2006/main">
            <a:off x="609600" y="1428750"/>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425" b="1">
                <a:solidFill>
                  <a:srgbClr val="14806F"/>
                </a:solidFill>
                <a:latin typeface="Aptos"/>
                <a:ea typeface="Aptos"/>
                <a:cs typeface="Aptos"/>
              </a:defRPr>
            </a:pPr>
            <a:r>
              <a:rPr sz="1425" b="1">
                <a:solidFill>
                  <a:srgbClr val="14806F"/>
                </a:solidFill>
                <a:latin typeface="Aptos"/>
                <a:ea typeface="Aptos"/>
                <a:cs typeface="Aptos"/>
              </a:rPr>
              <a:t>Vehicle Platform Team</a:t>
            </a:r>
          </a:p>
          <a:p xmlns:a="http://schemas.openxmlformats.org/drawingml/2006/main">
            <a:pPr algn="l">
              <a:lnSpc>
                <a:spcPct val="102000"/>
              </a:lnSpc>
              <a:buNone/>
              <a:defRPr sz="1425" b="1">
                <a:solidFill>
                  <a:srgbClr val="14806F"/>
                </a:solidFill>
                <a:latin typeface="Aptos"/>
                <a:ea typeface="Aptos"/>
                <a:cs typeface="Aptos"/>
              </a:defRPr>
            </a:pPr>
            <a:r>
              <a:rPr sz="1425" b="1">
                <a:solidFill>
                  <a:srgbClr val="14806F"/>
                </a:solidFill>
                <a:latin typeface="Aptos"/>
                <a:ea typeface="Aptos"/>
                <a:cs typeface="Aptos"/>
              </a:rPr>
              <a:t>FOTA lifecycle</a:t>
            </a:r>
          </a:p>
        </p:txBody>
      </p:sp>
      <p:sp>
        <p:nvSpPr>
          <p:cNvPr id="5" name="">
            <a:extLst xmlns:a="http://schemas.openxmlformats.org/drawingml/2006/main">
              <a:ext uri="{FF2B5EF4-FFF2-40B4-BE49-F238E27FC236}">
                <a16:creationId xmlns:a16="http://schemas.microsoft.com/office/drawing/2014/main" id="{6DA57B36-DA41-4946-9B46-36575D328253}"/>
              </a:ext>
            </a:extLst>
          </p:cNvPr>
          <p:cNvSpPr>
            <a:spLocks xmlns:a="http://schemas.openxmlformats.org/drawingml/2006/main" noGrp="1"/>
          </p:cNvSpPr>
          <p:nvPr/>
        </p:nvSpPr>
        <p:spPr>
          <a:xfrm xmlns:a="http://schemas.openxmlformats.org/drawingml/2006/main">
            <a:off x="609600" y="33337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425" b="1">
                <a:solidFill>
                  <a:srgbClr val="C76724"/>
                </a:solidFill>
                <a:latin typeface="Aptos"/>
                <a:ea typeface="Aptos"/>
                <a:cs typeface="Aptos"/>
              </a:defRPr>
            </a:pPr>
            <a:r>
              <a:rPr sz="1425" b="1">
                <a:solidFill>
                  <a:srgbClr val="C76724"/>
                </a:solidFill>
                <a:latin typeface="Aptos"/>
                <a:ea typeface="Aptos"/>
                <a:cs typeface="Aptos"/>
              </a:rPr>
              <a:t>Brake Health Function Team</a:t>
            </a:r>
          </a:p>
          <a:p xmlns:a="http://schemas.openxmlformats.org/drawingml/2006/main">
            <a:pPr algn="l">
              <a:lnSpc>
                <a:spcPct val="102000"/>
              </a:lnSpc>
              <a:buNone/>
              <a:defRPr sz="1425" b="1">
                <a:solidFill>
                  <a:srgbClr val="C76724"/>
                </a:solidFill>
                <a:latin typeface="Aptos"/>
                <a:ea typeface="Aptos"/>
                <a:cs typeface="Aptos"/>
              </a:defRPr>
            </a:pPr>
            <a:r>
              <a:rPr sz="1425" b="1">
                <a:solidFill>
                  <a:srgbClr val="C76724"/>
                </a:solidFill>
                <a:latin typeface="Aptos"/>
                <a:ea typeface="Aptos"/>
                <a:cs typeface="Aptos"/>
              </a:rPr>
              <a:t>SOTA lifecycle</a:t>
            </a:r>
          </a:p>
        </p:txBody>
      </p:sp>
      <p:sp>
        <p:nvSpPr>
          <p:cNvPr id="6" name="">
            <a:extLst xmlns:a="http://schemas.openxmlformats.org/drawingml/2006/main">
              <a:ext uri="{FF2B5EF4-FFF2-40B4-BE49-F238E27FC236}">
                <a16:creationId xmlns:a16="http://schemas.microsoft.com/office/drawing/2014/main" id="{19FFF13B-EA69-4FC2-9051-326F7B8E798F}"/>
              </a:ext>
            </a:extLst>
          </p:cNvPr>
          <p:cNvSpPr>
            <a:spLocks xmlns:a="http://schemas.openxmlformats.org/drawingml/2006/main" noGrp="1"/>
          </p:cNvSpPr>
          <p:nvPr/>
        </p:nvSpPr>
        <p:spPr>
          <a:xfrm xmlns:a="http://schemas.openxmlformats.org/drawingml/2006/main">
            <a:off x="3190875" y="1390650"/>
            <a:ext cx="1314450" cy="704850"/>
          </a:xfrm>
          <a:prstGeom xmlns:a="http://schemas.openxmlformats.org/drawingml/2006/main" prst="roundRect">
            <a:avLst>
              <a:gd name="adj" fmla="val 13514"/>
            </a:avLst>
          </a:prstGeom>
          <a:solidFill xmlns:a="http://schemas.openxmlformats.org/drawingml/2006/main">
            <a:srgbClr val="E5F4F0"/>
          </a:solidFill>
          <a:ln xmlns:a="http://schemas.openxmlformats.org/drawingml/2006/main" w="13335">
            <a:solidFill>
              <a:srgbClr val="14806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275" b="1">
                <a:solidFill>
                  <a:srgbClr val="17212B"/>
                </a:solidFill>
                <a:latin typeface="Aptos"/>
                <a:ea typeface="Aptos"/>
                <a:cs typeface="Aptos"/>
              </a:defRPr>
            </a:pPr>
            <a:r>
              <a:rPr sz="1275" b="1">
                <a:solidFill>
                  <a:srgbClr val="17212B"/>
                </a:solidFill>
                <a:latin typeface="Aptos"/>
                <a:ea typeface="Aptos"/>
                <a:cs typeface="Aptos"/>
              </a:rPr>
              <a:t>Capability</a:t>
            </a:r>
          </a:p>
          <a:p xmlns:a="http://schemas.openxmlformats.org/drawingml/2006/main">
            <a:pPr algn="ctr">
              <a:lnSpc>
                <a:spcPct val="104000"/>
              </a:lnSpc>
              <a:buNone/>
              <a:defRPr sz="1275" b="1">
                <a:solidFill>
                  <a:srgbClr val="17212B"/>
                </a:solidFill>
                <a:latin typeface="Aptos"/>
                <a:ea typeface="Aptos"/>
                <a:cs typeface="Aptos"/>
              </a:defRPr>
            </a:pPr>
            <a:r>
              <a:rPr sz="1275" b="1">
                <a:solidFill>
                  <a:srgbClr val="17212B"/>
                </a:solidFill>
                <a:latin typeface="Aptos"/>
                <a:ea typeface="Aptos"/>
                <a:cs typeface="Aptos"/>
              </a:rPr>
              <a:t>request</a:t>
            </a:r>
          </a:p>
        </p:txBody>
      </p:sp>
      <p:sp>
        <p:nvSpPr>
          <p:cNvPr id="7" name="">
            <a:extLst xmlns:a="http://schemas.openxmlformats.org/drawingml/2006/main">
              <a:ext uri="{FF2B5EF4-FFF2-40B4-BE49-F238E27FC236}">
                <a16:creationId xmlns:a16="http://schemas.microsoft.com/office/drawing/2014/main" id="{831EDA5D-CB8A-42E8-AB19-A846B650E28A}"/>
              </a:ext>
            </a:extLst>
          </p:cNvPr>
          <p:cNvSpPr>
            <a:spLocks xmlns:a="http://schemas.openxmlformats.org/drawingml/2006/main" noGrp="1"/>
          </p:cNvSpPr>
          <p:nvPr/>
        </p:nvSpPr>
        <p:spPr>
          <a:xfrm xmlns:a="http://schemas.openxmlformats.org/drawingml/2006/main">
            <a:off x="4857750" y="1390650"/>
            <a:ext cx="1485900" cy="704850"/>
          </a:xfrm>
          <a:prstGeom xmlns:a="http://schemas.openxmlformats.org/drawingml/2006/main" prst="roundRect">
            <a:avLst>
              <a:gd name="adj" fmla="val 13514"/>
            </a:avLst>
          </a:prstGeom>
          <a:solidFill xmlns:a="http://schemas.openxmlformats.org/drawingml/2006/main">
            <a:srgbClr val="E5F4F0"/>
          </a:solidFill>
          <a:ln xmlns:a="http://schemas.openxmlformats.org/drawingml/2006/main" w="13335">
            <a:solidFill>
              <a:srgbClr val="14806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275" b="1">
                <a:solidFill>
                  <a:srgbClr val="17212B"/>
                </a:solidFill>
                <a:latin typeface="Aptos"/>
                <a:ea typeface="Aptos"/>
                <a:cs typeface="Aptos"/>
              </a:defRPr>
            </a:pPr>
            <a:r>
              <a:rPr sz="1275" b="1">
                <a:solidFill>
                  <a:srgbClr val="17212B"/>
                </a:solidFill>
                <a:latin typeface="Aptos"/>
                <a:ea typeface="Aptos"/>
                <a:cs typeface="Aptos"/>
              </a:rPr>
              <a:t>Build + stage</a:t>
            </a:r>
          </a:p>
          <a:p xmlns:a="http://schemas.openxmlformats.org/drawingml/2006/main">
            <a:pPr algn="ctr">
              <a:lnSpc>
                <a:spcPct val="104000"/>
              </a:lnSpc>
              <a:buNone/>
              <a:defRPr sz="1275" b="1">
                <a:solidFill>
                  <a:srgbClr val="17212B"/>
                </a:solidFill>
                <a:latin typeface="Aptos"/>
                <a:ea typeface="Aptos"/>
                <a:cs typeface="Aptos"/>
              </a:defRPr>
            </a:pPr>
            <a:r>
              <a:rPr sz="1275" b="1">
                <a:solidFill>
                  <a:srgbClr val="17212B"/>
                </a:solidFill>
                <a:latin typeface="Aptos"/>
                <a:ea typeface="Aptos"/>
                <a:cs typeface="Aptos"/>
              </a:rPr>
              <a:t>Provider Pn</a:t>
            </a:r>
          </a:p>
        </p:txBody>
      </p:sp>
      <p:sp>
        <p:nvSpPr>
          <p:cNvPr id="8" name="">
            <a:extLst xmlns:a="http://schemas.openxmlformats.org/drawingml/2006/main">
              <a:ext uri="{FF2B5EF4-FFF2-40B4-BE49-F238E27FC236}">
                <a16:creationId xmlns:a16="http://schemas.microsoft.com/office/drawing/2014/main" id="{886D3B54-BDC1-49F8-BC45-7002AD01522D}"/>
              </a:ext>
            </a:extLst>
          </p:cNvPr>
          <p:cNvSpPr>
            <a:spLocks xmlns:a="http://schemas.openxmlformats.org/drawingml/2006/main" noGrp="1"/>
          </p:cNvSpPr>
          <p:nvPr/>
        </p:nvSpPr>
        <p:spPr>
          <a:xfrm xmlns:a="http://schemas.openxmlformats.org/drawingml/2006/main">
            <a:off x="6715125" y="1390650"/>
            <a:ext cx="1485900" cy="704850"/>
          </a:xfrm>
          <a:prstGeom xmlns:a="http://schemas.openxmlformats.org/drawingml/2006/main" prst="roundRect">
            <a:avLst>
              <a:gd name="adj" fmla="val 13514"/>
            </a:avLst>
          </a:prstGeom>
          <a:solidFill xmlns:a="http://schemas.openxmlformats.org/drawingml/2006/main">
            <a:srgbClr val="E5F4F0"/>
          </a:solidFill>
          <a:ln xmlns:a="http://schemas.openxmlformats.org/drawingml/2006/main" w="13335">
            <a:solidFill>
              <a:srgbClr val="14806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275" b="1">
                <a:solidFill>
                  <a:srgbClr val="17212B"/>
                </a:solidFill>
                <a:latin typeface="Aptos"/>
                <a:ea typeface="Aptos"/>
                <a:cs typeface="Aptos"/>
              </a:defRPr>
            </a:pPr>
            <a:r>
              <a:rPr sz="1275" b="1">
                <a:solidFill>
                  <a:srgbClr val="17212B"/>
                </a:solidFill>
                <a:latin typeface="Aptos"/>
                <a:ea typeface="Aptos"/>
                <a:cs typeface="Aptos"/>
              </a:rPr>
              <a:t>Platform</a:t>
            </a:r>
          </a:p>
          <a:p xmlns:a="http://schemas.openxmlformats.org/drawingml/2006/main">
            <a:pPr algn="ctr">
              <a:lnSpc>
                <a:spcPct val="104000"/>
              </a:lnSpc>
              <a:buNone/>
              <a:defRPr sz="1275" b="1">
                <a:solidFill>
                  <a:srgbClr val="17212B"/>
                </a:solidFill>
                <a:latin typeface="Aptos"/>
                <a:ea typeface="Aptos"/>
                <a:cs typeface="Aptos"/>
              </a:defRPr>
            </a:pPr>
            <a:r>
              <a:rPr sz="1275" b="1">
                <a:solidFill>
                  <a:srgbClr val="17212B"/>
                </a:solidFill>
                <a:latin typeface="Aptos"/>
                <a:ea typeface="Aptos"/>
                <a:cs typeface="Aptos"/>
              </a:rPr>
              <a:t>qualification</a:t>
            </a:r>
          </a:p>
        </p:txBody>
      </p:sp>
      <p:sp>
        <p:nvSpPr>
          <p:cNvPr id="9" name="">
            <a:extLst xmlns:a="http://schemas.openxmlformats.org/drawingml/2006/main">
              <a:ext uri="{FF2B5EF4-FFF2-40B4-BE49-F238E27FC236}">
                <a16:creationId xmlns:a16="http://schemas.microsoft.com/office/drawing/2014/main" id="{99A113CA-5D3A-49C7-918D-D6E3F9454A2F}"/>
              </a:ext>
            </a:extLst>
          </p:cNvPr>
          <p:cNvSpPr>
            <a:spLocks xmlns:a="http://schemas.openxmlformats.org/drawingml/2006/main" noGrp="1"/>
          </p:cNvSpPr>
          <p:nvPr/>
        </p:nvSpPr>
        <p:spPr>
          <a:xfrm xmlns:a="http://schemas.openxmlformats.org/drawingml/2006/main">
            <a:off x="4857750" y="3295650"/>
            <a:ext cx="1485900" cy="704850"/>
          </a:xfrm>
          <a:prstGeom xmlns:a="http://schemas.openxmlformats.org/drawingml/2006/main" prst="roundRect">
            <a:avLst>
              <a:gd name="adj" fmla="val 13514"/>
            </a:avLst>
          </a:prstGeom>
          <a:solidFill xmlns:a="http://schemas.openxmlformats.org/drawingml/2006/main">
            <a:srgbClr val="FFF0E5"/>
          </a:solidFill>
          <a:ln xmlns:a="http://schemas.openxmlformats.org/drawingml/2006/main" w="13335">
            <a:solidFill>
              <a:srgbClr val="C7672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275" b="1">
                <a:solidFill>
                  <a:srgbClr val="17212B"/>
                </a:solidFill>
                <a:latin typeface="Aptos"/>
                <a:ea typeface="Aptos"/>
                <a:cs typeface="Aptos"/>
              </a:defRPr>
            </a:pPr>
            <a:r>
              <a:rPr sz="1275" b="1">
                <a:solidFill>
                  <a:srgbClr val="17212B"/>
                </a:solidFill>
                <a:latin typeface="Aptos"/>
                <a:ea typeface="Aptos"/>
                <a:cs typeface="Aptos"/>
              </a:rPr>
              <a:t>Build + stage</a:t>
            </a:r>
          </a:p>
          <a:p xmlns:a="http://schemas.openxmlformats.org/drawingml/2006/main">
            <a:pPr algn="ctr">
              <a:lnSpc>
                <a:spcPct val="104000"/>
              </a:lnSpc>
              <a:buNone/>
              <a:defRPr sz="1275" b="1">
                <a:solidFill>
                  <a:srgbClr val="17212B"/>
                </a:solidFill>
                <a:latin typeface="Aptos"/>
                <a:ea typeface="Aptos"/>
                <a:cs typeface="Aptos"/>
              </a:defRPr>
            </a:pPr>
            <a:r>
              <a:rPr sz="1275" b="1">
                <a:solidFill>
                  <a:srgbClr val="17212B"/>
                </a:solidFill>
                <a:latin typeface="Aptos"/>
                <a:ea typeface="Aptos"/>
                <a:cs typeface="Aptos"/>
              </a:rPr>
              <a:t>Service Sn</a:t>
            </a:r>
          </a:p>
        </p:txBody>
      </p:sp>
      <p:sp>
        <p:nvSpPr>
          <p:cNvPr id="10" name="">
            <a:extLst xmlns:a="http://schemas.openxmlformats.org/drawingml/2006/main">
              <a:ext uri="{FF2B5EF4-FFF2-40B4-BE49-F238E27FC236}">
                <a16:creationId xmlns:a16="http://schemas.microsoft.com/office/drawing/2014/main" id="{804182E4-B08E-46CA-A8E3-C65D65B7F0C4}"/>
              </a:ext>
            </a:extLst>
          </p:cNvPr>
          <p:cNvSpPr>
            <a:spLocks xmlns:a="http://schemas.openxmlformats.org/drawingml/2006/main" noGrp="1"/>
          </p:cNvSpPr>
          <p:nvPr/>
        </p:nvSpPr>
        <p:spPr>
          <a:xfrm xmlns:a="http://schemas.openxmlformats.org/drawingml/2006/main">
            <a:off x="6715125" y="3295650"/>
            <a:ext cx="1485900" cy="704850"/>
          </a:xfrm>
          <a:prstGeom xmlns:a="http://schemas.openxmlformats.org/drawingml/2006/main" prst="roundRect">
            <a:avLst>
              <a:gd name="adj" fmla="val 13514"/>
            </a:avLst>
          </a:prstGeom>
          <a:solidFill xmlns:a="http://schemas.openxmlformats.org/drawingml/2006/main">
            <a:srgbClr val="FFF0E5"/>
          </a:solidFill>
          <a:ln xmlns:a="http://schemas.openxmlformats.org/drawingml/2006/main" w="13335">
            <a:solidFill>
              <a:srgbClr val="C76724"/>
            </a:solidFill>
            <a:prstDash val="solid"/>
          </a:ln>
        </p:spPr>
        <p:txBody>
          <a:bodyPr xmlns:a="http://schemas.openxmlformats.org/drawingml/2006/main" lIns="95250" tIns="76200" rIns="95250" bIns="76200" anchor="ctr">
            <a:normAutofit fontScale="97091"/>
          </a:bodyPr>
          <a:lstStyle xmlns:a="http://schemas.openxmlformats.org/drawingml/2006/main"/>
          <a:p xmlns:a="http://schemas.openxmlformats.org/drawingml/2006/main">
            <a:pPr algn="ctr">
              <a:lnSpc>
                <a:spcPct val="104000"/>
              </a:lnSpc>
              <a:buNone/>
              <a:defRPr sz="1275" b="1">
                <a:solidFill>
                  <a:srgbClr val="17212B"/>
                </a:solidFill>
                <a:latin typeface="Aptos"/>
                <a:ea typeface="Aptos"/>
                <a:cs typeface="Aptos"/>
              </a:defRPr>
            </a:pPr>
            <a:r>
              <a:rPr sz="1275" b="1">
                <a:solidFill>
                  <a:srgbClr val="17212B"/>
                </a:solidFill>
                <a:latin typeface="Aptos"/>
                <a:ea typeface="Aptos"/>
                <a:cs typeface="Aptos"/>
              </a:rPr>
              <a:t>Integration +</a:t>
            </a:r>
          </a:p>
          <a:p xmlns:a="http://schemas.openxmlformats.org/drawingml/2006/main">
            <a:pPr algn="ctr">
              <a:lnSpc>
                <a:spcPct val="104000"/>
              </a:lnSpc>
              <a:buNone/>
              <a:defRPr sz="1275" b="1">
                <a:solidFill>
                  <a:srgbClr val="17212B"/>
                </a:solidFill>
                <a:latin typeface="Aptos"/>
                <a:ea typeface="Aptos"/>
                <a:cs typeface="Aptos"/>
              </a:defRPr>
            </a:pPr>
            <a:r>
              <a:rPr sz="1275" b="1">
                <a:solidFill>
                  <a:srgbClr val="17212B"/>
                </a:solidFill>
                <a:latin typeface="Aptos"/>
                <a:ea typeface="Aptos"/>
                <a:cs typeface="Aptos"/>
              </a:rPr>
              <a:t>model validation</a:t>
            </a:r>
          </a:p>
        </p:txBody>
      </p:sp>
      <p:sp>
        <p:nvSpPr>
          <p:cNvPr id="11" name="">
            <a:extLst xmlns:a="http://schemas.openxmlformats.org/drawingml/2006/main">
              <a:ext uri="{FF2B5EF4-FFF2-40B4-BE49-F238E27FC236}">
                <a16:creationId xmlns:a16="http://schemas.microsoft.com/office/drawing/2014/main" id="{BA9DA0A0-2A6D-470C-8736-525D4A942989}"/>
              </a:ext>
            </a:extLst>
          </p:cNvPr>
          <p:cNvSpPr>
            <a:spLocks xmlns:a="http://schemas.openxmlformats.org/drawingml/2006/main" noGrp="1"/>
          </p:cNvSpPr>
          <p:nvPr/>
        </p:nvSpPr>
        <p:spPr>
          <a:xfrm xmlns:a="http://schemas.openxmlformats.org/drawingml/2006/main">
            <a:off x="8667750" y="2190750"/>
            <a:ext cx="1600200" cy="1047750"/>
          </a:xfrm>
          <a:prstGeom xmlns:a="http://schemas.openxmlformats.org/drawingml/2006/main" prst="roundRect">
            <a:avLst>
              <a:gd name="adj" fmla="val 9091"/>
            </a:avLst>
          </a:prstGeom>
          <a:solidFill xmlns:a="http://schemas.openxmlformats.org/drawingml/2006/main">
            <a:srgbClr val="F0ECF8"/>
          </a:solidFill>
          <a:ln xmlns:a="http://schemas.openxmlformats.org/drawingml/2006/main" w="17145">
            <a:solidFill>
              <a:srgbClr val="6C55A3"/>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Validation Unit</a:t>
            </a:r>
          </a:p>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exact Pn + Sn graph</a:t>
            </a:r>
          </a:p>
        </p:txBody>
      </p:sp>
      <p:sp>
        <p:nvSpPr>
          <p:cNvPr id="12" name="">
            <a:extLst xmlns:a="http://schemas.openxmlformats.org/drawingml/2006/main">
              <a:ext uri="{FF2B5EF4-FFF2-40B4-BE49-F238E27FC236}">
                <a16:creationId xmlns:a16="http://schemas.microsoft.com/office/drawing/2014/main" id="{2BE8B78B-BE5E-4EC7-9ACC-EC7B97717172}"/>
              </a:ext>
            </a:extLst>
          </p:cNvPr>
          <p:cNvSpPr>
            <a:spLocks xmlns:a="http://schemas.openxmlformats.org/drawingml/2006/main" noGrp="1"/>
          </p:cNvSpPr>
          <p:nvPr/>
        </p:nvSpPr>
        <p:spPr>
          <a:xfrm xmlns:a="http://schemas.openxmlformats.org/drawingml/2006/main">
            <a:off x="10534650" y="2190750"/>
            <a:ext cx="1238250" cy="1047750"/>
          </a:xfrm>
          <a:prstGeom xmlns:a="http://schemas.openxmlformats.org/drawingml/2006/main" prst="roundRect">
            <a:avLst>
              <a:gd name="adj" fmla="val 9091"/>
            </a:avLst>
          </a:prstGeom>
          <a:solidFill xmlns:a="http://schemas.openxmlformats.org/drawingml/2006/main">
            <a:srgbClr val="FFF4D6"/>
          </a:solidFill>
          <a:ln xmlns:a="http://schemas.openxmlformats.org/drawingml/2006/main" w="14288">
            <a:solidFill>
              <a:srgbClr val="9A6900"/>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275" b="1">
                <a:solidFill>
                  <a:srgbClr val="17212B"/>
                </a:solidFill>
                <a:latin typeface="Aptos"/>
                <a:ea typeface="Aptos"/>
                <a:cs typeface="Aptos"/>
              </a:defRPr>
            </a:pPr>
            <a:r>
              <a:rPr sz="1275" b="1">
                <a:solidFill>
                  <a:srgbClr val="17212B"/>
                </a:solidFill>
                <a:latin typeface="Aptos"/>
                <a:ea typeface="Aptos"/>
                <a:cs typeface="Aptos"/>
              </a:rPr>
              <a:t>OEM acceptance</a:t>
            </a:r>
          </a:p>
          <a:p xmlns:a="http://schemas.openxmlformats.org/drawingml/2006/main">
            <a:pPr algn="ctr">
              <a:lnSpc>
                <a:spcPct val="104000"/>
              </a:lnSpc>
              <a:buNone/>
              <a:defRPr sz="1275" b="1">
                <a:solidFill>
                  <a:srgbClr val="17212B"/>
                </a:solidFill>
                <a:latin typeface="Aptos"/>
                <a:ea typeface="Aptos"/>
                <a:cs typeface="Aptos"/>
              </a:defRPr>
            </a:pPr>
            <a:r>
              <a:rPr sz="1275" b="1">
                <a:solidFill>
                  <a:srgbClr val="17212B"/>
                </a:solidFill>
                <a:latin typeface="Aptos"/>
                <a:ea typeface="Aptos"/>
                <a:cs typeface="Aptos"/>
              </a:rPr>
              <a:t>versions + digests</a:t>
            </a:r>
          </a:p>
        </p:txBody>
      </p:sp>
      <p:sp>
        <p:nvSpPr>
          <p:cNvPr id="13" name="">
            <a:extLst xmlns:a="http://schemas.openxmlformats.org/drawingml/2006/main">
              <a:ext uri="{FF2B5EF4-FFF2-40B4-BE49-F238E27FC236}">
                <a16:creationId xmlns:a16="http://schemas.microsoft.com/office/drawing/2014/main" id="{4314B26C-7911-4E9D-A521-28E77A865BC1}"/>
              </a:ext>
            </a:extLst>
          </p:cNvPr>
          <p:cNvSpPr>
            <a:spLocks xmlns:a="http://schemas.openxmlformats.org/drawingml/2006/main" noGrp="1"/>
          </p:cNvSpPr>
          <p:nvPr/>
        </p:nvSpPr>
        <p:spPr>
          <a:xfrm xmlns:a="http://schemas.openxmlformats.org/drawingml/2006/main">
            <a:off x="8667750" y="4305300"/>
            <a:ext cx="3105150" cy="838200"/>
          </a:xfrm>
          <a:prstGeom xmlns:a="http://schemas.openxmlformats.org/drawingml/2006/main" prst="roundRect">
            <a:avLst>
              <a:gd name="adj" fmla="val 11364"/>
            </a:avLst>
          </a:prstGeom>
          <a:solidFill xmlns:a="http://schemas.openxmlformats.org/drawingml/2006/main">
            <a:srgbClr val="EAF4EB"/>
          </a:solidFill>
          <a:ln xmlns:a="http://schemas.openxmlformats.org/drawingml/2006/main" w="17145">
            <a:solidFill>
              <a:srgbClr val="3C7A4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Demonstration Unit</a:t>
            </a:r>
          </a:p>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promote accepted bytes</a:t>
            </a:r>
          </a:p>
        </p:txBody>
      </p:sp>
      <p:cxnSp>
        <p:nvCxnSpPr>
          <p:cNvPr id="38" name=""/>
          <p:cNvCxnSpPr>
            <a:stCxn xmlns:a="http://schemas.openxmlformats.org/drawingml/2006/main" id="6" idx="3"/>
            <a:endCxn xmlns:a="http://schemas.openxmlformats.org/drawingml/2006/main" id="7" idx="1"/>
          </p:cNvCxnSpPr>
          <p:nvPr/>
        </p:nvCxnSpPr>
        <p:spPr>
          <a:xfrm xmlns:a="http://schemas.openxmlformats.org/drawingml/2006/main">
            <a:off x="4505325" y="1743075"/>
            <a:ext cx="352425" cy="0"/>
          </a:xfrm>
          <a:prstGeom xmlns:a="http://schemas.openxmlformats.org/drawingml/2006/main" prst="straightConnector1">
            <a:avLst/>
          </a:prstGeom>
          <a:ln xmlns:a="http://schemas.openxmlformats.org/drawingml/2006/main" w="19050">
            <a:solidFill>
              <a:srgbClr val="14806F"/>
            </a:solidFill>
            <a:prstDash val="solid"/>
            <a:tailEnd type="arrow" w="med" len="med"/>
          </a:ln>
        </p:spPr>
      </p:cxnSp>
      <p:cxnSp>
        <p:nvCxnSpPr>
          <p:cNvPr id="39" name=""/>
          <p:cNvCxnSpPr>
            <a:stCxn xmlns:a="http://schemas.openxmlformats.org/drawingml/2006/main" id="7" idx="3"/>
            <a:endCxn xmlns:a="http://schemas.openxmlformats.org/drawingml/2006/main" id="8" idx="1"/>
          </p:cNvCxnSpPr>
          <p:nvPr/>
        </p:nvCxnSpPr>
        <p:spPr>
          <a:xfrm xmlns:a="http://schemas.openxmlformats.org/drawingml/2006/main">
            <a:off x="6343650" y="1743075"/>
            <a:ext cx="371475" cy="0"/>
          </a:xfrm>
          <a:prstGeom xmlns:a="http://schemas.openxmlformats.org/drawingml/2006/main" prst="straightConnector1">
            <a:avLst/>
          </a:prstGeom>
          <a:ln xmlns:a="http://schemas.openxmlformats.org/drawingml/2006/main" w="19050">
            <a:solidFill>
              <a:srgbClr val="14806F"/>
            </a:solidFill>
            <a:prstDash val="solid"/>
            <a:tailEnd type="arrow" w="med" len="med"/>
          </a:ln>
        </p:spPr>
      </p:cxnSp>
      <p:cxnSp>
        <p:nvCxnSpPr>
          <p:cNvPr id="40" name=""/>
          <p:cNvCxnSpPr>
            <a:stCxn xmlns:a="http://schemas.openxmlformats.org/drawingml/2006/main" id="8" idx="3"/>
            <a:endCxn xmlns:a="http://schemas.openxmlformats.org/drawingml/2006/main" id="11" idx="1"/>
          </p:cNvCxnSpPr>
          <p:nvPr/>
        </p:nvCxnSpPr>
        <p:spPr>
          <a:xfrm xmlns:a="http://schemas.openxmlformats.org/drawingml/2006/main">
            <a:off x="8201025" y="1743075"/>
            <a:ext cx="466725" cy="971550"/>
          </a:xfrm>
          <a:prstGeom xmlns:a="http://schemas.openxmlformats.org/drawingml/2006/main" prst="straightConnector1">
            <a:avLst/>
          </a:prstGeom>
          <a:ln xmlns:a="http://schemas.openxmlformats.org/drawingml/2006/main" w="19050">
            <a:solidFill>
              <a:srgbClr val="14806F"/>
            </a:solidFill>
            <a:prstDash val="solid"/>
            <a:tailEnd type="arrow" w="med" len="med"/>
          </a:ln>
        </p:spPr>
      </p:cxnSp>
      <p:cxnSp>
        <p:nvCxnSpPr>
          <p:cNvPr id="41" name=""/>
          <p:cNvCxnSpPr>
            <a:stCxn xmlns:a="http://schemas.openxmlformats.org/drawingml/2006/main" id="9" idx="3"/>
            <a:endCxn xmlns:a="http://schemas.openxmlformats.org/drawingml/2006/main" id="10" idx="1"/>
          </p:cNvCxnSpPr>
          <p:nvPr/>
        </p:nvCxnSpPr>
        <p:spPr>
          <a:xfrm xmlns:a="http://schemas.openxmlformats.org/drawingml/2006/main">
            <a:off x="6343650" y="3648075"/>
            <a:ext cx="371475" cy="0"/>
          </a:xfrm>
          <a:prstGeom xmlns:a="http://schemas.openxmlformats.org/drawingml/2006/main" prst="straightConnector1">
            <a:avLst/>
          </a:prstGeom>
          <a:ln xmlns:a="http://schemas.openxmlformats.org/drawingml/2006/main" w="19050">
            <a:solidFill>
              <a:srgbClr val="C76724"/>
            </a:solidFill>
            <a:prstDash val="solid"/>
            <a:tailEnd type="arrow" w="med" len="med"/>
          </a:ln>
        </p:spPr>
      </p:cxnSp>
      <p:cxnSp>
        <p:nvCxnSpPr>
          <p:cNvPr id="42" name=""/>
          <p:cNvCxnSpPr>
            <a:stCxn xmlns:a="http://schemas.openxmlformats.org/drawingml/2006/main" id="10" idx="3"/>
            <a:endCxn xmlns:a="http://schemas.openxmlformats.org/drawingml/2006/main" id="11" idx="1"/>
          </p:cNvCxnSpPr>
          <p:nvPr/>
        </p:nvCxnSpPr>
        <p:spPr>
          <a:xfrm xmlns:a="http://schemas.openxmlformats.org/drawingml/2006/main" flipV="1">
            <a:off x="8201025" y="2714625"/>
            <a:ext cx="466725" cy="933450"/>
          </a:xfrm>
          <a:prstGeom xmlns:a="http://schemas.openxmlformats.org/drawingml/2006/main" prst="straightConnector1">
            <a:avLst/>
          </a:prstGeom>
          <a:ln xmlns:a="http://schemas.openxmlformats.org/drawingml/2006/main" w="19050">
            <a:solidFill>
              <a:srgbClr val="C76724"/>
            </a:solidFill>
            <a:prstDash val="solid"/>
            <a:tailEnd type="arrow" w="med" len="med"/>
          </a:ln>
        </p:spPr>
      </p:cxnSp>
      <p:cxnSp>
        <p:nvCxnSpPr>
          <p:cNvPr id="43" name=""/>
          <p:cNvCxnSpPr>
            <a:stCxn xmlns:a="http://schemas.openxmlformats.org/drawingml/2006/main" id="11" idx="3"/>
            <a:endCxn xmlns:a="http://schemas.openxmlformats.org/drawingml/2006/main" id="12" idx="1"/>
          </p:cNvCxnSpPr>
          <p:nvPr/>
        </p:nvCxnSpPr>
        <p:spPr>
          <a:xfrm xmlns:a="http://schemas.openxmlformats.org/drawingml/2006/main">
            <a:off x="10267950" y="2714625"/>
            <a:ext cx="266700" cy="0"/>
          </a:xfrm>
          <a:prstGeom xmlns:a="http://schemas.openxmlformats.org/drawingml/2006/main" prst="straightConnector1">
            <a:avLst/>
          </a:prstGeom>
          <a:ln xmlns:a="http://schemas.openxmlformats.org/drawingml/2006/main" w="19050">
            <a:solidFill>
              <a:srgbClr val="6C55A3"/>
            </a:solidFill>
            <a:prstDash val="solid"/>
            <a:tailEnd type="arrow" w="med" len="med"/>
          </a:ln>
        </p:spPr>
      </p:cxnSp>
      <p:cxnSp>
        <p:nvCxnSpPr>
          <p:cNvPr id="44" name=""/>
          <p:cNvCxnSpPr>
            <a:stCxn xmlns:a="http://schemas.openxmlformats.org/drawingml/2006/main" id="12" idx="2"/>
            <a:endCxn xmlns:a="http://schemas.openxmlformats.org/drawingml/2006/main" id="13" idx="0"/>
          </p:cNvCxnSpPr>
          <p:nvPr/>
        </p:nvCxnSpPr>
        <p:spPr>
          <a:xfrm xmlns:a="http://schemas.openxmlformats.org/drawingml/2006/main" flipH="1">
            <a:off x="10220325" y="3238500"/>
            <a:ext cx="933450" cy="1066800"/>
          </a:xfrm>
          <a:prstGeom xmlns:a="http://schemas.openxmlformats.org/drawingml/2006/main" prst="straightConnector1">
            <a:avLst/>
          </a:prstGeom>
          <a:ln xmlns:a="http://schemas.openxmlformats.org/drawingml/2006/main" w="19050">
            <a:solidFill>
              <a:srgbClr val="3C7A44"/>
            </a:solidFill>
            <a:prstDash val="solid"/>
            <a:tailEnd type="arrow" w="med" len="med"/>
          </a:ln>
        </p:spPr>
      </p:cxnSp>
      <p:sp>
        <p:nvSpPr>
          <p:cNvPr id="21" name="">
            <a:extLst xmlns:a="http://schemas.openxmlformats.org/drawingml/2006/main">
              <a:ext uri="{FF2B5EF4-FFF2-40B4-BE49-F238E27FC236}">
                <a16:creationId xmlns:a16="http://schemas.microsoft.com/office/drawing/2014/main" id="{C69E2CFA-196A-4802-8B3C-624B30E15A55}"/>
              </a:ext>
            </a:extLst>
          </p:cNvPr>
          <p:cNvSpPr>
            <a:spLocks xmlns:a="http://schemas.openxmlformats.org/drawingml/2006/main" noGrp="1"/>
          </p:cNvSpPr>
          <p:nvPr/>
        </p:nvSpPr>
        <p:spPr>
          <a:xfrm xmlns:a="http://schemas.openxmlformats.org/drawingml/2006/main">
            <a:off x="3200400" y="2609850"/>
            <a:ext cx="485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2872"/>
          </a:bodyPr>
          <a:lstStyle xmlns:a="http://schemas.openxmlformats.org/drawingml/2006/main"/>
          <a:p xmlns:a="http://schemas.openxmlformats.org/drawingml/2006/main">
            <a:pPr algn="ctr">
              <a:lnSpc>
                <a:spcPct val="108000"/>
              </a:lnSpc>
              <a:buNone/>
              <a:defRPr sz="1200" b="0">
                <a:solidFill>
                  <a:srgbClr val="5E6A76"/>
                </a:solidFill>
                <a:latin typeface="Aptos"/>
                <a:ea typeface="Aptos"/>
                <a:cs typeface="Aptos"/>
              </a:defRPr>
            </a:pPr>
            <a:r>
              <a:rPr sz="1200" b="0">
                <a:solidFill>
                  <a:srgbClr val="5E6A76"/>
                </a:solidFill>
                <a:latin typeface="Aptos"/>
                <a:ea typeface="Aptos"/>
                <a:cs typeface="Aptos"/>
              </a:rPr>
              <a:t>Function Team requests the platform capability before building the dependent service.</a:t>
            </a:r>
          </a:p>
        </p:txBody>
      </p:sp>
      <p:sp>
        <p:nvSpPr>
          <p:cNvPr id="22" name="">
            <a:extLst xmlns:a="http://schemas.openxmlformats.org/drawingml/2006/main">
              <a:ext uri="{FF2B5EF4-FFF2-40B4-BE49-F238E27FC236}">
                <a16:creationId xmlns:a16="http://schemas.microsoft.com/office/drawing/2014/main" id="{11EF1AB4-BE72-4F62-BA4C-0E842E35A127}"/>
              </a:ext>
            </a:extLst>
          </p:cNvPr>
          <p:cNvSpPr>
            <a:spLocks xmlns:a="http://schemas.openxmlformats.org/drawingml/2006/main" noGrp="1"/>
          </p:cNvSpPr>
          <p:nvPr/>
        </p:nvSpPr>
        <p:spPr>
          <a:xfrm xmlns:a="http://schemas.openxmlformats.org/drawingml/2006/main">
            <a:off x="3190875" y="5391150"/>
            <a:ext cx="790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427"/>
          </a:bodyPr>
          <a:lstStyle xmlns:a="http://schemas.openxmlformats.org/drawingml/2006/main"/>
          <a:p xmlns:a="http://schemas.openxmlformats.org/drawingml/2006/main">
            <a:pPr algn="ctr">
              <a:lnSpc>
                <a:spcPct val="108000"/>
              </a:lnSpc>
              <a:buNone/>
              <a:defRPr sz="1500" b="1">
                <a:solidFill>
                  <a:srgbClr val="17212B"/>
                </a:solidFill>
                <a:latin typeface="Aptos"/>
                <a:ea typeface="Aptos"/>
                <a:cs typeface="Aptos"/>
              </a:defRPr>
            </a:pPr>
            <a:r>
              <a:rPr sz="1500" b="1">
                <a:solidFill>
                  <a:srgbClr val="17212B"/>
                </a:solidFill>
                <a:latin typeface="Aptos"/>
                <a:ea typeface="Aptos"/>
                <a:cs typeface="Aptos"/>
              </a:rPr>
              <a:t>Service Sn declares the required platform capability. Provider readiness precedes service promotion.</a:t>
            </a:r>
          </a:p>
        </p:txBody>
      </p:sp>
      <p:sp>
        <p:nvSpPr>
          <p:cNvPr id="23" name="">
            <a:extLst xmlns:a="http://schemas.openxmlformats.org/drawingml/2006/main">
              <a:ext uri="{FF2B5EF4-FFF2-40B4-BE49-F238E27FC236}">
                <a16:creationId xmlns:a16="http://schemas.microsoft.com/office/drawing/2014/main" id="{EA8266F8-531D-4BF8-B9F3-9FCF67563E23}"/>
              </a:ext>
            </a:extLst>
          </p:cNvPr>
          <p:cNvSpPr>
            <a:spLocks xmlns:a="http://schemas.openxmlformats.org/drawingml/2006/main" noGrp="1"/>
          </p:cNvSpPr>
          <p:nvPr/>
        </p:nvSpPr>
        <p:spPr>
          <a:xfrm xmlns:a="http://schemas.openxmlformats.org/drawingml/2006/main">
            <a:off x="609600" y="65341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825" b="1">
                <a:solidFill>
                  <a:srgbClr val="5E6A76"/>
                </a:solidFill>
                <a:latin typeface="Aptos"/>
                <a:ea typeface="Aptos"/>
                <a:cs typeface="Aptos"/>
              </a:defRPr>
            </a:pPr>
            <a:r>
              <a:rPr sz="825" b="1">
                <a:solidFill>
                  <a:srgbClr val="5E6A76"/>
                </a:solidFill>
                <a:latin typeface="Aptos"/>
                <a:ea typeface="Aptos"/>
                <a:cs typeface="Aptos"/>
              </a:rPr>
              <a:t>DISCUSSION DRAFT 0.1</a:t>
            </a:r>
          </a:p>
        </p:txBody>
      </p:sp>
      <p:sp>
        <p:nvSpPr>
          <p:cNvPr id="24" name="">
            <a:extLst xmlns:a="http://schemas.openxmlformats.org/drawingml/2006/main">
              <a:ext uri="{FF2B5EF4-FFF2-40B4-BE49-F238E27FC236}">
                <a16:creationId xmlns:a16="http://schemas.microsoft.com/office/drawing/2014/main" id="{BDFB4EBA-6F14-4711-87DD-6968B503CE85}"/>
              </a:ext>
            </a:extLst>
          </p:cNvPr>
          <p:cNvSpPr>
            <a:spLocks xmlns:a="http://schemas.openxmlformats.org/drawingml/2006/main" noGrp="1"/>
          </p:cNvSpPr>
          <p:nvPr/>
        </p:nvSpPr>
        <p:spPr>
          <a:xfrm xmlns:a="http://schemas.openxmlformats.org/drawingml/2006/main">
            <a:off x="112014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00" b="0">
                <a:solidFill>
                  <a:srgbClr val="5E6A76"/>
                </a:solidFill>
                <a:latin typeface="Aptos"/>
                <a:ea typeface="Aptos"/>
                <a:cs typeface="Aptos"/>
              </a:defRPr>
            </a:pPr>
            <a:r>
              <a:rPr sz="900" b="0">
                <a:solidFill>
                  <a:srgbClr val="5E6A76"/>
                </a:solidFill>
                <a:latin typeface="Aptos"/>
                <a:ea typeface="Aptos"/>
                <a:cs typeface="Aptos"/>
              </a:rPr>
              <a:t>4</a:t>
            </a:r>
          </a:p>
        </p:txBody>
      </p:sp>
    </p:spTree>
    <p:extLst>
      <p:ext uri="{BB962C8B-B14F-4D97-AF65-F5344CB8AC3E}">
        <p14:creationId xmlns:p14="http://schemas.microsoft.com/office/powerpoint/2010/main" val="12423108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ection-5">
            <a:extLst xmlns:a="http://schemas.openxmlformats.org/drawingml/2006/main">
              <a:ext uri="{FF2B5EF4-FFF2-40B4-BE49-F238E27FC236}">
                <a16:creationId xmlns:a16="http://schemas.microsoft.com/office/drawing/2014/main" id="{01F14092-BAE4-496E-8F15-69A63AA04B45}"/>
              </a:ext>
            </a:extLst>
          </p:cNvPr>
          <p:cNvSpPr>
            <a:spLocks xmlns:a="http://schemas.openxmlformats.org/drawingml/2006/main" noGrp="1"/>
          </p:cNvSpPr>
          <p:nvPr/>
        </p:nvSpPr>
        <p:spPr>
          <a:xfrm xmlns:a="http://schemas.openxmlformats.org/drawingml/2006/main">
            <a:off x="609600" y="3238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a:solidFill>
                  <a:srgbClr val="2F6F98"/>
                </a:solidFill>
                <a:latin typeface="Aptos"/>
                <a:ea typeface="Aptos"/>
                <a:cs typeface="Aptos"/>
              </a:defRPr>
            </a:pPr>
            <a:r>
              <a:rPr sz="975" b="1">
                <a:solidFill>
                  <a:srgbClr val="2F6F98"/>
                </a:solidFill>
                <a:latin typeface="Aptos"/>
                <a:ea typeface="Aptos"/>
                <a:cs typeface="Aptos"/>
              </a:rPr>
              <a:t>DEMONSTRATION PROGRESSION</a:t>
            </a:r>
          </a:p>
        </p:txBody>
      </p:sp>
      <p:sp>
        <p:nvSpPr>
          <p:cNvPr id="2" name="title-5">
            <a:extLst xmlns:a="http://schemas.openxmlformats.org/drawingml/2006/main">
              <a:ext uri="{FF2B5EF4-FFF2-40B4-BE49-F238E27FC236}">
                <a16:creationId xmlns:a16="http://schemas.microsoft.com/office/drawing/2014/main" id="{B1C22DF4-20E7-46B9-899D-375C1CAE203F}"/>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850" b="1">
                <a:solidFill>
                  <a:srgbClr val="17212B"/>
                </a:solidFill>
                <a:latin typeface="Aptos"/>
                <a:ea typeface="Aptos"/>
                <a:cs typeface="Aptos"/>
              </a:defRPr>
            </a:pPr>
            <a:r>
              <a:rPr sz="2850" b="1">
                <a:solidFill>
                  <a:srgbClr val="17212B"/>
                </a:solidFill>
                <a:latin typeface="Aptos"/>
                <a:ea typeface="Aptos"/>
                <a:cs typeface="Aptos"/>
              </a:rPr>
              <a:t>Five software graphs create one cumulative story</a:t>
            </a:r>
          </a:p>
        </p:txBody>
      </p:sp>
      <p:sp>
        <p:nvSpPr>
          <p:cNvPr id="3" name="">
            <a:extLst xmlns:a="http://schemas.openxmlformats.org/drawingml/2006/main">
              <a:ext uri="{FF2B5EF4-FFF2-40B4-BE49-F238E27FC236}">
                <a16:creationId xmlns:a16="http://schemas.microsoft.com/office/drawing/2014/main" id="{719EB06F-099A-40D6-AE14-08D6E932D066}"/>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B9C3CC"/>
            </a:solidFill>
            <a:prstDash val="solid"/>
          </a:ln>
        </p:spPr>
      </p:sp>
      <p:sp>
        <p:nvSpPr>
          <p:cNvPr id="4" name="">
            <a:extLst xmlns:a="http://schemas.openxmlformats.org/drawingml/2006/main">
              <a:ext uri="{FF2B5EF4-FFF2-40B4-BE49-F238E27FC236}">
                <a16:creationId xmlns:a16="http://schemas.microsoft.com/office/drawing/2014/main" id="{05522B8C-EE31-4923-9906-DE47964DC136}"/>
              </a:ext>
            </a:extLst>
          </p:cNvPr>
          <p:cNvSpPr>
            <a:spLocks xmlns:a="http://schemas.openxmlformats.org/drawingml/2006/main" noGrp="1"/>
          </p:cNvSpPr>
          <p:nvPr/>
        </p:nvSpPr>
        <p:spPr>
          <a:xfrm xmlns:a="http://schemas.openxmlformats.org/drawingml/2006/main">
            <a:off x="1228725" y="1676400"/>
            <a:ext cx="590550" cy="590550"/>
          </a:xfrm>
          <a:prstGeom xmlns:a="http://schemas.openxmlformats.org/drawingml/2006/main" prst="ellipse">
            <a:avLst/>
          </a:prstGeom>
          <a:solidFill xmlns:a="http://schemas.openxmlformats.org/drawingml/2006/main">
            <a:srgbClr val="F0ECF8"/>
          </a:solidFill>
          <a:ln xmlns:a="http://schemas.openxmlformats.org/drawingml/2006/main" w="19050">
            <a:solidFill>
              <a:srgbClr val="6C55A3"/>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6C55A3"/>
                </a:solidFill>
                <a:latin typeface="Aptos"/>
                <a:ea typeface="Aptos"/>
                <a:cs typeface="Aptos"/>
              </a:defRPr>
            </a:pPr>
            <a:r>
              <a:rPr sz="1575" b="1">
                <a:solidFill>
                  <a:srgbClr val="6C55A3"/>
                </a:solidFill>
                <a:latin typeface="Aptos"/>
                <a:ea typeface="Aptos"/>
                <a:cs typeface="Aptos"/>
              </a:rPr>
              <a:t>G0</a:t>
            </a:r>
          </a:p>
        </p:txBody>
      </p:sp>
      <p:sp>
        <p:nvSpPr>
          <p:cNvPr id="5" name="">
            <a:extLst xmlns:a="http://schemas.openxmlformats.org/drawingml/2006/main">
              <a:ext uri="{FF2B5EF4-FFF2-40B4-BE49-F238E27FC236}">
                <a16:creationId xmlns:a16="http://schemas.microsoft.com/office/drawing/2014/main" id="{7018AF23-2A45-4CA6-A1A6-83E630A0A31D}"/>
              </a:ext>
            </a:extLst>
          </p:cNvPr>
          <p:cNvSpPr>
            <a:spLocks xmlns:a="http://schemas.openxmlformats.org/drawingml/2006/main" noGrp="1"/>
          </p:cNvSpPr>
          <p:nvPr/>
        </p:nvSpPr>
        <p:spPr>
          <a:xfrm xmlns:a="http://schemas.openxmlformats.org/drawingml/2006/main">
            <a:off x="609600" y="2495550"/>
            <a:ext cx="1828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a:solidFill>
                  <a:srgbClr val="17212B"/>
                </a:solidFill>
                <a:latin typeface="Aptos"/>
                <a:ea typeface="Aptos"/>
                <a:cs typeface="Aptos"/>
              </a:defRPr>
            </a:pPr>
            <a:r>
              <a:rPr sz="1500" b="1">
                <a:solidFill>
                  <a:srgbClr val="17212B"/>
                </a:solidFill>
                <a:latin typeface="Aptos"/>
                <a:ea typeface="Aptos"/>
                <a:cs typeface="Aptos"/>
              </a:rPr>
              <a:t>Platform ready</a:t>
            </a:r>
          </a:p>
        </p:txBody>
      </p:sp>
      <p:sp>
        <p:nvSpPr>
          <p:cNvPr id="6" name="">
            <a:extLst xmlns:a="http://schemas.openxmlformats.org/drawingml/2006/main">
              <a:ext uri="{FF2B5EF4-FFF2-40B4-BE49-F238E27FC236}">
                <a16:creationId xmlns:a16="http://schemas.microsoft.com/office/drawing/2014/main" id="{4733A1F5-8925-479F-870B-7D1BBE5AA938}"/>
              </a:ext>
            </a:extLst>
          </p:cNvPr>
          <p:cNvSpPr>
            <a:spLocks xmlns:a="http://schemas.openxmlformats.org/drawingml/2006/main" noGrp="1"/>
          </p:cNvSpPr>
          <p:nvPr/>
        </p:nvSpPr>
        <p:spPr>
          <a:xfrm xmlns:a="http://schemas.openxmlformats.org/drawingml/2006/main">
            <a:off x="609600" y="2933700"/>
            <a:ext cx="1828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275" b="0">
                <a:solidFill>
                  <a:srgbClr val="5E6A76"/>
                </a:solidFill>
                <a:latin typeface="Aptos"/>
                <a:ea typeface="Aptos"/>
                <a:cs typeface="Aptos"/>
              </a:defRPr>
            </a:pPr>
            <a:r>
              <a:rPr sz="1275" b="0">
                <a:solidFill>
                  <a:srgbClr val="5E6A76"/>
                </a:solidFill>
                <a:latin typeface="Aptos"/>
                <a:ea typeface="Aptos"/>
                <a:cs typeface="Aptos"/>
              </a:rPr>
              <a:t>Vehicle drives</a:t>
            </a:r>
          </a:p>
          <a:p xmlns:a="http://schemas.openxmlformats.org/drawingml/2006/main">
            <a:pPr algn="ctr">
              <a:lnSpc>
                <a:spcPct val="104000"/>
              </a:lnSpc>
              <a:buNone/>
              <a:defRPr sz="1275" b="0">
                <a:solidFill>
                  <a:srgbClr val="5E6A76"/>
                </a:solidFill>
                <a:latin typeface="Aptos"/>
                <a:ea typeface="Aptos"/>
                <a:cs typeface="Aptos"/>
              </a:defRPr>
            </a:pPr>
            <a:r>
              <a:rPr sz="1275" b="0">
                <a:solidFill>
                  <a:srgbClr val="5E6A76"/>
                </a:solidFill>
                <a:latin typeface="Aptos"/>
                <a:ea typeface="Aptos"/>
                <a:cs typeface="Aptos"/>
              </a:rPr>
              <a:t>Base VISS telemetry</a:t>
            </a:r>
          </a:p>
        </p:txBody>
      </p:sp>
      <p:sp>
        <p:nvSpPr>
          <p:cNvPr id="7" name="">
            <a:extLst xmlns:a="http://schemas.openxmlformats.org/drawingml/2006/main">
              <a:ext uri="{FF2B5EF4-FFF2-40B4-BE49-F238E27FC236}">
                <a16:creationId xmlns:a16="http://schemas.microsoft.com/office/drawing/2014/main" id="{03910F0C-73D2-4782-9312-FF4D89211B6F}"/>
              </a:ext>
            </a:extLst>
          </p:cNvPr>
          <p:cNvSpPr>
            <a:spLocks xmlns:a="http://schemas.openxmlformats.org/drawingml/2006/main" noGrp="1"/>
          </p:cNvSpPr>
          <p:nvPr/>
        </p:nvSpPr>
        <p:spPr>
          <a:xfrm xmlns:a="http://schemas.openxmlformats.org/drawingml/2006/main">
            <a:off x="3438525" y="1676400"/>
            <a:ext cx="590550" cy="590550"/>
          </a:xfrm>
          <a:prstGeom xmlns:a="http://schemas.openxmlformats.org/drawingml/2006/main" prst="ellipse">
            <a:avLst/>
          </a:prstGeom>
          <a:solidFill xmlns:a="http://schemas.openxmlformats.org/drawingml/2006/main">
            <a:srgbClr val="E5F4F0"/>
          </a:solidFill>
          <a:ln xmlns:a="http://schemas.openxmlformats.org/drawingml/2006/main" w="19050">
            <a:solidFill>
              <a:srgbClr val="14806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14806F"/>
                </a:solidFill>
                <a:latin typeface="Aptos"/>
                <a:ea typeface="Aptos"/>
                <a:cs typeface="Aptos"/>
              </a:defRPr>
            </a:pPr>
            <a:r>
              <a:rPr sz="1575" b="1">
                <a:solidFill>
                  <a:srgbClr val="14806F"/>
                </a:solidFill>
                <a:latin typeface="Aptos"/>
                <a:ea typeface="Aptos"/>
                <a:cs typeface="Aptos"/>
              </a:rPr>
              <a:t>G1</a:t>
            </a:r>
          </a:p>
        </p:txBody>
      </p:sp>
      <p:sp>
        <p:nvSpPr>
          <p:cNvPr id="8" name="">
            <a:extLst xmlns:a="http://schemas.openxmlformats.org/drawingml/2006/main">
              <a:ext uri="{FF2B5EF4-FFF2-40B4-BE49-F238E27FC236}">
                <a16:creationId xmlns:a16="http://schemas.microsoft.com/office/drawing/2014/main" id="{E00A411A-96A7-4313-8557-3D26CE3A4965}"/>
              </a:ext>
            </a:extLst>
          </p:cNvPr>
          <p:cNvSpPr>
            <a:spLocks xmlns:a="http://schemas.openxmlformats.org/drawingml/2006/main" noGrp="1"/>
          </p:cNvSpPr>
          <p:nvPr/>
        </p:nvSpPr>
        <p:spPr>
          <a:xfrm xmlns:a="http://schemas.openxmlformats.org/drawingml/2006/main">
            <a:off x="2819400" y="2495550"/>
            <a:ext cx="1828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a:solidFill>
                  <a:srgbClr val="17212B"/>
                </a:solidFill>
                <a:latin typeface="Aptos"/>
                <a:ea typeface="Aptos"/>
                <a:cs typeface="Aptos"/>
              </a:defRPr>
            </a:pPr>
            <a:r>
              <a:rPr sz="1500" b="1">
                <a:solidFill>
                  <a:srgbClr val="17212B"/>
                </a:solidFill>
                <a:latin typeface="Aptos"/>
                <a:ea typeface="Aptos"/>
                <a:cs typeface="Aptos"/>
              </a:rPr>
              <a:t>+ Provider v1</a:t>
            </a:r>
          </a:p>
        </p:txBody>
      </p:sp>
      <p:sp>
        <p:nvSpPr>
          <p:cNvPr id="9" name="">
            <a:extLst xmlns:a="http://schemas.openxmlformats.org/drawingml/2006/main">
              <a:ext uri="{FF2B5EF4-FFF2-40B4-BE49-F238E27FC236}">
                <a16:creationId xmlns:a16="http://schemas.microsoft.com/office/drawing/2014/main" id="{F4297F07-DCD3-4D18-A01D-07E16210BBD4}"/>
              </a:ext>
            </a:extLst>
          </p:cNvPr>
          <p:cNvSpPr>
            <a:spLocks xmlns:a="http://schemas.openxmlformats.org/drawingml/2006/main" noGrp="1"/>
          </p:cNvSpPr>
          <p:nvPr/>
        </p:nvSpPr>
        <p:spPr>
          <a:xfrm xmlns:a="http://schemas.openxmlformats.org/drawingml/2006/main">
            <a:off x="2819400" y="2933700"/>
            <a:ext cx="1828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275" b="0">
                <a:solidFill>
                  <a:srgbClr val="5E6A76"/>
                </a:solidFill>
                <a:latin typeface="Aptos"/>
                <a:ea typeface="Aptos"/>
                <a:cs typeface="Aptos"/>
              </a:defRPr>
            </a:pPr>
            <a:r>
              <a:rPr sz="1275" b="0">
                <a:solidFill>
                  <a:srgbClr val="5E6A76"/>
                </a:solidFill>
                <a:latin typeface="Aptos"/>
                <a:ea typeface="Aptos"/>
                <a:cs typeface="Aptos"/>
              </a:rPr>
              <a:t>Narrow signal subset</a:t>
            </a:r>
          </a:p>
          <a:p xmlns:a="http://schemas.openxmlformats.org/drawingml/2006/main">
            <a:pPr algn="ctr">
              <a:lnSpc>
                <a:spcPct val="104000"/>
              </a:lnSpc>
              <a:buNone/>
              <a:defRPr sz="1275" b="0">
                <a:solidFill>
                  <a:srgbClr val="5E6A76"/>
                </a:solidFill>
                <a:latin typeface="Aptos"/>
                <a:ea typeface="Aptos"/>
                <a:cs typeface="Aptos"/>
              </a:defRPr>
            </a:pPr>
            <a:r>
              <a:rPr sz="1275" b="0">
                <a:solidFill>
                  <a:srgbClr val="5E6A76"/>
                </a:solidFill>
                <a:latin typeface="Aptos"/>
                <a:ea typeface="Aptos"/>
                <a:cs typeface="Aptos"/>
              </a:rPr>
              <a:t>reaches KUKSA</a:t>
            </a:r>
          </a:p>
        </p:txBody>
      </p:sp>
      <p:sp>
        <p:nvSpPr>
          <p:cNvPr id="10" name="">
            <a:extLst xmlns:a="http://schemas.openxmlformats.org/drawingml/2006/main">
              <a:ext uri="{FF2B5EF4-FFF2-40B4-BE49-F238E27FC236}">
                <a16:creationId xmlns:a16="http://schemas.microsoft.com/office/drawing/2014/main" id="{A3939F4C-2ACB-4030-B603-2319B2C51A26}"/>
              </a:ext>
            </a:extLst>
          </p:cNvPr>
          <p:cNvSpPr>
            <a:spLocks xmlns:a="http://schemas.openxmlformats.org/drawingml/2006/main" noGrp="1"/>
          </p:cNvSpPr>
          <p:nvPr/>
        </p:nvSpPr>
        <p:spPr>
          <a:xfrm xmlns:a="http://schemas.openxmlformats.org/drawingml/2006/main">
            <a:off x="5648325" y="1676400"/>
            <a:ext cx="590550" cy="590550"/>
          </a:xfrm>
          <a:prstGeom xmlns:a="http://schemas.openxmlformats.org/drawingml/2006/main" prst="ellipse">
            <a:avLst/>
          </a:prstGeom>
          <a:solidFill xmlns:a="http://schemas.openxmlformats.org/drawingml/2006/main">
            <a:srgbClr val="FFF0E5"/>
          </a:solidFill>
          <a:ln xmlns:a="http://schemas.openxmlformats.org/drawingml/2006/main" w="19050">
            <a:solidFill>
              <a:srgbClr val="C767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C76724"/>
                </a:solidFill>
                <a:latin typeface="Aptos"/>
                <a:ea typeface="Aptos"/>
                <a:cs typeface="Aptos"/>
              </a:defRPr>
            </a:pPr>
            <a:r>
              <a:rPr sz="1575" b="1">
                <a:solidFill>
                  <a:srgbClr val="C76724"/>
                </a:solidFill>
                <a:latin typeface="Aptos"/>
                <a:ea typeface="Aptos"/>
                <a:cs typeface="Aptos"/>
              </a:rPr>
              <a:t>G2</a:t>
            </a:r>
          </a:p>
        </p:txBody>
      </p:sp>
      <p:sp>
        <p:nvSpPr>
          <p:cNvPr id="11" name="">
            <a:extLst xmlns:a="http://schemas.openxmlformats.org/drawingml/2006/main">
              <a:ext uri="{FF2B5EF4-FFF2-40B4-BE49-F238E27FC236}">
                <a16:creationId xmlns:a16="http://schemas.microsoft.com/office/drawing/2014/main" id="{34D43CB9-B74C-406F-8B58-DCB9AFD08987}"/>
              </a:ext>
            </a:extLst>
          </p:cNvPr>
          <p:cNvSpPr>
            <a:spLocks xmlns:a="http://schemas.openxmlformats.org/drawingml/2006/main" noGrp="1"/>
          </p:cNvSpPr>
          <p:nvPr/>
        </p:nvSpPr>
        <p:spPr>
          <a:xfrm xmlns:a="http://schemas.openxmlformats.org/drawingml/2006/main">
            <a:off x="5029200" y="2495550"/>
            <a:ext cx="1828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a:solidFill>
                  <a:srgbClr val="17212B"/>
                </a:solidFill>
                <a:latin typeface="Aptos"/>
                <a:ea typeface="Aptos"/>
                <a:cs typeface="Aptos"/>
              </a:defRPr>
            </a:pPr>
            <a:r>
              <a:rPr sz="1500" b="1">
                <a:solidFill>
                  <a:srgbClr val="17212B"/>
                </a:solidFill>
                <a:latin typeface="Aptos"/>
                <a:ea typeface="Aptos"/>
                <a:cs typeface="Aptos"/>
              </a:rPr>
              <a:t>+ Service v1</a:t>
            </a:r>
          </a:p>
        </p:txBody>
      </p:sp>
      <p:sp>
        <p:nvSpPr>
          <p:cNvPr id="12" name="">
            <a:extLst xmlns:a="http://schemas.openxmlformats.org/drawingml/2006/main">
              <a:ext uri="{FF2B5EF4-FFF2-40B4-BE49-F238E27FC236}">
                <a16:creationId xmlns:a16="http://schemas.microsoft.com/office/drawing/2014/main" id="{08582A97-B638-452A-9425-9BBDA9EE7089}"/>
              </a:ext>
            </a:extLst>
          </p:cNvPr>
          <p:cNvSpPr>
            <a:spLocks xmlns:a="http://schemas.openxmlformats.org/drawingml/2006/main" noGrp="1"/>
          </p:cNvSpPr>
          <p:nvPr/>
        </p:nvSpPr>
        <p:spPr>
          <a:xfrm xmlns:a="http://schemas.openxmlformats.org/drawingml/2006/main">
            <a:off x="5029200" y="2933700"/>
            <a:ext cx="1828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275" b="0">
                <a:solidFill>
                  <a:srgbClr val="5E6A76"/>
                </a:solidFill>
                <a:latin typeface="Aptos"/>
                <a:ea typeface="Aptos"/>
                <a:cs typeface="Aptos"/>
              </a:defRPr>
            </a:pPr>
            <a:r>
              <a:rPr sz="1275" b="0">
                <a:solidFill>
                  <a:srgbClr val="5E6A76"/>
                </a:solidFill>
                <a:latin typeface="Aptos"/>
                <a:ea typeface="Aptos"/>
                <a:cs typeface="Aptos"/>
              </a:rPr>
              <a:t>Selected data</a:t>
            </a:r>
          </a:p>
          <a:p xmlns:a="http://schemas.openxmlformats.org/drawingml/2006/main">
            <a:pPr algn="ctr">
              <a:lnSpc>
                <a:spcPct val="104000"/>
              </a:lnSpc>
              <a:buNone/>
              <a:defRPr sz="1275" b="0">
                <a:solidFill>
                  <a:srgbClr val="5E6A76"/>
                </a:solidFill>
                <a:latin typeface="Aptos"/>
                <a:ea typeface="Aptos"/>
                <a:cs typeface="Aptos"/>
              </a:defRPr>
            </a:pPr>
            <a:r>
              <a:rPr sz="1275" b="0">
                <a:solidFill>
                  <a:srgbClr val="5E6A76"/>
                </a:solidFill>
                <a:latin typeface="Aptos"/>
                <a:ea typeface="Aptos"/>
                <a:cs typeface="Aptos"/>
              </a:rPr>
              <a:t>reaches backend</a:t>
            </a:r>
          </a:p>
        </p:txBody>
      </p:sp>
      <p:sp>
        <p:nvSpPr>
          <p:cNvPr id="13" name="">
            <a:extLst xmlns:a="http://schemas.openxmlformats.org/drawingml/2006/main">
              <a:ext uri="{FF2B5EF4-FFF2-40B4-BE49-F238E27FC236}">
                <a16:creationId xmlns:a16="http://schemas.microsoft.com/office/drawing/2014/main" id="{03C2BBE8-C166-4049-B81D-360C5520E689}"/>
              </a:ext>
            </a:extLst>
          </p:cNvPr>
          <p:cNvSpPr>
            <a:spLocks xmlns:a="http://schemas.openxmlformats.org/drawingml/2006/main" noGrp="1"/>
          </p:cNvSpPr>
          <p:nvPr/>
        </p:nvSpPr>
        <p:spPr>
          <a:xfrm xmlns:a="http://schemas.openxmlformats.org/drawingml/2006/main">
            <a:off x="7858125" y="1676400"/>
            <a:ext cx="590550" cy="590550"/>
          </a:xfrm>
          <a:prstGeom xmlns:a="http://schemas.openxmlformats.org/drawingml/2006/main" prst="ellipse">
            <a:avLst/>
          </a:prstGeom>
          <a:solidFill xmlns:a="http://schemas.openxmlformats.org/drawingml/2006/main">
            <a:srgbClr val="FFF0E5"/>
          </a:solidFill>
          <a:ln xmlns:a="http://schemas.openxmlformats.org/drawingml/2006/main" w="19050">
            <a:solidFill>
              <a:srgbClr val="C767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C76724"/>
                </a:solidFill>
                <a:latin typeface="Aptos"/>
                <a:ea typeface="Aptos"/>
                <a:cs typeface="Aptos"/>
              </a:defRPr>
            </a:pPr>
            <a:r>
              <a:rPr sz="1575" b="1">
                <a:solidFill>
                  <a:srgbClr val="C76724"/>
                </a:solidFill>
                <a:latin typeface="Aptos"/>
                <a:ea typeface="Aptos"/>
                <a:cs typeface="Aptos"/>
              </a:rPr>
              <a:t>G3</a:t>
            </a:r>
          </a:p>
        </p:txBody>
      </p:sp>
      <p:sp>
        <p:nvSpPr>
          <p:cNvPr id="14" name="">
            <a:extLst xmlns:a="http://schemas.openxmlformats.org/drawingml/2006/main">
              <a:ext uri="{FF2B5EF4-FFF2-40B4-BE49-F238E27FC236}">
                <a16:creationId xmlns:a16="http://schemas.microsoft.com/office/drawing/2014/main" id="{C64FAC04-7ACA-419C-8B32-6C4AD9749317}"/>
              </a:ext>
            </a:extLst>
          </p:cNvPr>
          <p:cNvSpPr>
            <a:spLocks xmlns:a="http://schemas.openxmlformats.org/drawingml/2006/main" noGrp="1"/>
          </p:cNvSpPr>
          <p:nvPr/>
        </p:nvSpPr>
        <p:spPr>
          <a:xfrm xmlns:a="http://schemas.openxmlformats.org/drawingml/2006/main">
            <a:off x="7239000" y="2495550"/>
            <a:ext cx="1828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a:solidFill>
                  <a:srgbClr val="17212B"/>
                </a:solidFill>
                <a:latin typeface="Aptos"/>
                <a:ea typeface="Aptos"/>
                <a:cs typeface="Aptos"/>
              </a:defRPr>
            </a:pPr>
            <a:r>
              <a:rPr sz="1500" b="1">
                <a:solidFill>
                  <a:srgbClr val="17212B"/>
                </a:solidFill>
                <a:latin typeface="Aptos"/>
                <a:ea typeface="Aptos"/>
                <a:cs typeface="Aptos"/>
              </a:rPr>
              <a:t>P2 + S2</a:t>
            </a:r>
          </a:p>
        </p:txBody>
      </p:sp>
      <p:sp>
        <p:nvSpPr>
          <p:cNvPr id="15" name="">
            <a:extLst xmlns:a="http://schemas.openxmlformats.org/drawingml/2006/main">
              <a:ext uri="{FF2B5EF4-FFF2-40B4-BE49-F238E27FC236}">
                <a16:creationId xmlns:a16="http://schemas.microsoft.com/office/drawing/2014/main" id="{0DB28CE2-96E9-4C9A-BD9E-04482FA7DE75}"/>
              </a:ext>
            </a:extLst>
          </p:cNvPr>
          <p:cNvSpPr>
            <a:spLocks xmlns:a="http://schemas.openxmlformats.org/drawingml/2006/main" noGrp="1"/>
          </p:cNvSpPr>
          <p:nvPr/>
        </p:nvSpPr>
        <p:spPr>
          <a:xfrm xmlns:a="http://schemas.openxmlformats.org/drawingml/2006/main">
            <a:off x="7239000" y="2933700"/>
            <a:ext cx="1828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275" b="0">
                <a:solidFill>
                  <a:srgbClr val="5E6A76"/>
                </a:solidFill>
                <a:latin typeface="Aptos"/>
                <a:ea typeface="Aptos"/>
                <a:cs typeface="Aptos"/>
              </a:defRPr>
            </a:pPr>
            <a:r>
              <a:rPr sz="1275" b="0">
                <a:solidFill>
                  <a:srgbClr val="5E6A76"/>
                </a:solidFill>
                <a:latin typeface="Aptos"/>
                <a:ea typeface="Aptos"/>
                <a:cs typeface="Aptos"/>
              </a:rPr>
              <a:t>Expanded inputs</a:t>
            </a:r>
          </a:p>
          <a:p xmlns:a="http://schemas.openxmlformats.org/drawingml/2006/main">
            <a:pPr algn="ctr">
              <a:lnSpc>
                <a:spcPct val="104000"/>
              </a:lnSpc>
              <a:buNone/>
              <a:defRPr sz="1275" b="0">
                <a:solidFill>
                  <a:srgbClr val="5E6A76"/>
                </a:solidFill>
                <a:latin typeface="Aptos"/>
                <a:ea typeface="Aptos"/>
                <a:cs typeface="Aptos"/>
              </a:defRPr>
            </a:pPr>
            <a:r>
              <a:rPr sz="1275" b="0">
                <a:solidFill>
                  <a:srgbClr val="5E6A76"/>
                </a:solidFill>
                <a:latin typeface="Aptos"/>
                <a:ea typeface="Aptos"/>
                <a:cs typeface="Aptos"/>
              </a:rPr>
              <a:t>Prediction appears</a:t>
            </a:r>
          </a:p>
        </p:txBody>
      </p:sp>
      <p:sp>
        <p:nvSpPr>
          <p:cNvPr id="16" name="">
            <a:extLst xmlns:a="http://schemas.openxmlformats.org/drawingml/2006/main">
              <a:ext uri="{FF2B5EF4-FFF2-40B4-BE49-F238E27FC236}">
                <a16:creationId xmlns:a16="http://schemas.microsoft.com/office/drawing/2014/main" id="{1AA663E1-9EC0-40BB-A3F0-2921369AEF8A}"/>
              </a:ext>
            </a:extLst>
          </p:cNvPr>
          <p:cNvSpPr>
            <a:spLocks xmlns:a="http://schemas.openxmlformats.org/drawingml/2006/main" noGrp="1"/>
          </p:cNvSpPr>
          <p:nvPr/>
        </p:nvSpPr>
        <p:spPr>
          <a:xfrm xmlns:a="http://schemas.openxmlformats.org/drawingml/2006/main">
            <a:off x="10067925" y="1676400"/>
            <a:ext cx="590550" cy="590550"/>
          </a:xfrm>
          <a:prstGeom xmlns:a="http://schemas.openxmlformats.org/drawingml/2006/main" prst="ellipse">
            <a:avLst/>
          </a:prstGeom>
          <a:solidFill xmlns:a="http://schemas.openxmlformats.org/drawingml/2006/main">
            <a:srgbClr val="E8F2F8"/>
          </a:solidFill>
          <a:ln xmlns:a="http://schemas.openxmlformats.org/drawingml/2006/main" w="19050">
            <a:solidFill>
              <a:srgbClr val="2F6F9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2F6F98"/>
                </a:solidFill>
                <a:latin typeface="Aptos"/>
                <a:ea typeface="Aptos"/>
                <a:cs typeface="Aptos"/>
              </a:defRPr>
            </a:pPr>
            <a:r>
              <a:rPr sz="1575" b="1">
                <a:solidFill>
                  <a:srgbClr val="2F6F98"/>
                </a:solidFill>
                <a:latin typeface="Aptos"/>
                <a:ea typeface="Aptos"/>
                <a:cs typeface="Aptos"/>
              </a:rPr>
              <a:t>G4</a:t>
            </a:r>
          </a:p>
        </p:txBody>
      </p:sp>
      <p:sp>
        <p:nvSpPr>
          <p:cNvPr id="17" name="">
            <a:extLst xmlns:a="http://schemas.openxmlformats.org/drawingml/2006/main">
              <a:ext uri="{FF2B5EF4-FFF2-40B4-BE49-F238E27FC236}">
                <a16:creationId xmlns:a16="http://schemas.microsoft.com/office/drawing/2014/main" id="{A2D4481A-3E11-402C-82D8-8322C223DF0C}"/>
              </a:ext>
            </a:extLst>
          </p:cNvPr>
          <p:cNvSpPr>
            <a:spLocks xmlns:a="http://schemas.openxmlformats.org/drawingml/2006/main" noGrp="1"/>
          </p:cNvSpPr>
          <p:nvPr/>
        </p:nvSpPr>
        <p:spPr>
          <a:xfrm xmlns:a="http://schemas.openxmlformats.org/drawingml/2006/main">
            <a:off x="9448800" y="2495550"/>
            <a:ext cx="1828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a:solidFill>
                  <a:srgbClr val="17212B"/>
                </a:solidFill>
                <a:latin typeface="Aptos"/>
                <a:ea typeface="Aptos"/>
                <a:cs typeface="Aptos"/>
              </a:defRPr>
            </a:pPr>
            <a:r>
              <a:rPr sz="1500" b="1">
                <a:solidFill>
                  <a:srgbClr val="17212B"/>
                </a:solidFill>
                <a:latin typeface="Aptos"/>
                <a:ea typeface="Aptos"/>
                <a:cs typeface="Aptos"/>
              </a:rPr>
              <a:t>P3 + S3</a:t>
            </a:r>
          </a:p>
        </p:txBody>
      </p:sp>
      <p:sp>
        <p:nvSpPr>
          <p:cNvPr id="18" name="">
            <a:extLst xmlns:a="http://schemas.openxmlformats.org/drawingml/2006/main">
              <a:ext uri="{FF2B5EF4-FFF2-40B4-BE49-F238E27FC236}">
                <a16:creationId xmlns:a16="http://schemas.microsoft.com/office/drawing/2014/main" id="{DA5F4604-0F41-4F8C-8E41-84B0A8266B2D}"/>
              </a:ext>
            </a:extLst>
          </p:cNvPr>
          <p:cNvSpPr>
            <a:spLocks xmlns:a="http://schemas.openxmlformats.org/drawingml/2006/main" noGrp="1"/>
          </p:cNvSpPr>
          <p:nvPr/>
        </p:nvSpPr>
        <p:spPr>
          <a:xfrm xmlns:a="http://schemas.openxmlformats.org/drawingml/2006/main">
            <a:off x="9448800" y="2933700"/>
            <a:ext cx="1828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275" b="0">
                <a:solidFill>
                  <a:srgbClr val="5E6A76"/>
                </a:solidFill>
                <a:latin typeface="Aptos"/>
                <a:ea typeface="Aptos"/>
                <a:cs typeface="Aptos"/>
              </a:defRPr>
            </a:pPr>
            <a:r>
              <a:rPr sz="1275" b="0">
                <a:solidFill>
                  <a:srgbClr val="5E6A76"/>
                </a:solidFill>
                <a:latin typeface="Aptos"/>
                <a:ea typeface="Aptos"/>
                <a:cs typeface="Aptos"/>
              </a:rPr>
              <a:t>Local advisory</a:t>
            </a:r>
          </a:p>
          <a:p xmlns:a="http://schemas.openxmlformats.org/drawingml/2006/main">
            <a:pPr algn="ctr">
              <a:lnSpc>
                <a:spcPct val="104000"/>
              </a:lnSpc>
              <a:buNone/>
              <a:defRPr sz="1275" b="0">
                <a:solidFill>
                  <a:srgbClr val="5E6A76"/>
                </a:solidFill>
                <a:latin typeface="Aptos"/>
                <a:ea typeface="Aptos"/>
                <a:cs typeface="Aptos"/>
              </a:defRPr>
            </a:pPr>
            <a:r>
              <a:rPr sz="1275" b="0">
                <a:solidFill>
                  <a:srgbClr val="5E6A76"/>
                </a:solidFill>
                <a:latin typeface="Aptos"/>
                <a:ea typeface="Aptos"/>
                <a:cs typeface="Aptos"/>
              </a:rPr>
              <a:t>Gateway receives</a:t>
            </a:r>
          </a:p>
        </p:txBody>
      </p:sp>
      <p:cxnSp>
        <p:nvCxnSpPr>
          <p:cNvPr id="49" name=""/>
          <p:cNvCxnSpPr>
            <a:stCxn xmlns:a="http://schemas.openxmlformats.org/drawingml/2006/main" id="4" idx="6"/>
            <a:endCxn xmlns:a="http://schemas.openxmlformats.org/drawingml/2006/main" id="7" idx="2"/>
          </p:cNvCxnSpPr>
          <p:nvPr/>
        </p:nvCxnSpPr>
        <p:spPr>
          <a:xfrm xmlns:a="http://schemas.openxmlformats.org/drawingml/2006/main">
            <a:off x="1819275" y="1971675"/>
            <a:ext cx="1619250" cy="0"/>
          </a:xfrm>
          <a:prstGeom xmlns:a="http://schemas.openxmlformats.org/drawingml/2006/main" prst="straightConnector1">
            <a:avLst/>
          </a:prstGeom>
          <a:ln xmlns:a="http://schemas.openxmlformats.org/drawingml/2006/main" w="19050">
            <a:solidFill>
              <a:srgbClr val="788692"/>
            </a:solidFill>
            <a:prstDash val="solid"/>
            <a:tailEnd type="arrow" w="med" len="med"/>
          </a:ln>
        </p:spPr>
      </p:cxnSp>
      <p:cxnSp>
        <p:nvCxnSpPr>
          <p:cNvPr id="50" name=""/>
          <p:cNvCxnSpPr>
            <a:stCxn xmlns:a="http://schemas.openxmlformats.org/drawingml/2006/main" id="7" idx="6"/>
            <a:endCxn xmlns:a="http://schemas.openxmlformats.org/drawingml/2006/main" id="10" idx="2"/>
          </p:cNvCxnSpPr>
          <p:nvPr/>
        </p:nvCxnSpPr>
        <p:spPr>
          <a:xfrm xmlns:a="http://schemas.openxmlformats.org/drawingml/2006/main">
            <a:off x="4029075" y="1971675"/>
            <a:ext cx="1619250" cy="0"/>
          </a:xfrm>
          <a:prstGeom xmlns:a="http://schemas.openxmlformats.org/drawingml/2006/main" prst="straightConnector1">
            <a:avLst/>
          </a:prstGeom>
          <a:ln xmlns:a="http://schemas.openxmlformats.org/drawingml/2006/main" w="19050">
            <a:solidFill>
              <a:srgbClr val="788692"/>
            </a:solidFill>
            <a:prstDash val="solid"/>
            <a:tailEnd type="arrow" w="med" len="med"/>
          </a:ln>
        </p:spPr>
      </p:cxnSp>
      <p:cxnSp>
        <p:nvCxnSpPr>
          <p:cNvPr id="51" name=""/>
          <p:cNvCxnSpPr>
            <a:stCxn xmlns:a="http://schemas.openxmlformats.org/drawingml/2006/main" id="10" idx="6"/>
            <a:endCxn xmlns:a="http://schemas.openxmlformats.org/drawingml/2006/main" id="13" idx="2"/>
          </p:cNvCxnSpPr>
          <p:nvPr/>
        </p:nvCxnSpPr>
        <p:spPr>
          <a:xfrm xmlns:a="http://schemas.openxmlformats.org/drawingml/2006/main">
            <a:off x="6238875" y="1971675"/>
            <a:ext cx="1619250" cy="0"/>
          </a:xfrm>
          <a:prstGeom xmlns:a="http://schemas.openxmlformats.org/drawingml/2006/main" prst="straightConnector1">
            <a:avLst/>
          </a:prstGeom>
          <a:ln xmlns:a="http://schemas.openxmlformats.org/drawingml/2006/main" w="19050">
            <a:solidFill>
              <a:srgbClr val="788692"/>
            </a:solidFill>
            <a:prstDash val="solid"/>
            <a:tailEnd type="arrow" w="med" len="med"/>
          </a:ln>
        </p:spPr>
      </p:cxnSp>
      <p:cxnSp>
        <p:nvCxnSpPr>
          <p:cNvPr id="52" name=""/>
          <p:cNvCxnSpPr>
            <a:stCxn xmlns:a="http://schemas.openxmlformats.org/drawingml/2006/main" id="13" idx="6"/>
            <a:endCxn xmlns:a="http://schemas.openxmlformats.org/drawingml/2006/main" id="16" idx="2"/>
          </p:cNvCxnSpPr>
          <p:nvPr/>
        </p:nvCxnSpPr>
        <p:spPr>
          <a:xfrm xmlns:a="http://schemas.openxmlformats.org/drawingml/2006/main">
            <a:off x="8448675" y="1971675"/>
            <a:ext cx="1619250" cy="0"/>
          </a:xfrm>
          <a:prstGeom xmlns:a="http://schemas.openxmlformats.org/drawingml/2006/main" prst="straightConnector1">
            <a:avLst/>
          </a:prstGeom>
          <a:ln xmlns:a="http://schemas.openxmlformats.org/drawingml/2006/main" w="19050">
            <a:solidFill>
              <a:srgbClr val="788692"/>
            </a:solidFill>
            <a:prstDash val="solid"/>
            <a:tailEnd type="arrow" w="med" len="med"/>
          </a:ln>
        </p:spPr>
      </p:cxnSp>
      <p:sp>
        <p:nvSpPr>
          <p:cNvPr id="23" name="">
            <a:extLst xmlns:a="http://schemas.openxmlformats.org/drawingml/2006/main">
              <a:ext uri="{FF2B5EF4-FFF2-40B4-BE49-F238E27FC236}">
                <a16:creationId xmlns:a16="http://schemas.microsoft.com/office/drawing/2014/main" id="{95C5B052-1CB3-4DFD-B4B9-717B0E8BF6AF}"/>
              </a:ext>
            </a:extLst>
          </p:cNvPr>
          <p:cNvSpPr>
            <a:spLocks xmlns:a="http://schemas.openxmlformats.org/drawingml/2006/main" noGrp="1"/>
          </p:cNvSpPr>
          <p:nvPr/>
        </p:nvSpPr>
        <p:spPr>
          <a:xfrm xmlns:a="http://schemas.openxmlformats.org/drawingml/2006/main">
            <a:off x="609600" y="41338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a:solidFill>
                  <a:srgbClr val="2F6F98"/>
                </a:solidFill>
                <a:latin typeface="Aptos"/>
                <a:ea typeface="Aptos"/>
                <a:cs typeface="Aptos"/>
              </a:defRPr>
            </a:pPr>
            <a:r>
              <a:rPr sz="1275" b="1">
                <a:solidFill>
                  <a:srgbClr val="2F6F98"/>
                </a:solidFill>
                <a:latin typeface="Aptos"/>
                <a:ea typeface="Aptos"/>
                <a:cs typeface="Aptos"/>
              </a:rPr>
              <a:t>Constant visual anchor</a:t>
            </a:r>
          </a:p>
        </p:txBody>
      </p:sp>
      <p:sp>
        <p:nvSpPr>
          <p:cNvPr id="24" name="">
            <a:extLst xmlns:a="http://schemas.openxmlformats.org/drawingml/2006/main">
              <a:ext uri="{FF2B5EF4-FFF2-40B4-BE49-F238E27FC236}">
                <a16:creationId xmlns:a16="http://schemas.microsoft.com/office/drawing/2014/main" id="{630AFB15-D6FE-40FA-9401-526957210862}"/>
              </a:ext>
            </a:extLst>
          </p:cNvPr>
          <p:cNvSpPr>
            <a:spLocks xmlns:a="http://schemas.openxmlformats.org/drawingml/2006/main" noGrp="1"/>
          </p:cNvSpPr>
          <p:nvPr/>
        </p:nvSpPr>
        <p:spPr>
          <a:xfrm xmlns:a="http://schemas.openxmlformats.org/drawingml/2006/main">
            <a:off x="2857500" y="4133850"/>
            <a:ext cx="828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132"/>
          </a:bodyPr>
          <a:lstStyle xmlns:a="http://schemas.openxmlformats.org/drawingml/2006/main"/>
          <a:p xmlns:a="http://schemas.openxmlformats.org/drawingml/2006/main">
            <a:pPr algn="l">
              <a:lnSpc>
                <a:spcPct val="108000"/>
              </a:lnSpc>
              <a:buNone/>
              <a:defRPr sz="1500" b="0">
                <a:solidFill>
                  <a:srgbClr val="17212B"/>
                </a:solidFill>
                <a:latin typeface="Aptos"/>
                <a:ea typeface="Aptos"/>
                <a:cs typeface="Aptos"/>
              </a:defRPr>
            </a:pPr>
            <a:r>
              <a:rPr sz="1500" b="0">
                <a:solidFill>
                  <a:srgbClr val="17212B"/>
                </a:solidFill>
                <a:latin typeface="Aptos"/>
                <a:ea typeface="Aptos"/>
                <a:cs typeface="Aptos"/>
              </a:rPr>
              <a:t>The same CARLA vehicle, route and controlled hard-braking event are replayed across the graphs.</a:t>
            </a:r>
          </a:p>
        </p:txBody>
      </p:sp>
      <p:sp>
        <p:nvSpPr>
          <p:cNvPr id="25" name="">
            <a:extLst xmlns:a="http://schemas.openxmlformats.org/drawingml/2006/main">
              <a:ext uri="{FF2B5EF4-FFF2-40B4-BE49-F238E27FC236}">
                <a16:creationId xmlns:a16="http://schemas.microsoft.com/office/drawing/2014/main" id="{78012BB6-DDF8-4712-A0EA-110CC48C557F}"/>
              </a:ext>
            </a:extLst>
          </p:cNvPr>
          <p:cNvSpPr>
            <a:spLocks xmlns:a="http://schemas.openxmlformats.org/drawingml/2006/main" noGrp="1"/>
          </p:cNvSpPr>
          <p:nvPr/>
        </p:nvSpPr>
        <p:spPr>
          <a:xfrm xmlns:a="http://schemas.openxmlformats.org/drawingml/2006/main">
            <a:off x="609600" y="4705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a:solidFill>
                  <a:srgbClr val="6C55A3"/>
                </a:solidFill>
                <a:latin typeface="Aptos"/>
                <a:ea typeface="Aptos"/>
                <a:cs typeface="Aptos"/>
              </a:defRPr>
            </a:pPr>
            <a:r>
              <a:rPr sz="1275" b="1">
                <a:solidFill>
                  <a:srgbClr val="6C55A3"/>
                </a:solidFill>
                <a:latin typeface="Aptos"/>
                <a:ea typeface="Aptos"/>
                <a:cs typeface="Aptos"/>
              </a:rPr>
              <a:t>Controlled change</a:t>
            </a:r>
          </a:p>
        </p:txBody>
      </p:sp>
      <p:sp>
        <p:nvSpPr>
          <p:cNvPr id="26" name="">
            <a:extLst xmlns:a="http://schemas.openxmlformats.org/drawingml/2006/main">
              <a:ext uri="{FF2B5EF4-FFF2-40B4-BE49-F238E27FC236}">
                <a16:creationId xmlns:a16="http://schemas.microsoft.com/office/drawing/2014/main" id="{3474AA2D-B87C-443A-9C64-38D9674E90AD}"/>
              </a:ext>
            </a:extLst>
          </p:cNvPr>
          <p:cNvSpPr>
            <a:spLocks xmlns:a="http://schemas.openxmlformats.org/drawingml/2006/main" noGrp="1"/>
          </p:cNvSpPr>
          <p:nvPr/>
        </p:nvSpPr>
        <p:spPr>
          <a:xfrm xmlns:a="http://schemas.openxmlformats.org/drawingml/2006/main">
            <a:off x="2857500" y="4705350"/>
            <a:ext cx="828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735"/>
          </a:bodyPr>
          <a:lstStyle xmlns:a="http://schemas.openxmlformats.org/drawingml/2006/main"/>
          <a:p xmlns:a="http://schemas.openxmlformats.org/drawingml/2006/main">
            <a:pPr algn="l">
              <a:lnSpc>
                <a:spcPct val="108000"/>
              </a:lnSpc>
              <a:buNone/>
              <a:defRPr sz="1500" b="0">
                <a:solidFill>
                  <a:srgbClr val="17212B"/>
                </a:solidFill>
                <a:latin typeface="Aptos"/>
                <a:ea typeface="Aptos"/>
                <a:cs typeface="Aptos"/>
              </a:defRPr>
            </a:pPr>
            <a:r>
              <a:rPr sz="1500" b="0">
                <a:solidFill>
                  <a:srgbClr val="17212B"/>
                </a:solidFill>
                <a:latin typeface="Aptos"/>
                <a:ea typeface="Aptos"/>
                <a:cs typeface="Aptos"/>
              </a:rPr>
              <a:t>Only the accepted provider/service graph changes, so new observations can be attributed to the deployed capability.</a:t>
            </a:r>
          </a:p>
        </p:txBody>
      </p:sp>
      <p:sp>
        <p:nvSpPr>
          <p:cNvPr id="27" name="">
            <a:extLst xmlns:a="http://schemas.openxmlformats.org/drawingml/2006/main">
              <a:ext uri="{FF2B5EF4-FFF2-40B4-BE49-F238E27FC236}">
                <a16:creationId xmlns:a16="http://schemas.microsoft.com/office/drawing/2014/main" id="{53E2C6A4-8530-4F1E-86B1-F1D197A6B1FE}"/>
              </a:ext>
            </a:extLst>
          </p:cNvPr>
          <p:cNvSpPr>
            <a:spLocks xmlns:a="http://schemas.openxmlformats.org/drawingml/2006/main" noGrp="1"/>
          </p:cNvSpPr>
          <p:nvPr/>
        </p:nvSpPr>
        <p:spPr>
          <a:xfrm xmlns:a="http://schemas.openxmlformats.org/drawingml/2006/main">
            <a:off x="609600" y="53911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a:solidFill>
                  <a:srgbClr val="C76724"/>
                </a:solidFill>
                <a:latin typeface="Aptos"/>
                <a:ea typeface="Aptos"/>
                <a:cs typeface="Aptos"/>
              </a:defRPr>
            </a:pPr>
            <a:r>
              <a:rPr sz="1275" b="1">
                <a:solidFill>
                  <a:srgbClr val="C76724"/>
                </a:solidFill>
                <a:latin typeface="Aptos"/>
                <a:ea typeface="Aptos"/>
                <a:cs typeface="Aptos"/>
              </a:rPr>
              <a:t>Live-demo rule</a:t>
            </a:r>
          </a:p>
        </p:txBody>
      </p:sp>
      <p:sp>
        <p:nvSpPr>
          <p:cNvPr id="28" name="">
            <a:extLst xmlns:a="http://schemas.openxmlformats.org/drawingml/2006/main">
              <a:ext uri="{FF2B5EF4-FFF2-40B4-BE49-F238E27FC236}">
                <a16:creationId xmlns:a16="http://schemas.microsoft.com/office/drawing/2014/main" id="{AD2ABD4D-454E-4EAF-99FF-85C09326CB5D}"/>
              </a:ext>
            </a:extLst>
          </p:cNvPr>
          <p:cNvSpPr>
            <a:spLocks xmlns:a="http://schemas.openxmlformats.org/drawingml/2006/main" noGrp="1"/>
          </p:cNvSpPr>
          <p:nvPr/>
        </p:nvSpPr>
        <p:spPr>
          <a:xfrm xmlns:a="http://schemas.openxmlformats.org/drawingml/2006/main">
            <a:off x="2857500" y="5391150"/>
            <a:ext cx="828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735"/>
          </a:bodyPr>
          <a:lstStyle xmlns:a="http://schemas.openxmlformats.org/drawingml/2006/main"/>
          <a:p xmlns:a="http://schemas.openxmlformats.org/drawingml/2006/main">
            <a:pPr algn="l">
              <a:lnSpc>
                <a:spcPct val="108000"/>
              </a:lnSpc>
              <a:buNone/>
              <a:defRPr sz="1500" b="0">
                <a:solidFill>
                  <a:srgbClr val="17212B"/>
                </a:solidFill>
                <a:latin typeface="Aptos"/>
                <a:ea typeface="Aptos"/>
                <a:cs typeface="Aptos"/>
              </a:defRPr>
            </a:pPr>
            <a:r>
              <a:rPr sz="1500" b="0">
                <a:solidFill>
                  <a:srgbClr val="17212B"/>
                </a:solidFill>
                <a:latin typeface="Aptos"/>
                <a:ea typeface="Aptos"/>
                <a:cs typeface="Aptos"/>
              </a:rPr>
              <a:t>Builds, signing, training and Cloud uploads happen beforehand; the meeting shows deployment, validation and behavior.</a:t>
            </a:r>
          </a:p>
        </p:txBody>
      </p:sp>
      <p:sp>
        <p:nvSpPr>
          <p:cNvPr id="29" name="">
            <a:extLst xmlns:a="http://schemas.openxmlformats.org/drawingml/2006/main">
              <a:ext uri="{FF2B5EF4-FFF2-40B4-BE49-F238E27FC236}">
                <a16:creationId xmlns:a16="http://schemas.microsoft.com/office/drawing/2014/main" id="{174D4AE9-8334-4811-BD68-BD5372BDC39B}"/>
              </a:ext>
            </a:extLst>
          </p:cNvPr>
          <p:cNvSpPr>
            <a:spLocks xmlns:a="http://schemas.openxmlformats.org/drawingml/2006/main" noGrp="1"/>
          </p:cNvSpPr>
          <p:nvPr/>
        </p:nvSpPr>
        <p:spPr>
          <a:xfrm xmlns:a="http://schemas.openxmlformats.org/drawingml/2006/main">
            <a:off x="609600" y="65341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825" b="1">
                <a:solidFill>
                  <a:srgbClr val="5E6A76"/>
                </a:solidFill>
                <a:latin typeface="Aptos"/>
                <a:ea typeface="Aptos"/>
                <a:cs typeface="Aptos"/>
              </a:defRPr>
            </a:pPr>
            <a:r>
              <a:rPr sz="825" b="1">
                <a:solidFill>
                  <a:srgbClr val="5E6A76"/>
                </a:solidFill>
                <a:latin typeface="Aptos"/>
                <a:ea typeface="Aptos"/>
                <a:cs typeface="Aptos"/>
              </a:rPr>
              <a:t>DISCUSSION DRAFT 0.1</a:t>
            </a:r>
          </a:p>
        </p:txBody>
      </p:sp>
      <p:sp>
        <p:nvSpPr>
          <p:cNvPr id="30" name="">
            <a:extLst xmlns:a="http://schemas.openxmlformats.org/drawingml/2006/main">
              <a:ext uri="{FF2B5EF4-FFF2-40B4-BE49-F238E27FC236}">
                <a16:creationId xmlns:a16="http://schemas.microsoft.com/office/drawing/2014/main" id="{22CC0BA9-AEAE-4588-8621-E384A2C3F69E}"/>
              </a:ext>
            </a:extLst>
          </p:cNvPr>
          <p:cNvSpPr>
            <a:spLocks xmlns:a="http://schemas.openxmlformats.org/drawingml/2006/main" noGrp="1"/>
          </p:cNvSpPr>
          <p:nvPr/>
        </p:nvSpPr>
        <p:spPr>
          <a:xfrm xmlns:a="http://schemas.openxmlformats.org/drawingml/2006/main">
            <a:off x="112014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00" b="0">
                <a:solidFill>
                  <a:srgbClr val="5E6A76"/>
                </a:solidFill>
                <a:latin typeface="Aptos"/>
                <a:ea typeface="Aptos"/>
                <a:cs typeface="Aptos"/>
              </a:defRPr>
            </a:pPr>
            <a:r>
              <a:rPr sz="900" b="0">
                <a:solidFill>
                  <a:srgbClr val="5E6A76"/>
                </a:solidFill>
                <a:latin typeface="Aptos"/>
                <a:ea typeface="Aptos"/>
                <a:cs typeface="Aptos"/>
              </a:rPr>
              <a:t>5</a:t>
            </a:r>
          </a:p>
        </p:txBody>
      </p:sp>
    </p:spTree>
    <p:extLst>
      <p:ext uri="{BB962C8B-B14F-4D97-AF65-F5344CB8AC3E}">
        <p14:creationId xmlns:p14="http://schemas.microsoft.com/office/powerpoint/2010/main" val="191504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ection-6">
            <a:extLst xmlns:a="http://schemas.openxmlformats.org/drawingml/2006/main">
              <a:ext uri="{FF2B5EF4-FFF2-40B4-BE49-F238E27FC236}">
                <a16:creationId xmlns:a16="http://schemas.microsoft.com/office/drawing/2014/main" id="{E737252A-5283-4F27-B378-396C12BB62A2}"/>
              </a:ext>
            </a:extLst>
          </p:cNvPr>
          <p:cNvSpPr>
            <a:spLocks xmlns:a="http://schemas.openxmlformats.org/drawingml/2006/main" noGrp="1"/>
          </p:cNvSpPr>
          <p:nvPr/>
        </p:nvSpPr>
        <p:spPr>
          <a:xfrm xmlns:a="http://schemas.openxmlformats.org/drawingml/2006/main">
            <a:off x="609600" y="3238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a:solidFill>
                  <a:srgbClr val="2F6F98"/>
                </a:solidFill>
                <a:latin typeface="Aptos"/>
                <a:ea typeface="Aptos"/>
                <a:cs typeface="Aptos"/>
              </a:defRPr>
            </a:pPr>
            <a:r>
              <a:rPr sz="975" b="1">
                <a:solidFill>
                  <a:srgbClr val="2F6F98"/>
                </a:solidFill>
                <a:latin typeface="Aptos"/>
                <a:ea typeface="Aptos"/>
                <a:cs typeface="Aptos"/>
              </a:rPr>
              <a:t>G0 → G1 → G2</a:t>
            </a:r>
          </a:p>
        </p:txBody>
      </p:sp>
      <p:sp>
        <p:nvSpPr>
          <p:cNvPr id="2" name="title-6">
            <a:extLst xmlns:a="http://schemas.openxmlformats.org/drawingml/2006/main">
              <a:ext uri="{FF2B5EF4-FFF2-40B4-BE49-F238E27FC236}">
                <a16:creationId xmlns:a16="http://schemas.microsoft.com/office/drawing/2014/main" id="{96E21E32-153D-4BD7-A9A3-ED4685C33275}"/>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850" b="1">
                <a:solidFill>
                  <a:srgbClr val="17212B"/>
                </a:solidFill>
                <a:latin typeface="Aptos"/>
                <a:ea typeface="Aptos"/>
                <a:cs typeface="Aptos"/>
              </a:defRPr>
            </a:pPr>
            <a:r>
              <a:rPr sz="2850" b="1">
                <a:solidFill>
                  <a:srgbClr val="17212B"/>
                </a:solidFill>
                <a:latin typeface="Aptos"/>
                <a:ea typeface="Aptos"/>
                <a:cs typeface="Aptos"/>
              </a:rPr>
              <a:t>The first release loop separates platform from service value</a:t>
            </a:r>
          </a:p>
        </p:txBody>
      </p:sp>
      <p:sp>
        <p:nvSpPr>
          <p:cNvPr id="3" name="">
            <a:extLst xmlns:a="http://schemas.openxmlformats.org/drawingml/2006/main">
              <a:ext uri="{FF2B5EF4-FFF2-40B4-BE49-F238E27FC236}">
                <a16:creationId xmlns:a16="http://schemas.microsoft.com/office/drawing/2014/main" id="{9FE80D49-BD39-4672-8FD9-5F8A0A4B0C9E}"/>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B9C3CC"/>
            </a:solidFill>
            <a:prstDash val="solid"/>
          </a:ln>
        </p:spPr>
      </p:sp>
      <p:sp>
        <p:nvSpPr>
          <p:cNvPr id="4" name="">
            <a:extLst xmlns:a="http://schemas.openxmlformats.org/drawingml/2006/main">
              <a:ext uri="{FF2B5EF4-FFF2-40B4-BE49-F238E27FC236}">
                <a16:creationId xmlns:a16="http://schemas.microsoft.com/office/drawing/2014/main" id="{14A02CDD-50F4-4DA9-8665-FC2D05812EB5}"/>
              </a:ext>
            </a:extLst>
          </p:cNvPr>
          <p:cNvSpPr>
            <a:spLocks xmlns:a="http://schemas.openxmlformats.org/drawingml/2006/main" noGrp="1"/>
          </p:cNvSpPr>
          <p:nvPr/>
        </p:nvSpPr>
        <p:spPr>
          <a:xfrm xmlns:a="http://schemas.openxmlformats.org/drawingml/2006/main">
            <a:off x="609600" y="1866900"/>
            <a:ext cx="2667000" cy="1123950"/>
          </a:xfrm>
          <a:prstGeom xmlns:a="http://schemas.openxmlformats.org/drawingml/2006/main" prst="roundRect">
            <a:avLst>
              <a:gd name="adj" fmla="val 8475"/>
            </a:avLst>
          </a:prstGeom>
          <a:solidFill xmlns:a="http://schemas.openxmlformats.org/drawingml/2006/main">
            <a:srgbClr val="F0ECF8"/>
          </a:solidFill>
          <a:ln xmlns:a="http://schemas.openxmlformats.org/drawingml/2006/main" w="17145">
            <a:solidFill>
              <a:srgbClr val="6C55A3"/>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575" b="1">
                <a:solidFill>
                  <a:srgbClr val="17212B"/>
                </a:solidFill>
                <a:latin typeface="Aptos"/>
                <a:ea typeface="Aptos"/>
                <a:cs typeface="Aptos"/>
              </a:defRPr>
            </a:pPr>
            <a:r>
              <a:rPr sz="1575" b="1">
                <a:solidFill>
                  <a:srgbClr val="17212B"/>
                </a:solidFill>
                <a:latin typeface="Aptos"/>
                <a:ea typeface="Aptos"/>
                <a:cs typeface="Aptos"/>
              </a:rPr>
              <a:t>G0</a:t>
            </a:r>
          </a:p>
          <a:p xmlns:a="http://schemas.openxmlformats.org/drawingml/2006/main">
            <a:pPr algn="ctr">
              <a:lnSpc>
                <a:spcPct val="104000"/>
              </a:lnSpc>
              <a:buNone/>
              <a:defRPr sz="1575" b="1">
                <a:solidFill>
                  <a:srgbClr val="17212B"/>
                </a:solidFill>
                <a:latin typeface="Aptos"/>
                <a:ea typeface="Aptos"/>
                <a:cs typeface="Aptos"/>
              </a:defRPr>
            </a:pPr>
            <a:r>
              <a:rPr sz="1575" b="1">
                <a:solidFill>
                  <a:srgbClr val="17212B"/>
                </a:solidFill>
                <a:latin typeface="Aptos"/>
                <a:ea typeface="Aptos"/>
                <a:cs typeface="Aptos"/>
              </a:rPr>
              <a:t>Vehicle + Gateway + AosEdge substrate</a:t>
            </a:r>
          </a:p>
        </p:txBody>
      </p:sp>
      <p:sp>
        <p:nvSpPr>
          <p:cNvPr id="5" name="">
            <a:extLst xmlns:a="http://schemas.openxmlformats.org/drawingml/2006/main">
              <a:ext uri="{FF2B5EF4-FFF2-40B4-BE49-F238E27FC236}">
                <a16:creationId xmlns:a16="http://schemas.microsoft.com/office/drawing/2014/main" id="{15AC10B7-5B86-4AB3-AA1B-A6E8B7B2E7C4}"/>
              </a:ext>
            </a:extLst>
          </p:cNvPr>
          <p:cNvSpPr>
            <a:spLocks xmlns:a="http://schemas.openxmlformats.org/drawingml/2006/main" noGrp="1"/>
          </p:cNvSpPr>
          <p:nvPr/>
        </p:nvSpPr>
        <p:spPr>
          <a:xfrm xmlns:a="http://schemas.openxmlformats.org/drawingml/2006/main">
            <a:off x="3829050" y="1866900"/>
            <a:ext cx="2247900" cy="1123950"/>
          </a:xfrm>
          <a:prstGeom xmlns:a="http://schemas.openxmlformats.org/drawingml/2006/main" prst="roundRect">
            <a:avLst>
              <a:gd name="adj" fmla="val 8475"/>
            </a:avLst>
          </a:prstGeom>
          <a:solidFill xmlns:a="http://schemas.openxmlformats.org/drawingml/2006/main">
            <a:srgbClr val="E5F4F0"/>
          </a:solidFill>
          <a:ln xmlns:a="http://schemas.openxmlformats.org/drawingml/2006/main" w="17145">
            <a:solidFill>
              <a:srgbClr val="14806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575" b="1">
                <a:solidFill>
                  <a:srgbClr val="17212B"/>
                </a:solidFill>
                <a:latin typeface="Aptos"/>
                <a:ea typeface="Aptos"/>
                <a:cs typeface="Aptos"/>
              </a:defRPr>
            </a:pPr>
            <a:r>
              <a:rPr sz="1575" b="1">
                <a:solidFill>
                  <a:srgbClr val="17212B"/>
                </a:solidFill>
                <a:latin typeface="Aptos"/>
                <a:ea typeface="Aptos"/>
                <a:cs typeface="Aptos"/>
              </a:rPr>
              <a:t>G1</a:t>
            </a:r>
          </a:p>
          <a:p xmlns:a="http://schemas.openxmlformats.org/drawingml/2006/main">
            <a:pPr algn="ctr">
              <a:lnSpc>
                <a:spcPct val="104000"/>
              </a:lnSpc>
              <a:buNone/>
              <a:defRPr sz="1575" b="1">
                <a:solidFill>
                  <a:srgbClr val="17212B"/>
                </a:solidFill>
                <a:latin typeface="Aptos"/>
                <a:ea typeface="Aptos"/>
                <a:cs typeface="Aptos"/>
              </a:defRPr>
            </a:pPr>
            <a:r>
              <a:rPr sz="1575" b="1">
                <a:solidFill>
                  <a:srgbClr val="17212B"/>
                </a:solidFill>
                <a:latin typeface="Aptos"/>
                <a:ea typeface="Aptos"/>
                <a:cs typeface="Aptos"/>
              </a:rPr>
              <a:t>FOTA Provider v1</a:t>
            </a:r>
          </a:p>
        </p:txBody>
      </p:sp>
      <p:sp>
        <p:nvSpPr>
          <p:cNvPr id="6" name="">
            <a:extLst xmlns:a="http://schemas.openxmlformats.org/drawingml/2006/main">
              <a:ext uri="{FF2B5EF4-FFF2-40B4-BE49-F238E27FC236}">
                <a16:creationId xmlns:a16="http://schemas.microsoft.com/office/drawing/2014/main" id="{9727292E-EA9B-4886-BB1C-2AAF40EAB05D}"/>
              </a:ext>
            </a:extLst>
          </p:cNvPr>
          <p:cNvSpPr>
            <a:spLocks xmlns:a="http://schemas.openxmlformats.org/drawingml/2006/main" noGrp="1"/>
          </p:cNvSpPr>
          <p:nvPr/>
        </p:nvSpPr>
        <p:spPr>
          <a:xfrm xmlns:a="http://schemas.openxmlformats.org/drawingml/2006/main">
            <a:off x="6629400" y="1866900"/>
            <a:ext cx="2247900" cy="1123950"/>
          </a:xfrm>
          <a:prstGeom xmlns:a="http://schemas.openxmlformats.org/drawingml/2006/main" prst="roundRect">
            <a:avLst>
              <a:gd name="adj" fmla="val 8475"/>
            </a:avLst>
          </a:prstGeom>
          <a:solidFill xmlns:a="http://schemas.openxmlformats.org/drawingml/2006/main">
            <a:srgbClr val="FFF0E5"/>
          </a:solidFill>
          <a:ln xmlns:a="http://schemas.openxmlformats.org/drawingml/2006/main" w="17145">
            <a:solidFill>
              <a:srgbClr val="C7672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575" b="1">
                <a:solidFill>
                  <a:srgbClr val="17212B"/>
                </a:solidFill>
                <a:latin typeface="Aptos"/>
                <a:ea typeface="Aptos"/>
                <a:cs typeface="Aptos"/>
              </a:defRPr>
            </a:pPr>
            <a:r>
              <a:rPr sz="1575" b="1">
                <a:solidFill>
                  <a:srgbClr val="17212B"/>
                </a:solidFill>
                <a:latin typeface="Aptos"/>
                <a:ea typeface="Aptos"/>
                <a:cs typeface="Aptos"/>
              </a:rPr>
              <a:t>G2</a:t>
            </a:r>
          </a:p>
          <a:p xmlns:a="http://schemas.openxmlformats.org/drawingml/2006/main">
            <a:pPr algn="ctr">
              <a:lnSpc>
                <a:spcPct val="104000"/>
              </a:lnSpc>
              <a:buNone/>
              <a:defRPr sz="1575" b="1">
                <a:solidFill>
                  <a:srgbClr val="17212B"/>
                </a:solidFill>
                <a:latin typeface="Aptos"/>
                <a:ea typeface="Aptos"/>
                <a:cs typeface="Aptos"/>
              </a:defRPr>
            </a:pPr>
            <a:r>
              <a:rPr sz="1575" b="1">
                <a:solidFill>
                  <a:srgbClr val="17212B"/>
                </a:solidFill>
                <a:latin typeface="Aptos"/>
                <a:ea typeface="Aptos"/>
                <a:cs typeface="Aptos"/>
              </a:rPr>
              <a:t>SOTA Service v1</a:t>
            </a:r>
          </a:p>
        </p:txBody>
      </p:sp>
      <p:sp>
        <p:nvSpPr>
          <p:cNvPr id="7" name="">
            <a:extLst xmlns:a="http://schemas.openxmlformats.org/drawingml/2006/main">
              <a:ext uri="{FF2B5EF4-FFF2-40B4-BE49-F238E27FC236}">
                <a16:creationId xmlns:a16="http://schemas.microsoft.com/office/drawing/2014/main" id="{7B1A1056-2408-4803-B470-46FE17594AE0}"/>
              </a:ext>
            </a:extLst>
          </p:cNvPr>
          <p:cNvSpPr>
            <a:spLocks xmlns:a="http://schemas.openxmlformats.org/drawingml/2006/main" noGrp="1"/>
          </p:cNvSpPr>
          <p:nvPr/>
        </p:nvSpPr>
        <p:spPr>
          <a:xfrm xmlns:a="http://schemas.openxmlformats.org/drawingml/2006/main">
            <a:off x="9429750" y="1866900"/>
            <a:ext cx="215265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4288">
            <a:solidFill>
              <a:srgbClr val="C7672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350" b="1">
                <a:solidFill>
                  <a:srgbClr val="17212B"/>
                </a:solidFill>
                <a:latin typeface="Aptos"/>
                <a:ea typeface="Aptos"/>
                <a:cs typeface="Aptos"/>
              </a:defRPr>
            </a:pPr>
            <a:r>
              <a:rPr sz="1350" b="1">
                <a:solidFill>
                  <a:srgbClr val="17212B"/>
                </a:solidFill>
                <a:latin typeface="Aptos"/>
                <a:ea typeface="Aptos"/>
                <a:cs typeface="Aptos"/>
              </a:rPr>
              <a:t>Function Dashboard</a:t>
            </a:r>
          </a:p>
          <a:p xmlns:a="http://schemas.openxmlformats.org/drawingml/2006/main">
            <a:pPr algn="ctr">
              <a:lnSpc>
                <a:spcPct val="104000"/>
              </a:lnSpc>
              <a:buNone/>
              <a:defRPr sz="1350" b="1">
                <a:solidFill>
                  <a:srgbClr val="17212B"/>
                </a:solidFill>
                <a:latin typeface="Aptos"/>
                <a:ea typeface="Aptos"/>
                <a:cs typeface="Aptos"/>
              </a:defRPr>
            </a:pPr>
            <a:r>
              <a:rPr sz="1350" b="1">
                <a:solidFill>
                  <a:srgbClr val="17212B"/>
                </a:solidFill>
                <a:latin typeface="Aptos"/>
                <a:ea typeface="Aptos"/>
                <a:cs typeface="Aptos"/>
              </a:rPr>
              <a:t>selected telemetry + freshness</a:t>
            </a:r>
          </a:p>
        </p:txBody>
      </p:sp>
      <p:cxnSp>
        <p:nvCxnSpPr>
          <p:cNvPr id="27" name=""/>
          <p:cNvCxnSpPr>
            <a:stCxn xmlns:a="http://schemas.openxmlformats.org/drawingml/2006/main" id="4" idx="3"/>
            <a:endCxn xmlns:a="http://schemas.openxmlformats.org/drawingml/2006/main" id="5" idx="1"/>
          </p:cNvCxnSpPr>
          <p:nvPr/>
        </p:nvCxnSpPr>
        <p:spPr>
          <a:xfrm xmlns:a="http://schemas.openxmlformats.org/drawingml/2006/main">
            <a:off x="3276600" y="2428875"/>
            <a:ext cx="552450" cy="0"/>
          </a:xfrm>
          <a:prstGeom xmlns:a="http://schemas.openxmlformats.org/drawingml/2006/main" prst="straightConnector1">
            <a:avLst/>
          </a:prstGeom>
          <a:ln xmlns:a="http://schemas.openxmlformats.org/drawingml/2006/main" w="21908">
            <a:solidFill>
              <a:srgbClr val="14806F"/>
            </a:solidFill>
            <a:prstDash val="solid"/>
            <a:tailEnd type="arrow" w="med" len="med"/>
          </a:ln>
        </p:spPr>
      </p:cxnSp>
      <p:cxnSp>
        <p:nvCxnSpPr>
          <p:cNvPr id="28" name=""/>
          <p:cNvCxnSpPr>
            <a:stCxn xmlns:a="http://schemas.openxmlformats.org/drawingml/2006/main" id="5" idx="3"/>
            <a:endCxn xmlns:a="http://schemas.openxmlformats.org/drawingml/2006/main" id="6" idx="1"/>
          </p:cNvCxnSpPr>
          <p:nvPr/>
        </p:nvCxnSpPr>
        <p:spPr>
          <a:xfrm xmlns:a="http://schemas.openxmlformats.org/drawingml/2006/main">
            <a:off x="6076950" y="2428875"/>
            <a:ext cx="552450" cy="0"/>
          </a:xfrm>
          <a:prstGeom xmlns:a="http://schemas.openxmlformats.org/drawingml/2006/main" prst="straightConnector1">
            <a:avLst/>
          </a:prstGeom>
          <a:ln xmlns:a="http://schemas.openxmlformats.org/drawingml/2006/main" w="21908">
            <a:solidFill>
              <a:srgbClr val="C76724"/>
            </a:solidFill>
            <a:prstDash val="solid"/>
            <a:tailEnd type="arrow" w="med" len="med"/>
          </a:ln>
        </p:spPr>
      </p:cxnSp>
      <p:cxnSp>
        <p:nvCxnSpPr>
          <p:cNvPr id="29" name=""/>
          <p:cNvCxnSpPr>
            <a:stCxn xmlns:a="http://schemas.openxmlformats.org/drawingml/2006/main" id="6" idx="3"/>
            <a:endCxn xmlns:a="http://schemas.openxmlformats.org/drawingml/2006/main" id="7" idx="1"/>
          </p:cNvCxnSpPr>
          <p:nvPr/>
        </p:nvCxnSpPr>
        <p:spPr>
          <a:xfrm xmlns:a="http://schemas.openxmlformats.org/drawingml/2006/main">
            <a:off x="8877300" y="2428875"/>
            <a:ext cx="552450" cy="0"/>
          </a:xfrm>
          <a:prstGeom xmlns:a="http://schemas.openxmlformats.org/drawingml/2006/main" prst="straightConnector1">
            <a:avLst/>
          </a:prstGeom>
          <a:ln xmlns:a="http://schemas.openxmlformats.org/drawingml/2006/main" w="21908">
            <a:solidFill>
              <a:srgbClr val="C76724"/>
            </a:solidFill>
            <a:prstDash val="solid"/>
            <a:tailEnd type="arrow" w="med" len="med"/>
          </a:ln>
        </p:spPr>
      </p:cxnSp>
      <p:sp>
        <p:nvSpPr>
          <p:cNvPr id="11" name="">
            <a:extLst xmlns:a="http://schemas.openxmlformats.org/drawingml/2006/main">
              <a:ext uri="{FF2B5EF4-FFF2-40B4-BE49-F238E27FC236}">
                <a16:creationId xmlns:a16="http://schemas.microsoft.com/office/drawing/2014/main" id="{A13B6E92-CDEB-4D43-B270-620B2D82C407}"/>
              </a:ext>
            </a:extLst>
          </p:cNvPr>
          <p:cNvSpPr>
            <a:spLocks xmlns:a="http://schemas.openxmlformats.org/drawingml/2006/main" noGrp="1"/>
          </p:cNvSpPr>
          <p:nvPr/>
        </p:nvSpPr>
        <p:spPr>
          <a:xfrm xmlns:a="http://schemas.openxmlformats.org/drawingml/2006/main">
            <a:off x="609600" y="34861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a:solidFill>
                  <a:srgbClr val="17212B"/>
                </a:solidFill>
                <a:latin typeface="Aptos"/>
                <a:ea typeface="Aptos"/>
                <a:cs typeface="Aptos"/>
              </a:defRPr>
            </a:pPr>
            <a:r>
              <a:rPr sz="1275" b="1">
                <a:solidFill>
                  <a:srgbClr val="17212B"/>
                </a:solidFill>
                <a:latin typeface="Aptos"/>
                <a:ea typeface="Aptos"/>
                <a:cs typeface="Aptos"/>
              </a:rPr>
              <a:t>What changes</a:t>
            </a:r>
          </a:p>
        </p:txBody>
      </p:sp>
      <p:sp>
        <p:nvSpPr>
          <p:cNvPr id="12" name="">
            <a:extLst xmlns:a="http://schemas.openxmlformats.org/drawingml/2006/main">
              <a:ext uri="{FF2B5EF4-FFF2-40B4-BE49-F238E27FC236}">
                <a16:creationId xmlns:a16="http://schemas.microsoft.com/office/drawing/2014/main" id="{B465A668-5FDB-4E9C-9E34-7CE5EF4F65CE}"/>
              </a:ext>
            </a:extLst>
          </p:cNvPr>
          <p:cNvSpPr>
            <a:spLocks xmlns:a="http://schemas.openxmlformats.org/drawingml/2006/main" noGrp="1"/>
          </p:cNvSpPr>
          <p:nvPr/>
        </p:nvSpPr>
        <p:spPr>
          <a:xfrm xmlns:a="http://schemas.openxmlformats.org/drawingml/2006/main">
            <a:off x="609600" y="38862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E6A76"/>
                </a:solidFill>
                <a:latin typeface="Aptos"/>
                <a:ea typeface="Aptos"/>
                <a:cs typeface="Aptos"/>
              </a:defRPr>
            </a:pPr>
            <a:r>
              <a:rPr sz="1425" b="0">
                <a:solidFill>
                  <a:srgbClr val="5E6A76"/>
                </a:solidFill>
                <a:latin typeface="Aptos"/>
                <a:ea typeface="Aptos"/>
                <a:cs typeface="Aptos"/>
              </a:rPr>
              <a:t>Nothing feature-specific</a:t>
            </a:r>
          </a:p>
        </p:txBody>
      </p:sp>
      <p:sp>
        <p:nvSpPr>
          <p:cNvPr id="13" name="">
            <a:extLst xmlns:a="http://schemas.openxmlformats.org/drawingml/2006/main">
              <a:ext uri="{FF2B5EF4-FFF2-40B4-BE49-F238E27FC236}">
                <a16:creationId xmlns:a16="http://schemas.microsoft.com/office/drawing/2014/main" id="{8735F05E-38B6-4B0A-A529-6157B9C73279}"/>
              </a:ext>
            </a:extLst>
          </p:cNvPr>
          <p:cNvSpPr>
            <a:spLocks xmlns:a="http://schemas.openxmlformats.org/drawingml/2006/main" noGrp="1"/>
          </p:cNvSpPr>
          <p:nvPr/>
        </p:nvSpPr>
        <p:spPr>
          <a:xfrm xmlns:a="http://schemas.openxmlformats.org/drawingml/2006/main">
            <a:off x="3829050" y="3848100"/>
            <a:ext cx="2247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a:solidFill>
                  <a:srgbClr val="14806F"/>
                </a:solidFill>
                <a:latin typeface="Aptos"/>
                <a:ea typeface="Aptos"/>
                <a:cs typeface="Aptos"/>
              </a:defRPr>
            </a:pPr>
            <a:r>
              <a:rPr sz="1425" b="1">
                <a:solidFill>
                  <a:srgbClr val="14806F"/>
                </a:solidFill>
                <a:latin typeface="Aptos"/>
                <a:ea typeface="Aptos"/>
                <a:cs typeface="Aptos"/>
              </a:rPr>
              <a:t>Speed • acceleration</a:t>
            </a:r>
          </a:p>
          <a:p xmlns:a="http://schemas.openxmlformats.org/drawingml/2006/main">
            <a:pPr algn="ctr">
              <a:lnSpc>
                <a:spcPct val="108000"/>
              </a:lnSpc>
              <a:buNone/>
              <a:defRPr sz="1425" b="1">
                <a:solidFill>
                  <a:srgbClr val="14806F"/>
                </a:solidFill>
                <a:latin typeface="Aptos"/>
                <a:ea typeface="Aptos"/>
                <a:cs typeface="Aptos"/>
              </a:defRPr>
            </a:pPr>
            <a:r>
              <a:rPr sz="1425" b="1">
                <a:solidFill>
                  <a:srgbClr val="14806F"/>
                </a:solidFill>
                <a:latin typeface="Aptos"/>
                <a:ea typeface="Aptos"/>
                <a:cs typeface="Aptos"/>
              </a:rPr>
              <a:t>brake • accelerator</a:t>
            </a:r>
          </a:p>
        </p:txBody>
      </p:sp>
      <p:sp>
        <p:nvSpPr>
          <p:cNvPr id="14" name="">
            <a:extLst xmlns:a="http://schemas.openxmlformats.org/drawingml/2006/main">
              <a:ext uri="{FF2B5EF4-FFF2-40B4-BE49-F238E27FC236}">
                <a16:creationId xmlns:a16="http://schemas.microsoft.com/office/drawing/2014/main" id="{90ED9A84-1EB6-44BC-A662-6383C8473BCD}"/>
              </a:ext>
            </a:extLst>
          </p:cNvPr>
          <p:cNvSpPr>
            <a:spLocks xmlns:a="http://schemas.openxmlformats.org/drawingml/2006/main" noGrp="1"/>
          </p:cNvSpPr>
          <p:nvPr/>
        </p:nvSpPr>
        <p:spPr>
          <a:xfrm xmlns:a="http://schemas.openxmlformats.org/drawingml/2006/main">
            <a:off x="6629400" y="3848100"/>
            <a:ext cx="2247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a:solidFill>
                  <a:srgbClr val="C76724"/>
                </a:solidFill>
                <a:latin typeface="Aptos"/>
                <a:ea typeface="Aptos"/>
                <a:cs typeface="Aptos"/>
              </a:defRPr>
            </a:pPr>
            <a:r>
              <a:rPr sz="1425" b="1">
                <a:solidFill>
                  <a:srgbClr val="C76724"/>
                </a:solidFill>
                <a:latin typeface="Aptos"/>
                <a:ea typeface="Aptos"/>
                <a:cs typeface="Aptos"/>
              </a:rPr>
              <a:t>KUKSA consumer +</a:t>
            </a:r>
          </a:p>
          <a:p xmlns:a="http://schemas.openxmlformats.org/drawingml/2006/main">
            <a:pPr algn="ctr">
              <a:lnSpc>
                <a:spcPct val="108000"/>
              </a:lnSpc>
              <a:buNone/>
              <a:defRPr sz="1425" b="1">
                <a:solidFill>
                  <a:srgbClr val="C76724"/>
                </a:solidFill>
                <a:latin typeface="Aptos"/>
                <a:ea typeface="Aptos"/>
                <a:cs typeface="Aptos"/>
              </a:defRPr>
            </a:pPr>
            <a:r>
              <a:rPr sz="1425" b="1">
                <a:solidFill>
                  <a:srgbClr val="C76724"/>
                </a:solidFill>
                <a:latin typeface="Aptos"/>
                <a:ea typeface="Aptos"/>
                <a:cs typeface="Aptos"/>
              </a:rPr>
              <a:t>bounded backend stream</a:t>
            </a:r>
          </a:p>
        </p:txBody>
      </p:sp>
      <p:sp>
        <p:nvSpPr>
          <p:cNvPr id="15" name="">
            <a:extLst xmlns:a="http://schemas.openxmlformats.org/drawingml/2006/main">
              <a:ext uri="{FF2B5EF4-FFF2-40B4-BE49-F238E27FC236}">
                <a16:creationId xmlns:a16="http://schemas.microsoft.com/office/drawing/2014/main" id="{F45535A9-639F-4B6A-9BB8-89B6FA5B64A8}"/>
              </a:ext>
            </a:extLst>
          </p:cNvPr>
          <p:cNvSpPr>
            <a:spLocks xmlns:a="http://schemas.openxmlformats.org/drawingml/2006/main" noGrp="1"/>
          </p:cNvSpPr>
          <p:nvPr/>
        </p:nvSpPr>
        <p:spPr>
          <a:xfrm xmlns:a="http://schemas.openxmlformats.org/drawingml/2006/main">
            <a:off x="9429750" y="3848100"/>
            <a:ext cx="2152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a:solidFill>
                  <a:srgbClr val="C76724"/>
                </a:solidFill>
                <a:latin typeface="Aptos"/>
                <a:ea typeface="Aptos"/>
                <a:cs typeface="Aptos"/>
              </a:defRPr>
            </a:pPr>
            <a:r>
              <a:rPr sz="1425" b="1">
                <a:solidFill>
                  <a:srgbClr val="C76724"/>
                </a:solidFill>
                <a:latin typeface="Aptos"/>
                <a:ea typeface="Aptos"/>
                <a:cs typeface="Aptos"/>
              </a:rPr>
              <a:t>Data becomes useful</a:t>
            </a:r>
          </a:p>
          <a:p xmlns:a="http://schemas.openxmlformats.org/drawingml/2006/main">
            <a:pPr algn="ctr">
              <a:lnSpc>
                <a:spcPct val="108000"/>
              </a:lnSpc>
              <a:buNone/>
              <a:defRPr sz="1425" b="1">
                <a:solidFill>
                  <a:srgbClr val="C76724"/>
                </a:solidFill>
                <a:latin typeface="Aptos"/>
                <a:ea typeface="Aptos"/>
                <a:cs typeface="Aptos"/>
              </a:defRPr>
            </a:pPr>
            <a:r>
              <a:rPr sz="1425" b="1">
                <a:solidFill>
                  <a:srgbClr val="C76724"/>
                </a:solidFill>
                <a:latin typeface="Aptos"/>
                <a:ea typeface="Aptos"/>
                <a:cs typeface="Aptos"/>
              </a:rPr>
              <a:t>to the Function Team</a:t>
            </a:r>
          </a:p>
        </p:txBody>
      </p:sp>
      <p:sp>
        <p:nvSpPr>
          <p:cNvPr id="16" name="">
            <a:extLst xmlns:a="http://schemas.openxmlformats.org/drawingml/2006/main">
              <a:ext uri="{FF2B5EF4-FFF2-40B4-BE49-F238E27FC236}">
                <a16:creationId xmlns:a16="http://schemas.microsoft.com/office/drawing/2014/main" id="{1D3652E2-90E4-4740-8414-D57881281E09}"/>
              </a:ext>
            </a:extLst>
          </p:cNvPr>
          <p:cNvSpPr>
            <a:spLocks xmlns:a="http://schemas.openxmlformats.org/drawingml/2006/main" noGrp="1"/>
          </p:cNvSpPr>
          <p:nvPr/>
        </p:nvSpPr>
        <p:spPr>
          <a:xfrm xmlns:a="http://schemas.openxmlformats.org/drawingml/2006/main">
            <a:off x="609600" y="47625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a:solidFill>
                  <a:srgbClr val="2F6F98"/>
                </a:solidFill>
                <a:latin typeface="Aptos"/>
                <a:ea typeface="Aptos"/>
                <a:cs typeface="Aptos"/>
              </a:defRPr>
            </a:pPr>
            <a:r>
              <a:rPr sz="1350" b="1">
                <a:solidFill>
                  <a:srgbClr val="2F6F98"/>
                </a:solidFill>
                <a:latin typeface="Aptos"/>
                <a:ea typeface="Aptos"/>
                <a:cs typeface="Aptos"/>
              </a:rPr>
              <a:t>What remains true throughout</a:t>
            </a:r>
          </a:p>
        </p:txBody>
      </p:sp>
      <p:sp>
        <p:nvSpPr>
          <p:cNvPr id="17" name="">
            <a:extLst xmlns:a="http://schemas.openxmlformats.org/drawingml/2006/main">
              <a:ext uri="{FF2B5EF4-FFF2-40B4-BE49-F238E27FC236}">
                <a16:creationId xmlns:a16="http://schemas.microsoft.com/office/drawing/2014/main" id="{57F32777-CFD0-4FFB-A284-95318FB471E7}"/>
              </a:ext>
            </a:extLst>
          </p:cNvPr>
          <p:cNvSpPr>
            <a:spLocks xmlns:a="http://schemas.openxmlformats.org/drawingml/2006/main" noGrp="1"/>
          </p:cNvSpPr>
          <p:nvPr/>
        </p:nvSpPr>
        <p:spPr>
          <a:xfrm xmlns:a="http://schemas.openxmlformats.org/drawingml/2006/main">
            <a:off x="609600" y="5181600"/>
            <a:ext cx="10744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ctr">
              <a:lnSpc>
                <a:spcPct val="108000"/>
              </a:lnSpc>
              <a:buNone/>
              <a:defRPr sz="1575" b="0">
                <a:solidFill>
                  <a:srgbClr val="17212B"/>
                </a:solidFill>
                <a:latin typeface="Aptos"/>
                <a:ea typeface="Aptos"/>
                <a:cs typeface="Aptos"/>
              </a:defRPr>
            </a:pPr>
            <a:r>
              <a:rPr sz="1575" b="0">
                <a:solidFill>
                  <a:srgbClr val="17212B"/>
                </a:solidFill>
                <a:latin typeface="Aptos"/>
                <a:ea typeface="Aptos"/>
                <a:cs typeface="Aptos"/>
              </a:rPr>
              <a:t>CARLA keeps driving  •  the Engineering Dashboard keeps showing base VISS telemetry  •  no service talks directly to CARLA</a:t>
            </a:r>
          </a:p>
        </p:txBody>
      </p:sp>
      <p:sp>
        <p:nvSpPr>
          <p:cNvPr id="18" name="">
            <a:extLst xmlns:a="http://schemas.openxmlformats.org/drawingml/2006/main">
              <a:ext uri="{FF2B5EF4-FFF2-40B4-BE49-F238E27FC236}">
                <a16:creationId xmlns:a16="http://schemas.microsoft.com/office/drawing/2014/main" id="{1FD0D8FB-778A-46CF-BA07-B9F7CDAE8B37}"/>
              </a:ext>
            </a:extLst>
          </p:cNvPr>
          <p:cNvSpPr>
            <a:spLocks xmlns:a="http://schemas.openxmlformats.org/drawingml/2006/main" noGrp="1"/>
          </p:cNvSpPr>
          <p:nvPr/>
        </p:nvSpPr>
        <p:spPr>
          <a:xfrm xmlns:a="http://schemas.openxmlformats.org/drawingml/2006/main">
            <a:off x="609600" y="65341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825" b="1">
                <a:solidFill>
                  <a:srgbClr val="5E6A76"/>
                </a:solidFill>
                <a:latin typeface="Aptos"/>
                <a:ea typeface="Aptos"/>
                <a:cs typeface="Aptos"/>
              </a:defRPr>
            </a:pPr>
            <a:r>
              <a:rPr sz="825" b="1">
                <a:solidFill>
                  <a:srgbClr val="5E6A76"/>
                </a:solidFill>
                <a:latin typeface="Aptos"/>
                <a:ea typeface="Aptos"/>
                <a:cs typeface="Aptos"/>
              </a:rPr>
              <a:t>DISCUSSION DRAFT 0.1</a:t>
            </a:r>
          </a:p>
        </p:txBody>
      </p:sp>
      <p:sp>
        <p:nvSpPr>
          <p:cNvPr id="19" name="">
            <a:extLst xmlns:a="http://schemas.openxmlformats.org/drawingml/2006/main">
              <a:ext uri="{FF2B5EF4-FFF2-40B4-BE49-F238E27FC236}">
                <a16:creationId xmlns:a16="http://schemas.microsoft.com/office/drawing/2014/main" id="{FF7EAE74-DDE2-49E2-89CB-B10B8F9411FE}"/>
              </a:ext>
            </a:extLst>
          </p:cNvPr>
          <p:cNvSpPr>
            <a:spLocks xmlns:a="http://schemas.openxmlformats.org/drawingml/2006/main" noGrp="1"/>
          </p:cNvSpPr>
          <p:nvPr/>
        </p:nvSpPr>
        <p:spPr>
          <a:xfrm xmlns:a="http://schemas.openxmlformats.org/drawingml/2006/main">
            <a:off x="112014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00" b="0">
                <a:solidFill>
                  <a:srgbClr val="5E6A76"/>
                </a:solidFill>
                <a:latin typeface="Aptos"/>
                <a:ea typeface="Aptos"/>
                <a:cs typeface="Aptos"/>
              </a:defRPr>
            </a:pPr>
            <a:r>
              <a:rPr sz="900" b="0">
                <a:solidFill>
                  <a:srgbClr val="5E6A76"/>
                </a:solidFill>
                <a:latin typeface="Aptos"/>
                <a:ea typeface="Aptos"/>
                <a:cs typeface="Aptos"/>
              </a:rPr>
              <a:t>6</a:t>
            </a:r>
          </a:p>
        </p:txBody>
      </p:sp>
    </p:spTree>
    <p:extLst>
      <p:ext uri="{BB962C8B-B14F-4D97-AF65-F5344CB8AC3E}">
        <p14:creationId xmlns:p14="http://schemas.microsoft.com/office/powerpoint/2010/main" val="9876425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7">
            <a:extLst xmlns:a="http://schemas.openxmlformats.org/drawingml/2006/main">
              <a:ext uri="{FF2B5EF4-FFF2-40B4-BE49-F238E27FC236}">
                <a16:creationId xmlns:a16="http://schemas.microsoft.com/office/drawing/2014/main" id="{A0A3133A-3E6C-460C-BEE5-817E54C6E676}"/>
              </a:ext>
            </a:extLst>
          </p:cNvPr>
          <p:cNvSpPr>
            <a:spLocks xmlns:a="http://schemas.openxmlformats.org/drawingml/2006/main" noGrp="1"/>
          </p:cNvSpPr>
          <p:nvPr/>
        </p:nvSpPr>
        <p:spPr>
          <a:xfrm xmlns:a="http://schemas.openxmlformats.org/drawingml/2006/main">
            <a:off x="609600" y="3238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a:solidFill>
                  <a:srgbClr val="2F6F98"/>
                </a:solidFill>
                <a:latin typeface="Aptos"/>
                <a:ea typeface="Aptos"/>
                <a:cs typeface="Aptos"/>
              </a:defRPr>
            </a:pPr>
            <a:r>
              <a:rPr sz="975" b="1">
                <a:solidFill>
                  <a:srgbClr val="2F6F98"/>
                </a:solidFill>
                <a:latin typeface="Aptos"/>
                <a:ea typeface="Aptos"/>
                <a:cs typeface="Aptos"/>
              </a:rPr>
              <a:t>G3 — PROVIDER V2 + SERVICE V2</a:t>
            </a:r>
          </a:p>
        </p:txBody>
      </p:sp>
      <p:sp>
        <p:nvSpPr>
          <p:cNvPr id="2" name="title-7">
            <a:extLst xmlns:a="http://schemas.openxmlformats.org/drawingml/2006/main">
              <a:ext uri="{FF2B5EF4-FFF2-40B4-BE49-F238E27FC236}">
                <a16:creationId xmlns:a16="http://schemas.microsoft.com/office/drawing/2014/main" id="{47653243-E963-4F96-9590-6166D7F293F6}"/>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850" b="1">
                <a:solidFill>
                  <a:srgbClr val="17212B"/>
                </a:solidFill>
                <a:latin typeface="Aptos"/>
                <a:ea typeface="Aptos"/>
                <a:cs typeface="Aptos"/>
              </a:defRPr>
            </a:pPr>
            <a:r>
              <a:rPr sz="2850" b="1">
                <a:solidFill>
                  <a:srgbClr val="17212B"/>
                </a:solidFill>
                <a:latin typeface="Aptos"/>
                <a:ea typeface="Aptos"/>
                <a:cs typeface="Aptos"/>
              </a:rPr>
              <a:t>The data contract expands before the predictive model evolves</a:t>
            </a:r>
          </a:p>
        </p:txBody>
      </p:sp>
      <p:sp>
        <p:nvSpPr>
          <p:cNvPr id="3" name="">
            <a:extLst xmlns:a="http://schemas.openxmlformats.org/drawingml/2006/main">
              <a:ext uri="{FF2B5EF4-FFF2-40B4-BE49-F238E27FC236}">
                <a16:creationId xmlns:a16="http://schemas.microsoft.com/office/drawing/2014/main" id="{4CCC366D-F5B7-43E4-94CC-417A58F52C41}"/>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B9C3CC"/>
            </a:solidFill>
            <a:prstDash val="solid"/>
          </a:ln>
        </p:spPr>
      </p:sp>
      <p:sp>
        <p:nvSpPr>
          <p:cNvPr id="4" name="">
            <a:extLst xmlns:a="http://schemas.openxmlformats.org/drawingml/2006/main">
              <a:ext uri="{FF2B5EF4-FFF2-40B4-BE49-F238E27FC236}">
                <a16:creationId xmlns:a16="http://schemas.microsoft.com/office/drawing/2014/main" id="{BF41034D-E4A7-41D9-8806-8E5AFFE7E2F1}"/>
              </a:ext>
            </a:extLst>
          </p:cNvPr>
          <p:cNvSpPr>
            <a:spLocks xmlns:a="http://schemas.openxmlformats.org/drawingml/2006/main" noGrp="1"/>
          </p:cNvSpPr>
          <p:nvPr/>
        </p:nvSpPr>
        <p:spPr>
          <a:xfrm xmlns:a="http://schemas.openxmlformats.org/drawingml/2006/main">
            <a:off x="609600" y="1676400"/>
            <a:ext cx="2457450" cy="876300"/>
          </a:xfrm>
          <a:prstGeom xmlns:a="http://schemas.openxmlformats.org/drawingml/2006/main" prst="roundRect">
            <a:avLst>
              <a:gd name="adj" fmla="val 10870"/>
            </a:avLst>
          </a:prstGeom>
          <a:solidFill xmlns:a="http://schemas.openxmlformats.org/drawingml/2006/main">
            <a:srgbClr val="FFF0E5"/>
          </a:solidFill>
          <a:ln xmlns:a="http://schemas.openxmlformats.org/drawingml/2006/main" w="15240">
            <a:solidFill>
              <a:srgbClr val="C76724"/>
            </a:solidFill>
            <a:prstDash val="solid"/>
          </a:ln>
        </p:spPr>
        <p:txBody>
          <a:bodyPr xmlns:a="http://schemas.openxmlformats.org/drawingml/2006/main" lIns="95250" tIns="76200" rIns="95250" bIns="76200" anchor="ctr">
            <a:normAutofit fontScale="93603"/>
          </a:bodyPr>
          <a:lstStyle xmlns:a="http://schemas.openxmlformats.org/drawingml/2006/main"/>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Function Team requirement</a:t>
            </a:r>
          </a:p>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new signals + quality + timing</a:t>
            </a:r>
          </a:p>
        </p:txBody>
      </p:sp>
      <p:sp>
        <p:nvSpPr>
          <p:cNvPr id="5" name="">
            <a:extLst xmlns:a="http://schemas.openxmlformats.org/drawingml/2006/main">
              <a:ext uri="{FF2B5EF4-FFF2-40B4-BE49-F238E27FC236}">
                <a16:creationId xmlns:a16="http://schemas.microsoft.com/office/drawing/2014/main" id="{1E4DD3E0-A905-4767-8258-32D65778DBCC}"/>
              </a:ext>
            </a:extLst>
          </p:cNvPr>
          <p:cNvSpPr>
            <a:spLocks xmlns:a="http://schemas.openxmlformats.org/drawingml/2006/main" noGrp="1"/>
          </p:cNvSpPr>
          <p:nvPr/>
        </p:nvSpPr>
        <p:spPr>
          <a:xfrm xmlns:a="http://schemas.openxmlformats.org/drawingml/2006/main">
            <a:off x="3638550" y="1676400"/>
            <a:ext cx="1981200" cy="876300"/>
          </a:xfrm>
          <a:prstGeom xmlns:a="http://schemas.openxmlformats.org/drawingml/2006/main" prst="roundRect">
            <a:avLst>
              <a:gd name="adj" fmla="val 10870"/>
            </a:avLst>
          </a:prstGeom>
          <a:solidFill xmlns:a="http://schemas.openxmlformats.org/drawingml/2006/main">
            <a:srgbClr val="E5F4F0"/>
          </a:solidFill>
          <a:ln xmlns:a="http://schemas.openxmlformats.org/drawingml/2006/main" w="15240">
            <a:solidFill>
              <a:srgbClr val="14806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500" b="1">
                <a:solidFill>
                  <a:srgbClr val="17212B"/>
                </a:solidFill>
                <a:latin typeface="Aptos"/>
                <a:ea typeface="Aptos"/>
                <a:cs typeface="Aptos"/>
              </a:defRPr>
            </a:pPr>
            <a:r>
              <a:rPr sz="1500" b="1">
                <a:solidFill>
                  <a:srgbClr val="17212B"/>
                </a:solidFill>
                <a:latin typeface="Aptos"/>
                <a:ea typeface="Aptos"/>
                <a:cs typeface="Aptos"/>
              </a:rPr>
              <a:t>Platform Team</a:t>
            </a:r>
          </a:p>
          <a:p xmlns:a="http://schemas.openxmlformats.org/drawingml/2006/main">
            <a:pPr algn="ctr">
              <a:lnSpc>
                <a:spcPct val="104000"/>
              </a:lnSpc>
              <a:buNone/>
              <a:defRPr sz="1500" b="1">
                <a:solidFill>
                  <a:srgbClr val="17212B"/>
                </a:solidFill>
                <a:latin typeface="Aptos"/>
                <a:ea typeface="Aptos"/>
                <a:cs typeface="Aptos"/>
              </a:defRPr>
            </a:pPr>
            <a:r>
              <a:rPr sz="1500" b="1">
                <a:solidFill>
                  <a:srgbClr val="17212B"/>
                </a:solidFill>
                <a:latin typeface="Aptos"/>
                <a:ea typeface="Aptos"/>
                <a:cs typeface="Aptos"/>
              </a:rPr>
              <a:t>Provider v2</a:t>
            </a:r>
          </a:p>
        </p:txBody>
      </p:sp>
      <p:sp>
        <p:nvSpPr>
          <p:cNvPr id="6" name="">
            <a:extLst xmlns:a="http://schemas.openxmlformats.org/drawingml/2006/main">
              <a:ext uri="{FF2B5EF4-FFF2-40B4-BE49-F238E27FC236}">
                <a16:creationId xmlns:a16="http://schemas.microsoft.com/office/drawing/2014/main" id="{FDD8E0E3-DE70-4F28-B445-A0B02BA4002D}"/>
              </a:ext>
            </a:extLst>
          </p:cNvPr>
          <p:cNvSpPr>
            <a:spLocks xmlns:a="http://schemas.openxmlformats.org/drawingml/2006/main" noGrp="1"/>
          </p:cNvSpPr>
          <p:nvPr/>
        </p:nvSpPr>
        <p:spPr>
          <a:xfrm xmlns:a="http://schemas.openxmlformats.org/drawingml/2006/main">
            <a:off x="6191250" y="1676400"/>
            <a:ext cx="2190750" cy="876300"/>
          </a:xfrm>
          <a:prstGeom xmlns:a="http://schemas.openxmlformats.org/drawingml/2006/main" prst="roundRect">
            <a:avLst>
              <a:gd name="adj" fmla="val 10870"/>
            </a:avLst>
          </a:prstGeom>
          <a:solidFill xmlns:a="http://schemas.openxmlformats.org/drawingml/2006/main">
            <a:srgbClr val="F0ECF8"/>
          </a:solidFill>
          <a:ln xmlns:a="http://schemas.openxmlformats.org/drawingml/2006/main" w="15240">
            <a:solidFill>
              <a:srgbClr val="6C55A3"/>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Validation Unit</a:t>
            </a:r>
          </a:p>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platform qualification</a:t>
            </a:r>
          </a:p>
        </p:txBody>
      </p:sp>
      <p:sp>
        <p:nvSpPr>
          <p:cNvPr id="7" name="">
            <a:extLst xmlns:a="http://schemas.openxmlformats.org/drawingml/2006/main">
              <a:ext uri="{FF2B5EF4-FFF2-40B4-BE49-F238E27FC236}">
                <a16:creationId xmlns:a16="http://schemas.microsoft.com/office/drawing/2014/main" id="{0548485F-82C0-43B9-B534-3D02799AD7DB}"/>
              </a:ext>
            </a:extLst>
          </p:cNvPr>
          <p:cNvSpPr>
            <a:spLocks xmlns:a="http://schemas.openxmlformats.org/drawingml/2006/main" noGrp="1"/>
          </p:cNvSpPr>
          <p:nvPr/>
        </p:nvSpPr>
        <p:spPr>
          <a:xfrm xmlns:a="http://schemas.openxmlformats.org/drawingml/2006/main">
            <a:off x="8953500" y="1676400"/>
            <a:ext cx="2324100" cy="876300"/>
          </a:xfrm>
          <a:prstGeom xmlns:a="http://schemas.openxmlformats.org/drawingml/2006/main" prst="roundRect">
            <a:avLst>
              <a:gd name="adj" fmla="val 10870"/>
            </a:avLst>
          </a:prstGeom>
          <a:solidFill xmlns:a="http://schemas.openxmlformats.org/drawingml/2006/main">
            <a:srgbClr val="FFF0E5"/>
          </a:solidFill>
          <a:ln xmlns:a="http://schemas.openxmlformats.org/drawingml/2006/main" w="15240">
            <a:solidFill>
              <a:srgbClr val="C7672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Function Team</a:t>
            </a:r>
          </a:p>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Service v2 + model</a:t>
            </a:r>
          </a:p>
        </p:txBody>
      </p:sp>
      <p:cxnSp>
        <p:nvCxnSpPr>
          <p:cNvPr id="30" name=""/>
          <p:cNvCxnSpPr>
            <a:stCxn xmlns:a="http://schemas.openxmlformats.org/drawingml/2006/main" id="4" idx="3"/>
            <a:endCxn xmlns:a="http://schemas.openxmlformats.org/drawingml/2006/main" id="5" idx="1"/>
          </p:cNvCxnSpPr>
          <p:nvPr/>
        </p:nvCxnSpPr>
        <p:spPr>
          <a:xfrm xmlns:a="http://schemas.openxmlformats.org/drawingml/2006/main">
            <a:off x="3067050" y="2114550"/>
            <a:ext cx="571500" cy="0"/>
          </a:xfrm>
          <a:prstGeom xmlns:a="http://schemas.openxmlformats.org/drawingml/2006/main" prst="straightConnector1">
            <a:avLst/>
          </a:prstGeom>
          <a:ln xmlns:a="http://schemas.openxmlformats.org/drawingml/2006/main" w="19050">
            <a:solidFill>
              <a:srgbClr val="C76724"/>
            </a:solidFill>
            <a:prstDash val="solid"/>
            <a:tailEnd type="arrow" w="med" len="med"/>
          </a:ln>
        </p:spPr>
      </p:cxn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5619750" y="2114550"/>
            <a:ext cx="571500" cy="0"/>
          </a:xfrm>
          <a:prstGeom xmlns:a="http://schemas.openxmlformats.org/drawingml/2006/main" prst="straightConnector1">
            <a:avLst/>
          </a:prstGeom>
          <a:ln xmlns:a="http://schemas.openxmlformats.org/drawingml/2006/main" w="19050">
            <a:solidFill>
              <a:srgbClr val="14806F"/>
            </a:solidFill>
            <a:prstDash val="solid"/>
            <a:tailEnd type="arrow" w="med" len="med"/>
          </a:ln>
        </p:spPr>
      </p:cxnSp>
      <p:cxnSp>
        <p:nvCxnSpPr>
          <p:cNvPr id="32" name=""/>
          <p:cNvCxnSpPr>
            <a:stCxn xmlns:a="http://schemas.openxmlformats.org/drawingml/2006/main" id="6" idx="3"/>
            <a:endCxn xmlns:a="http://schemas.openxmlformats.org/drawingml/2006/main" id="7" idx="1"/>
          </p:cNvCxnSpPr>
          <p:nvPr/>
        </p:nvCxnSpPr>
        <p:spPr>
          <a:xfrm xmlns:a="http://schemas.openxmlformats.org/drawingml/2006/main">
            <a:off x="8382000" y="2114550"/>
            <a:ext cx="571500" cy="0"/>
          </a:xfrm>
          <a:prstGeom xmlns:a="http://schemas.openxmlformats.org/drawingml/2006/main" prst="straightConnector1">
            <a:avLst/>
          </a:prstGeom>
          <a:ln xmlns:a="http://schemas.openxmlformats.org/drawingml/2006/main" w="19050">
            <a:solidFill>
              <a:srgbClr val="C76724"/>
            </a:solidFill>
            <a:prstDash val="solid"/>
            <a:tailEnd type="arrow" w="med" len="med"/>
          </a:ln>
        </p:spPr>
      </p:cxnSp>
      <p:sp>
        <p:nvSpPr>
          <p:cNvPr id="11" name="">
            <a:extLst xmlns:a="http://schemas.openxmlformats.org/drawingml/2006/main">
              <a:ext uri="{FF2B5EF4-FFF2-40B4-BE49-F238E27FC236}">
                <a16:creationId xmlns:a16="http://schemas.microsoft.com/office/drawing/2014/main" id="{BA5C528F-E729-4FC6-A177-F82EB008AFBC}"/>
              </a:ext>
            </a:extLst>
          </p:cNvPr>
          <p:cNvSpPr>
            <a:spLocks xmlns:a="http://schemas.openxmlformats.org/drawingml/2006/main" noGrp="1"/>
          </p:cNvSpPr>
          <p:nvPr/>
        </p:nvSpPr>
        <p:spPr>
          <a:xfrm xmlns:a="http://schemas.openxmlformats.org/drawingml/2006/main">
            <a:off x="609600" y="31242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4806F"/>
                </a:solidFill>
                <a:latin typeface="Aptos"/>
                <a:ea typeface="Aptos"/>
                <a:cs typeface="Aptos"/>
              </a:defRPr>
            </a:pPr>
            <a:r>
              <a:rPr sz="1350" b="1">
                <a:solidFill>
                  <a:srgbClr val="14806F"/>
                </a:solidFill>
                <a:latin typeface="Aptos"/>
                <a:ea typeface="Aptos"/>
                <a:cs typeface="Aptos"/>
              </a:rPr>
              <a:t>Candidate added inputs</a:t>
            </a:r>
          </a:p>
        </p:txBody>
      </p:sp>
      <p:sp>
        <p:nvSpPr>
          <p:cNvPr id="12" name="">
            <a:extLst xmlns:a="http://schemas.openxmlformats.org/drawingml/2006/main">
              <a:ext uri="{FF2B5EF4-FFF2-40B4-BE49-F238E27FC236}">
                <a16:creationId xmlns:a16="http://schemas.microsoft.com/office/drawing/2014/main" id="{0F8901C9-0750-4581-815E-3118749EC210}"/>
              </a:ext>
            </a:extLst>
          </p:cNvPr>
          <p:cNvSpPr>
            <a:spLocks xmlns:a="http://schemas.openxmlformats.org/drawingml/2006/main" noGrp="1"/>
          </p:cNvSpPr>
          <p:nvPr/>
        </p:nvSpPr>
        <p:spPr>
          <a:xfrm xmlns:a="http://schemas.openxmlformats.org/drawingml/2006/main">
            <a:off x="609600" y="3505200"/>
            <a:ext cx="10744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a:solidFill>
                  <a:srgbClr val="17212B"/>
                </a:solidFill>
                <a:latin typeface="Aptos"/>
                <a:ea typeface="Aptos"/>
                <a:cs typeface="Aptos"/>
              </a:defRPr>
            </a:pPr>
            <a:r>
              <a:rPr sz="1500" b="0">
                <a:solidFill>
                  <a:srgbClr val="17212B"/>
                </a:solidFill>
                <a:latin typeface="Aptos"/>
                <a:ea typeface="Aptos"/>
                <a:cs typeface="Aptos"/>
              </a:rPr>
              <a:t>Per-wheel speed  •  brake demand  •  deceleration response  •  ABS event  •  estimated temperature  •  wear proxy</a:t>
            </a:r>
          </a:p>
        </p:txBody>
      </p:sp>
      <p:sp>
        <p:nvSpPr>
          <p:cNvPr id="13" name="">
            <a:extLst xmlns:a="http://schemas.openxmlformats.org/drawingml/2006/main">
              <a:ext uri="{FF2B5EF4-FFF2-40B4-BE49-F238E27FC236}">
                <a16:creationId xmlns:a16="http://schemas.microsoft.com/office/drawing/2014/main" id="{6F1DC862-232A-4B25-980A-678FFAF7ED8E}"/>
              </a:ext>
            </a:extLst>
          </p:cNvPr>
          <p:cNvSpPr>
            <a:spLocks xmlns:a="http://schemas.openxmlformats.org/drawingml/2006/main" noGrp="1"/>
          </p:cNvSpPr>
          <p:nvPr/>
        </p:nvSpPr>
        <p:spPr>
          <a:xfrm xmlns:a="http://schemas.openxmlformats.org/drawingml/2006/main">
            <a:off x="609600" y="44005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a:solidFill>
                  <a:srgbClr val="C76724"/>
                </a:solidFill>
                <a:latin typeface="Aptos"/>
                <a:ea typeface="Aptos"/>
                <a:cs typeface="Aptos"/>
              </a:defRPr>
            </a:pPr>
            <a:r>
              <a:rPr sz="1350" b="1">
                <a:solidFill>
                  <a:srgbClr val="C76724"/>
                </a:solidFill>
                <a:latin typeface="Aptos"/>
                <a:ea typeface="Aptos"/>
                <a:cs typeface="Aptos"/>
              </a:rPr>
              <a:t>What the audience sees</a:t>
            </a:r>
          </a:p>
        </p:txBody>
      </p:sp>
      <p:sp>
        <p:nvSpPr>
          <p:cNvPr id="14" name="">
            <a:extLst xmlns:a="http://schemas.openxmlformats.org/drawingml/2006/main">
              <a:ext uri="{FF2B5EF4-FFF2-40B4-BE49-F238E27FC236}">
                <a16:creationId xmlns:a16="http://schemas.microsoft.com/office/drawing/2014/main" id="{327BF340-9EF6-4CAB-81A9-C36D282C9706}"/>
              </a:ext>
            </a:extLst>
          </p:cNvPr>
          <p:cNvSpPr>
            <a:spLocks xmlns:a="http://schemas.openxmlformats.org/drawingml/2006/main" noGrp="1"/>
          </p:cNvSpPr>
          <p:nvPr/>
        </p:nvSpPr>
        <p:spPr>
          <a:xfrm xmlns:a="http://schemas.openxmlformats.org/drawingml/2006/main">
            <a:off x="609600" y="4857750"/>
            <a:ext cx="2324100" cy="723900"/>
          </a:xfrm>
          <a:prstGeom xmlns:a="http://schemas.openxmlformats.org/drawingml/2006/main" prst="roundRect">
            <a:avLst>
              <a:gd name="adj" fmla="val 13158"/>
            </a:avLst>
          </a:prstGeom>
          <a:solidFill xmlns:a="http://schemas.openxmlformats.org/drawingml/2006/main">
            <a:srgbClr val="E8F2F8"/>
          </a:solidFill>
          <a:ln xmlns:a="http://schemas.openxmlformats.org/drawingml/2006/main" w="12383">
            <a:solidFill>
              <a:srgbClr val="2F6F98"/>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350" b="1">
                <a:solidFill>
                  <a:srgbClr val="17212B"/>
                </a:solidFill>
                <a:latin typeface="Aptos"/>
                <a:ea typeface="Aptos"/>
                <a:cs typeface="Aptos"/>
              </a:defRPr>
            </a:pPr>
            <a:r>
              <a:rPr sz="1350" b="1">
                <a:solidFill>
                  <a:srgbClr val="17212B"/>
                </a:solidFill>
                <a:latin typeface="Aptos"/>
                <a:ea typeface="Aptos"/>
                <a:cs typeface="Aptos"/>
              </a:rPr>
              <a:t>Same braking event</a:t>
            </a:r>
          </a:p>
        </p:txBody>
      </p:sp>
      <p:sp>
        <p:nvSpPr>
          <p:cNvPr id="15" name="">
            <a:extLst xmlns:a="http://schemas.openxmlformats.org/drawingml/2006/main">
              <a:ext uri="{FF2B5EF4-FFF2-40B4-BE49-F238E27FC236}">
                <a16:creationId xmlns:a16="http://schemas.microsoft.com/office/drawing/2014/main" id="{962FC332-DF9D-4240-8523-C5FAE5E2E14C}"/>
              </a:ext>
            </a:extLst>
          </p:cNvPr>
          <p:cNvSpPr>
            <a:spLocks xmlns:a="http://schemas.openxmlformats.org/drawingml/2006/main" noGrp="1"/>
          </p:cNvSpPr>
          <p:nvPr/>
        </p:nvSpPr>
        <p:spPr>
          <a:xfrm xmlns:a="http://schemas.openxmlformats.org/drawingml/2006/main">
            <a:off x="3371850" y="4857750"/>
            <a:ext cx="2476500" cy="723900"/>
          </a:xfrm>
          <a:prstGeom xmlns:a="http://schemas.openxmlformats.org/drawingml/2006/main" prst="roundRect">
            <a:avLst>
              <a:gd name="adj" fmla="val 13158"/>
            </a:avLst>
          </a:prstGeom>
          <a:solidFill xmlns:a="http://schemas.openxmlformats.org/drawingml/2006/main">
            <a:srgbClr val="E5F4F0"/>
          </a:solidFill>
          <a:ln xmlns:a="http://schemas.openxmlformats.org/drawingml/2006/main" w="12383">
            <a:solidFill>
              <a:srgbClr val="14806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350" b="1">
                <a:solidFill>
                  <a:srgbClr val="17212B"/>
                </a:solidFill>
                <a:latin typeface="Aptos"/>
                <a:ea typeface="Aptos"/>
                <a:cs typeface="Aptos"/>
              </a:defRPr>
            </a:pPr>
            <a:r>
              <a:rPr sz="1350" b="1">
                <a:solidFill>
                  <a:srgbClr val="17212B"/>
                </a:solidFill>
                <a:latin typeface="Aptos"/>
                <a:ea typeface="Aptos"/>
                <a:cs typeface="Aptos"/>
              </a:rPr>
              <a:t>New inputs labelled</a:t>
            </a:r>
          </a:p>
          <a:p xmlns:a="http://schemas.openxmlformats.org/drawingml/2006/main">
            <a:pPr algn="ctr">
              <a:lnSpc>
                <a:spcPct val="104000"/>
              </a:lnSpc>
              <a:buNone/>
              <a:defRPr sz="1350" b="1">
                <a:solidFill>
                  <a:srgbClr val="17212B"/>
                </a:solidFill>
                <a:latin typeface="Aptos"/>
                <a:ea typeface="Aptos"/>
                <a:cs typeface="Aptos"/>
              </a:defRPr>
            </a:pPr>
            <a:r>
              <a:rPr sz="1350" b="1">
                <a:solidFill>
                  <a:srgbClr val="17212B"/>
                </a:solidFill>
                <a:latin typeface="Aptos"/>
                <a:ea typeface="Aptos"/>
                <a:cs typeface="Aptos"/>
              </a:rPr>
              <a:t>simulated / estimated</a:t>
            </a:r>
          </a:p>
        </p:txBody>
      </p:sp>
      <p:sp>
        <p:nvSpPr>
          <p:cNvPr id="16" name="">
            <a:extLst xmlns:a="http://schemas.openxmlformats.org/drawingml/2006/main">
              <a:ext uri="{FF2B5EF4-FFF2-40B4-BE49-F238E27FC236}">
                <a16:creationId xmlns:a16="http://schemas.microsoft.com/office/drawing/2014/main" id="{4FE0BC30-D942-439A-BF65-50018760E64C}"/>
              </a:ext>
            </a:extLst>
          </p:cNvPr>
          <p:cNvSpPr>
            <a:spLocks xmlns:a="http://schemas.openxmlformats.org/drawingml/2006/main" noGrp="1"/>
          </p:cNvSpPr>
          <p:nvPr/>
        </p:nvSpPr>
        <p:spPr>
          <a:xfrm xmlns:a="http://schemas.openxmlformats.org/drawingml/2006/main">
            <a:off x="6286500" y="4857750"/>
            <a:ext cx="2247900" cy="723900"/>
          </a:xfrm>
          <a:prstGeom xmlns:a="http://schemas.openxmlformats.org/drawingml/2006/main" prst="roundRect">
            <a:avLst>
              <a:gd name="adj" fmla="val 13158"/>
            </a:avLst>
          </a:prstGeom>
          <a:solidFill xmlns:a="http://schemas.openxmlformats.org/drawingml/2006/main">
            <a:srgbClr val="FFF0E5"/>
          </a:solidFill>
          <a:ln xmlns:a="http://schemas.openxmlformats.org/drawingml/2006/main" w="12383">
            <a:solidFill>
              <a:srgbClr val="C7672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350" b="1">
                <a:solidFill>
                  <a:srgbClr val="17212B"/>
                </a:solidFill>
                <a:latin typeface="Aptos"/>
                <a:ea typeface="Aptos"/>
                <a:cs typeface="Aptos"/>
              </a:defRPr>
            </a:pPr>
            <a:r>
              <a:rPr sz="1350" b="1">
                <a:solidFill>
                  <a:srgbClr val="17212B"/>
                </a:solidFill>
                <a:latin typeface="Aptos"/>
                <a:ea typeface="Aptos"/>
                <a:cs typeface="Aptos"/>
              </a:rPr>
              <a:t>Model version +</a:t>
            </a:r>
          </a:p>
          <a:p xmlns:a="http://schemas.openxmlformats.org/drawingml/2006/main">
            <a:pPr algn="ctr">
              <a:lnSpc>
                <a:spcPct val="104000"/>
              </a:lnSpc>
              <a:buNone/>
              <a:defRPr sz="1350" b="1">
                <a:solidFill>
                  <a:srgbClr val="17212B"/>
                </a:solidFill>
                <a:latin typeface="Aptos"/>
                <a:ea typeface="Aptos"/>
                <a:cs typeface="Aptos"/>
              </a:defRPr>
            </a:pPr>
            <a:r>
              <a:rPr sz="1350" b="1">
                <a:solidFill>
                  <a:srgbClr val="17212B"/>
                </a:solidFill>
                <a:latin typeface="Aptos"/>
                <a:ea typeface="Aptos"/>
                <a:cs typeface="Aptos"/>
              </a:rPr>
              <a:t>prediction result</a:t>
            </a:r>
          </a:p>
        </p:txBody>
      </p:sp>
      <p:sp>
        <p:nvSpPr>
          <p:cNvPr id="17" name="">
            <a:extLst xmlns:a="http://schemas.openxmlformats.org/drawingml/2006/main">
              <a:ext uri="{FF2B5EF4-FFF2-40B4-BE49-F238E27FC236}">
                <a16:creationId xmlns:a16="http://schemas.microsoft.com/office/drawing/2014/main" id="{47B5B7C6-6670-4195-9736-CF0BBAC44234}"/>
              </a:ext>
            </a:extLst>
          </p:cNvPr>
          <p:cNvSpPr>
            <a:spLocks xmlns:a="http://schemas.openxmlformats.org/drawingml/2006/main" noGrp="1"/>
          </p:cNvSpPr>
          <p:nvPr/>
        </p:nvSpPr>
        <p:spPr>
          <a:xfrm xmlns:a="http://schemas.openxmlformats.org/drawingml/2006/main">
            <a:off x="8972550" y="4857750"/>
            <a:ext cx="2305050" cy="723900"/>
          </a:xfrm>
          <a:prstGeom xmlns:a="http://schemas.openxmlformats.org/drawingml/2006/main" prst="roundRect">
            <a:avLst>
              <a:gd name="adj" fmla="val 13158"/>
            </a:avLst>
          </a:prstGeom>
          <a:solidFill xmlns:a="http://schemas.openxmlformats.org/drawingml/2006/main">
            <a:srgbClr val="EAF4EB"/>
          </a:solidFill>
          <a:ln xmlns:a="http://schemas.openxmlformats.org/drawingml/2006/main" w="12383">
            <a:solidFill>
              <a:srgbClr val="3C7A4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350" b="1">
                <a:solidFill>
                  <a:srgbClr val="17212B"/>
                </a:solidFill>
                <a:latin typeface="Aptos"/>
                <a:ea typeface="Aptos"/>
                <a:cs typeface="Aptos"/>
              </a:defRPr>
            </a:pPr>
            <a:r>
              <a:rPr sz="1350" b="1">
                <a:solidFill>
                  <a:srgbClr val="17212B"/>
                </a:solidFill>
                <a:latin typeface="Aptos"/>
                <a:ea typeface="Aptos"/>
                <a:cs typeface="Aptos"/>
              </a:rPr>
              <a:t>P2 first, then S2</a:t>
            </a:r>
          </a:p>
          <a:p xmlns:a="http://schemas.openxmlformats.org/drawingml/2006/main">
            <a:pPr algn="ctr">
              <a:lnSpc>
                <a:spcPct val="104000"/>
              </a:lnSpc>
              <a:buNone/>
              <a:defRPr sz="1350" b="1">
                <a:solidFill>
                  <a:srgbClr val="17212B"/>
                </a:solidFill>
                <a:latin typeface="Aptos"/>
                <a:ea typeface="Aptos"/>
                <a:cs typeface="Aptos"/>
              </a:defRPr>
            </a:pPr>
            <a:r>
              <a:rPr sz="1350" b="1">
                <a:solidFill>
                  <a:srgbClr val="17212B"/>
                </a:solidFill>
                <a:latin typeface="Aptos"/>
                <a:ea typeface="Aptos"/>
                <a:cs typeface="Aptos"/>
              </a:rPr>
              <a:t>on Demonstration Unit</a:t>
            </a:r>
          </a:p>
        </p:txBody>
      </p:sp>
      <p:cxnSp>
        <p:nvCxnSpPr>
          <p:cNvPr id="40" name=""/>
          <p:cNvCxnSpPr>
            <a:stCxn xmlns:a="http://schemas.openxmlformats.org/drawingml/2006/main" id="14" idx="3"/>
            <a:endCxn xmlns:a="http://schemas.openxmlformats.org/drawingml/2006/main" id="15" idx="1"/>
          </p:cNvCxnSpPr>
          <p:nvPr/>
        </p:nvCxnSpPr>
        <p:spPr>
          <a:xfrm xmlns:a="http://schemas.openxmlformats.org/drawingml/2006/main">
            <a:off x="2933700" y="5219700"/>
            <a:ext cx="438150" cy="0"/>
          </a:xfrm>
          <a:prstGeom xmlns:a="http://schemas.openxmlformats.org/drawingml/2006/main" prst="straightConnector1">
            <a:avLst/>
          </a:prstGeom>
          <a:ln xmlns:a="http://schemas.openxmlformats.org/drawingml/2006/main" w="14288">
            <a:solidFill>
              <a:srgbClr val="788692"/>
            </a:solidFill>
            <a:prstDash val="solid"/>
            <a:tailEnd type="arrow" w="med" len="med"/>
          </a:ln>
        </p:spPr>
      </p:cxnSp>
      <p:cxnSp>
        <p:nvCxnSpPr>
          <p:cNvPr id="41" name=""/>
          <p:cNvCxnSpPr>
            <a:stCxn xmlns:a="http://schemas.openxmlformats.org/drawingml/2006/main" id="15" idx="3"/>
            <a:endCxn xmlns:a="http://schemas.openxmlformats.org/drawingml/2006/main" id="16" idx="1"/>
          </p:cNvCxnSpPr>
          <p:nvPr/>
        </p:nvCxnSpPr>
        <p:spPr>
          <a:xfrm xmlns:a="http://schemas.openxmlformats.org/drawingml/2006/main">
            <a:off x="5848350" y="5219700"/>
            <a:ext cx="438150" cy="0"/>
          </a:xfrm>
          <a:prstGeom xmlns:a="http://schemas.openxmlformats.org/drawingml/2006/main" prst="straightConnector1">
            <a:avLst/>
          </a:prstGeom>
          <a:ln xmlns:a="http://schemas.openxmlformats.org/drawingml/2006/main" w="14288">
            <a:solidFill>
              <a:srgbClr val="788692"/>
            </a:solidFill>
            <a:prstDash val="solid"/>
            <a:tailEnd type="arrow" w="med" len="med"/>
          </a:ln>
        </p:spPr>
      </p:cxnSp>
      <p:cxnSp>
        <p:nvCxnSpPr>
          <p:cNvPr id="42" name=""/>
          <p:cNvCxnSpPr>
            <a:stCxn xmlns:a="http://schemas.openxmlformats.org/drawingml/2006/main" id="16" idx="3"/>
            <a:endCxn xmlns:a="http://schemas.openxmlformats.org/drawingml/2006/main" id="17" idx="1"/>
          </p:cNvCxnSpPr>
          <p:nvPr/>
        </p:nvCxnSpPr>
        <p:spPr>
          <a:xfrm xmlns:a="http://schemas.openxmlformats.org/drawingml/2006/main">
            <a:off x="8534400" y="5219700"/>
            <a:ext cx="438150" cy="0"/>
          </a:xfrm>
          <a:prstGeom xmlns:a="http://schemas.openxmlformats.org/drawingml/2006/main" prst="straightConnector1">
            <a:avLst/>
          </a:prstGeom>
          <a:ln xmlns:a="http://schemas.openxmlformats.org/drawingml/2006/main" w="14288">
            <a:solidFill>
              <a:srgbClr val="788692"/>
            </a:solidFill>
            <a:prstDash val="solid"/>
            <a:tailEnd type="arrow" w="med" len="med"/>
          </a:ln>
        </p:spPr>
      </p:cxnSp>
      <p:sp>
        <p:nvSpPr>
          <p:cNvPr id="21" name="">
            <a:extLst xmlns:a="http://schemas.openxmlformats.org/drawingml/2006/main">
              <a:ext uri="{FF2B5EF4-FFF2-40B4-BE49-F238E27FC236}">
                <a16:creationId xmlns:a16="http://schemas.microsoft.com/office/drawing/2014/main" id="{84A16B04-F17E-424A-B5F1-FCD163FF63CE}"/>
              </a:ext>
            </a:extLst>
          </p:cNvPr>
          <p:cNvSpPr>
            <a:spLocks xmlns:a="http://schemas.openxmlformats.org/drawingml/2006/main" noGrp="1"/>
          </p:cNvSpPr>
          <p:nvPr/>
        </p:nvSpPr>
        <p:spPr>
          <a:xfrm xmlns:a="http://schemas.openxmlformats.org/drawingml/2006/main">
            <a:off x="609600" y="65341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825" b="1">
                <a:solidFill>
                  <a:srgbClr val="5E6A76"/>
                </a:solidFill>
                <a:latin typeface="Aptos"/>
                <a:ea typeface="Aptos"/>
                <a:cs typeface="Aptos"/>
              </a:defRPr>
            </a:pPr>
            <a:r>
              <a:rPr sz="825" b="1">
                <a:solidFill>
                  <a:srgbClr val="5E6A76"/>
                </a:solidFill>
                <a:latin typeface="Aptos"/>
                <a:ea typeface="Aptos"/>
                <a:cs typeface="Aptos"/>
              </a:rPr>
              <a:t>DISCUSSION DRAFT 0.1</a:t>
            </a:r>
          </a:p>
        </p:txBody>
      </p:sp>
      <p:sp>
        <p:nvSpPr>
          <p:cNvPr id="22" name="">
            <a:extLst xmlns:a="http://schemas.openxmlformats.org/drawingml/2006/main">
              <a:ext uri="{FF2B5EF4-FFF2-40B4-BE49-F238E27FC236}">
                <a16:creationId xmlns:a16="http://schemas.microsoft.com/office/drawing/2014/main" id="{6C024618-B74B-4C08-B1F3-0D709F81BD2E}"/>
              </a:ext>
            </a:extLst>
          </p:cNvPr>
          <p:cNvSpPr>
            <a:spLocks xmlns:a="http://schemas.openxmlformats.org/drawingml/2006/main" noGrp="1"/>
          </p:cNvSpPr>
          <p:nvPr/>
        </p:nvSpPr>
        <p:spPr>
          <a:xfrm xmlns:a="http://schemas.openxmlformats.org/drawingml/2006/main">
            <a:off x="112014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00" b="0">
                <a:solidFill>
                  <a:srgbClr val="5E6A76"/>
                </a:solidFill>
                <a:latin typeface="Aptos"/>
                <a:ea typeface="Aptos"/>
                <a:cs typeface="Aptos"/>
              </a:defRPr>
            </a:pPr>
            <a:r>
              <a:rPr sz="900" b="0">
                <a:solidFill>
                  <a:srgbClr val="5E6A76"/>
                </a:solidFill>
                <a:latin typeface="Aptos"/>
                <a:ea typeface="Aptos"/>
                <a:cs typeface="Aptos"/>
              </a:rPr>
              <a:t>7</a:t>
            </a:r>
          </a:p>
        </p:txBody>
      </p:sp>
    </p:spTree>
    <p:extLst>
      <p:ext uri="{BB962C8B-B14F-4D97-AF65-F5344CB8AC3E}">
        <p14:creationId xmlns:p14="http://schemas.microsoft.com/office/powerpoint/2010/main" val="63855314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8">
            <a:extLst xmlns:a="http://schemas.openxmlformats.org/drawingml/2006/main">
              <a:ext uri="{FF2B5EF4-FFF2-40B4-BE49-F238E27FC236}">
                <a16:creationId xmlns:a16="http://schemas.microsoft.com/office/drawing/2014/main" id="{42ABCFD2-B11E-4D37-A5A0-D758CF420C34}"/>
              </a:ext>
            </a:extLst>
          </p:cNvPr>
          <p:cNvSpPr>
            <a:spLocks xmlns:a="http://schemas.openxmlformats.org/drawingml/2006/main" noGrp="1"/>
          </p:cNvSpPr>
          <p:nvPr/>
        </p:nvSpPr>
        <p:spPr>
          <a:xfrm xmlns:a="http://schemas.openxmlformats.org/drawingml/2006/main">
            <a:off x="609600" y="3238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a:solidFill>
                  <a:srgbClr val="2F6F98"/>
                </a:solidFill>
                <a:latin typeface="Aptos"/>
                <a:ea typeface="Aptos"/>
                <a:cs typeface="Aptos"/>
              </a:defRPr>
            </a:pPr>
            <a:r>
              <a:rPr sz="975" b="1">
                <a:solidFill>
                  <a:srgbClr val="2F6F98"/>
                </a:solidFill>
                <a:latin typeface="Aptos"/>
                <a:ea typeface="Aptos"/>
                <a:cs typeface="Aptos"/>
              </a:rPr>
              <a:t>G4 — BIDIRECTIONAL LOCAL CAPABILITY</a:t>
            </a:r>
          </a:p>
        </p:txBody>
      </p:sp>
      <p:sp>
        <p:nvSpPr>
          <p:cNvPr id="2" name="title-8">
            <a:extLst xmlns:a="http://schemas.openxmlformats.org/drawingml/2006/main">
              <a:ext uri="{FF2B5EF4-FFF2-40B4-BE49-F238E27FC236}">
                <a16:creationId xmlns:a16="http://schemas.microsoft.com/office/drawing/2014/main" id="{228EE647-02DC-4671-BB65-FA3075D8F248}"/>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850" b="1">
                <a:solidFill>
                  <a:srgbClr val="17212B"/>
                </a:solidFill>
                <a:latin typeface="Aptos"/>
                <a:ea typeface="Aptos"/>
                <a:cs typeface="Aptos"/>
              </a:defRPr>
            </a:pPr>
            <a:r>
              <a:rPr sz="2850" b="1">
                <a:solidFill>
                  <a:srgbClr val="17212B"/>
                </a:solidFill>
                <a:latin typeface="Aptos"/>
                <a:ea typeface="Aptos"/>
                <a:cs typeface="Aptos"/>
              </a:rPr>
              <a:t>The advisory is decided locally—even without Cloud</a:t>
            </a:r>
          </a:p>
        </p:txBody>
      </p:sp>
      <p:sp>
        <p:nvSpPr>
          <p:cNvPr id="3" name="">
            <a:extLst xmlns:a="http://schemas.openxmlformats.org/drawingml/2006/main">
              <a:ext uri="{FF2B5EF4-FFF2-40B4-BE49-F238E27FC236}">
                <a16:creationId xmlns:a16="http://schemas.microsoft.com/office/drawing/2014/main" id="{E42FECDF-B68C-48E9-B3C7-059199A2BDA7}"/>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B9C3CC"/>
            </a:solidFill>
            <a:prstDash val="solid"/>
          </a:ln>
        </p:spPr>
      </p:sp>
      <p:sp>
        <p:nvSpPr>
          <p:cNvPr id="4" name="">
            <a:extLst xmlns:a="http://schemas.openxmlformats.org/drawingml/2006/main">
              <a:ext uri="{FF2B5EF4-FFF2-40B4-BE49-F238E27FC236}">
                <a16:creationId xmlns:a16="http://schemas.microsoft.com/office/drawing/2014/main" id="{2E9A156A-853F-4C35-B133-7E2EC194925C}"/>
              </a:ext>
            </a:extLst>
          </p:cNvPr>
          <p:cNvSpPr>
            <a:spLocks xmlns:a="http://schemas.openxmlformats.org/drawingml/2006/main" noGrp="1"/>
          </p:cNvSpPr>
          <p:nvPr/>
        </p:nvSpPr>
        <p:spPr>
          <a:xfrm xmlns:a="http://schemas.openxmlformats.org/drawingml/2006/main">
            <a:off x="609600" y="2266950"/>
            <a:ext cx="1390650" cy="781050"/>
          </a:xfrm>
          <a:prstGeom xmlns:a="http://schemas.openxmlformats.org/drawingml/2006/main" prst="roundRect">
            <a:avLst>
              <a:gd name="adj" fmla="val 12195"/>
            </a:avLst>
          </a:prstGeom>
          <a:solidFill xmlns:a="http://schemas.openxmlformats.org/drawingml/2006/main">
            <a:srgbClr val="E8F2F8"/>
          </a:solidFill>
          <a:ln xmlns:a="http://schemas.openxmlformats.org/drawingml/2006/main" w="14288">
            <a:solidFill>
              <a:srgbClr val="2F6F98"/>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Vehicle signals</a:t>
            </a:r>
          </a:p>
        </p:txBody>
      </p:sp>
      <p:sp>
        <p:nvSpPr>
          <p:cNvPr id="5" name="">
            <a:extLst xmlns:a="http://schemas.openxmlformats.org/drawingml/2006/main">
              <a:ext uri="{FF2B5EF4-FFF2-40B4-BE49-F238E27FC236}">
                <a16:creationId xmlns:a16="http://schemas.microsoft.com/office/drawing/2014/main" id="{F3100104-B240-462F-8361-3E8E8AE073E0}"/>
              </a:ext>
            </a:extLst>
          </p:cNvPr>
          <p:cNvSpPr>
            <a:spLocks xmlns:a="http://schemas.openxmlformats.org/drawingml/2006/main" noGrp="1"/>
          </p:cNvSpPr>
          <p:nvPr/>
        </p:nvSpPr>
        <p:spPr>
          <a:xfrm xmlns:a="http://schemas.openxmlformats.org/drawingml/2006/main">
            <a:off x="2362200" y="2266950"/>
            <a:ext cx="1238250" cy="781050"/>
          </a:xfrm>
          <a:prstGeom xmlns:a="http://schemas.openxmlformats.org/drawingml/2006/main" prst="roundRect">
            <a:avLst>
              <a:gd name="adj" fmla="val 12195"/>
            </a:avLst>
          </a:prstGeom>
          <a:solidFill xmlns:a="http://schemas.openxmlformats.org/drawingml/2006/main">
            <a:srgbClr val="E5F4F0"/>
          </a:solidFill>
          <a:ln xmlns:a="http://schemas.openxmlformats.org/drawingml/2006/main" w="14288">
            <a:solidFill>
              <a:srgbClr val="14806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500" b="1">
                <a:solidFill>
                  <a:srgbClr val="17212B"/>
                </a:solidFill>
                <a:latin typeface="Aptos"/>
                <a:ea typeface="Aptos"/>
                <a:cs typeface="Aptos"/>
              </a:defRPr>
            </a:pPr>
            <a:r>
              <a:rPr sz="1500" b="1">
                <a:solidFill>
                  <a:srgbClr val="17212B"/>
                </a:solidFill>
                <a:latin typeface="Aptos"/>
                <a:ea typeface="Aptos"/>
                <a:cs typeface="Aptos"/>
              </a:rPr>
              <a:t>KUKSA</a:t>
            </a:r>
          </a:p>
        </p:txBody>
      </p:sp>
      <p:sp>
        <p:nvSpPr>
          <p:cNvPr id="6" name="">
            <a:extLst xmlns:a="http://schemas.openxmlformats.org/drawingml/2006/main">
              <a:ext uri="{FF2B5EF4-FFF2-40B4-BE49-F238E27FC236}">
                <a16:creationId xmlns:a16="http://schemas.microsoft.com/office/drawing/2014/main" id="{D7BDF180-672E-4BA8-B625-007F0FCBCFA6}"/>
              </a:ext>
            </a:extLst>
          </p:cNvPr>
          <p:cNvSpPr>
            <a:spLocks xmlns:a="http://schemas.openxmlformats.org/drawingml/2006/main" noGrp="1"/>
          </p:cNvSpPr>
          <p:nvPr/>
        </p:nvSpPr>
        <p:spPr>
          <a:xfrm xmlns:a="http://schemas.openxmlformats.org/drawingml/2006/main">
            <a:off x="3962400" y="2114550"/>
            <a:ext cx="1676400" cy="1085850"/>
          </a:xfrm>
          <a:prstGeom xmlns:a="http://schemas.openxmlformats.org/drawingml/2006/main" prst="roundRect">
            <a:avLst>
              <a:gd name="adj" fmla="val 8772"/>
            </a:avLst>
          </a:prstGeom>
          <a:solidFill xmlns:a="http://schemas.openxmlformats.org/drawingml/2006/main">
            <a:srgbClr val="FFF0E5"/>
          </a:solidFill>
          <a:ln xmlns:a="http://schemas.openxmlformats.org/drawingml/2006/main" w="17145">
            <a:solidFill>
              <a:srgbClr val="C7672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500" b="1">
                <a:solidFill>
                  <a:srgbClr val="17212B"/>
                </a:solidFill>
                <a:latin typeface="Aptos"/>
                <a:ea typeface="Aptos"/>
                <a:cs typeface="Aptos"/>
              </a:defRPr>
            </a:pPr>
            <a:r>
              <a:rPr sz="1500" b="1">
                <a:solidFill>
                  <a:srgbClr val="17212B"/>
                </a:solidFill>
                <a:latin typeface="Aptos"/>
                <a:ea typeface="Aptos"/>
                <a:cs typeface="Aptos"/>
              </a:rPr>
              <a:t>Service v3</a:t>
            </a:r>
          </a:p>
          <a:p xmlns:a="http://schemas.openxmlformats.org/drawingml/2006/main">
            <a:pPr algn="ctr">
              <a:lnSpc>
                <a:spcPct val="104000"/>
              </a:lnSpc>
              <a:buNone/>
              <a:defRPr sz="1500" b="1">
                <a:solidFill>
                  <a:srgbClr val="17212B"/>
                </a:solidFill>
                <a:latin typeface="Aptos"/>
                <a:ea typeface="Aptos"/>
                <a:cs typeface="Aptos"/>
              </a:defRPr>
            </a:pPr>
            <a:r>
              <a:rPr sz="1500" b="1">
                <a:solidFill>
                  <a:srgbClr val="17212B"/>
                </a:solidFill>
                <a:latin typeface="Aptos"/>
                <a:ea typeface="Aptos"/>
                <a:cs typeface="Aptos"/>
              </a:rPr>
              <a:t>local inference</a:t>
            </a:r>
          </a:p>
        </p:txBody>
      </p:sp>
      <p:sp>
        <p:nvSpPr>
          <p:cNvPr id="7" name="">
            <a:extLst xmlns:a="http://schemas.openxmlformats.org/drawingml/2006/main">
              <a:ext uri="{FF2B5EF4-FFF2-40B4-BE49-F238E27FC236}">
                <a16:creationId xmlns:a16="http://schemas.microsoft.com/office/drawing/2014/main" id="{F687C3A9-ADB9-42A2-9872-9069FAB299A5}"/>
              </a:ext>
            </a:extLst>
          </p:cNvPr>
          <p:cNvSpPr>
            <a:spLocks xmlns:a="http://schemas.openxmlformats.org/drawingml/2006/main" noGrp="1"/>
          </p:cNvSpPr>
          <p:nvPr/>
        </p:nvSpPr>
        <p:spPr>
          <a:xfrm xmlns:a="http://schemas.openxmlformats.org/drawingml/2006/main">
            <a:off x="6000750" y="2114550"/>
            <a:ext cx="1695450" cy="1085850"/>
          </a:xfrm>
          <a:prstGeom xmlns:a="http://schemas.openxmlformats.org/drawingml/2006/main" prst="roundRect">
            <a:avLst>
              <a:gd name="adj" fmla="val 8772"/>
            </a:avLst>
          </a:prstGeom>
          <a:solidFill xmlns:a="http://schemas.openxmlformats.org/drawingml/2006/main">
            <a:srgbClr val="E5F4F0"/>
          </a:solidFill>
          <a:ln xmlns:a="http://schemas.openxmlformats.org/drawingml/2006/main" w="17145">
            <a:solidFill>
              <a:srgbClr val="14806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Allowlisted</a:t>
            </a:r>
          </a:p>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outbound provider</a:t>
            </a:r>
          </a:p>
        </p:txBody>
      </p:sp>
      <p:sp>
        <p:nvSpPr>
          <p:cNvPr id="8" name="">
            <a:extLst xmlns:a="http://schemas.openxmlformats.org/drawingml/2006/main">
              <a:ext uri="{FF2B5EF4-FFF2-40B4-BE49-F238E27FC236}">
                <a16:creationId xmlns:a16="http://schemas.microsoft.com/office/drawing/2014/main" id="{B7340AA8-672D-42AF-AE57-13E48B6B8687}"/>
              </a:ext>
            </a:extLst>
          </p:cNvPr>
          <p:cNvSpPr>
            <a:spLocks xmlns:a="http://schemas.openxmlformats.org/drawingml/2006/main" noGrp="1"/>
          </p:cNvSpPr>
          <p:nvPr/>
        </p:nvSpPr>
        <p:spPr>
          <a:xfrm xmlns:a="http://schemas.openxmlformats.org/drawingml/2006/main">
            <a:off x="8058150" y="2114550"/>
            <a:ext cx="1676400" cy="1085850"/>
          </a:xfrm>
          <a:prstGeom xmlns:a="http://schemas.openxmlformats.org/drawingml/2006/main" prst="roundRect">
            <a:avLst>
              <a:gd name="adj" fmla="val 8772"/>
            </a:avLst>
          </a:prstGeom>
          <a:solidFill xmlns:a="http://schemas.openxmlformats.org/drawingml/2006/main">
            <a:srgbClr val="E8F2F8"/>
          </a:solidFill>
          <a:ln xmlns:a="http://schemas.openxmlformats.org/drawingml/2006/main" w="17145">
            <a:solidFill>
              <a:srgbClr val="2F6F98"/>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Vehicle Gateway</a:t>
            </a:r>
          </a:p>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receipt + status</a:t>
            </a:r>
          </a:p>
        </p:txBody>
      </p:sp>
      <p:sp>
        <p:nvSpPr>
          <p:cNvPr id="9" name="">
            <a:extLst xmlns:a="http://schemas.openxmlformats.org/drawingml/2006/main">
              <a:ext uri="{FF2B5EF4-FFF2-40B4-BE49-F238E27FC236}">
                <a16:creationId xmlns:a16="http://schemas.microsoft.com/office/drawing/2014/main" id="{A25C4C7D-F365-48C1-8FC5-21D99C8D7F32}"/>
              </a:ext>
            </a:extLst>
          </p:cNvPr>
          <p:cNvSpPr>
            <a:spLocks xmlns:a="http://schemas.openxmlformats.org/drawingml/2006/main" noGrp="1"/>
          </p:cNvSpPr>
          <p:nvPr/>
        </p:nvSpPr>
        <p:spPr>
          <a:xfrm xmlns:a="http://schemas.openxmlformats.org/drawingml/2006/main">
            <a:off x="10096500" y="2266950"/>
            <a:ext cx="1485900" cy="781050"/>
          </a:xfrm>
          <a:prstGeom xmlns:a="http://schemas.openxmlformats.org/drawingml/2006/main" prst="roundRect">
            <a:avLst>
              <a:gd name="adj" fmla="val 12195"/>
            </a:avLst>
          </a:prstGeom>
          <a:solidFill xmlns:a="http://schemas.openxmlformats.org/drawingml/2006/main">
            <a:srgbClr val="F5F7F9"/>
          </a:solidFill>
          <a:ln xmlns:a="http://schemas.openxmlformats.org/drawingml/2006/main" w="14288">
            <a:solidFill>
              <a:srgbClr val="78869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350" b="1">
                <a:solidFill>
                  <a:srgbClr val="17212B"/>
                </a:solidFill>
                <a:latin typeface="Aptos"/>
                <a:ea typeface="Aptos"/>
                <a:cs typeface="Aptos"/>
              </a:defRPr>
            </a:pPr>
            <a:r>
              <a:rPr sz="1350" b="1">
                <a:solidFill>
                  <a:srgbClr val="17212B"/>
                </a:solidFill>
                <a:latin typeface="Aptos"/>
                <a:ea typeface="Aptos"/>
                <a:cs typeface="Aptos"/>
              </a:rPr>
              <a:t>Engineering</a:t>
            </a:r>
          </a:p>
          <a:p xmlns:a="http://schemas.openxmlformats.org/drawingml/2006/main">
            <a:pPr algn="ctr">
              <a:lnSpc>
                <a:spcPct val="104000"/>
              </a:lnSpc>
              <a:buNone/>
              <a:defRPr sz="1350" b="1">
                <a:solidFill>
                  <a:srgbClr val="17212B"/>
                </a:solidFill>
                <a:latin typeface="Aptos"/>
                <a:ea typeface="Aptos"/>
                <a:cs typeface="Aptos"/>
              </a:defRPr>
            </a:pPr>
            <a:r>
              <a:rPr sz="1350" b="1">
                <a:solidFill>
                  <a:srgbClr val="17212B"/>
                </a:solidFill>
                <a:latin typeface="Aptos"/>
                <a:ea typeface="Aptos"/>
                <a:cs typeface="Aptos"/>
              </a:rPr>
              <a:t>Dashboard</a:t>
            </a:r>
          </a:p>
        </p:txBody>
      </p:sp>
      <p:cxnSp>
        <p:nvCxnSpPr>
          <p:cNvPr id="32" name=""/>
          <p:cNvCxnSpPr>
            <a:stCxn xmlns:a="http://schemas.openxmlformats.org/drawingml/2006/main" id="4" idx="3"/>
            <a:endCxn xmlns:a="http://schemas.openxmlformats.org/drawingml/2006/main" id="5" idx="1"/>
          </p:cNvCxnSpPr>
          <p:nvPr/>
        </p:nvCxnSpPr>
        <p:spPr>
          <a:xfrm xmlns:a="http://schemas.openxmlformats.org/drawingml/2006/main">
            <a:off x="2000250" y="2657475"/>
            <a:ext cx="361950" cy="0"/>
          </a:xfrm>
          <a:prstGeom xmlns:a="http://schemas.openxmlformats.org/drawingml/2006/main" prst="straightConnector1">
            <a:avLst/>
          </a:prstGeom>
          <a:ln xmlns:a="http://schemas.openxmlformats.org/drawingml/2006/main" w="20955">
            <a:solidFill>
              <a:srgbClr val="2F6F98"/>
            </a:solidFill>
            <a:prstDash val="solid"/>
            <a:tailEnd type="arrow" w="med" len="med"/>
          </a:ln>
        </p:spPr>
      </p:cxnSp>
      <p:cxnSp>
        <p:nvCxnSpPr>
          <p:cNvPr id="33" name=""/>
          <p:cNvCxnSpPr>
            <a:stCxn xmlns:a="http://schemas.openxmlformats.org/drawingml/2006/main" id="5" idx="3"/>
            <a:endCxn xmlns:a="http://schemas.openxmlformats.org/drawingml/2006/main" id="6" idx="1"/>
          </p:cNvCxnSpPr>
          <p:nvPr/>
        </p:nvCxnSpPr>
        <p:spPr>
          <a:xfrm xmlns:a="http://schemas.openxmlformats.org/drawingml/2006/main">
            <a:off x="3600450" y="2657475"/>
            <a:ext cx="361950" cy="0"/>
          </a:xfrm>
          <a:prstGeom xmlns:a="http://schemas.openxmlformats.org/drawingml/2006/main" prst="straightConnector1">
            <a:avLst/>
          </a:prstGeom>
          <a:ln xmlns:a="http://schemas.openxmlformats.org/drawingml/2006/main" w="20955">
            <a:solidFill>
              <a:srgbClr val="C76724"/>
            </a:solidFill>
            <a:prstDash val="solid"/>
            <a:tailEnd type="arrow" w="med" len="med"/>
          </a:ln>
        </p:spPr>
      </p:cxnSp>
      <p:cxnSp>
        <p:nvCxnSpPr>
          <p:cNvPr id="34" name=""/>
          <p:cNvCxnSpPr>
            <a:stCxn xmlns:a="http://schemas.openxmlformats.org/drawingml/2006/main" id="6" idx="3"/>
            <a:endCxn xmlns:a="http://schemas.openxmlformats.org/drawingml/2006/main" id="7" idx="1"/>
          </p:cNvCxnSpPr>
          <p:nvPr/>
        </p:nvCxnSpPr>
        <p:spPr>
          <a:xfrm xmlns:a="http://schemas.openxmlformats.org/drawingml/2006/main">
            <a:off x="5638800" y="2657475"/>
            <a:ext cx="361950" cy="0"/>
          </a:xfrm>
          <a:prstGeom xmlns:a="http://schemas.openxmlformats.org/drawingml/2006/main" prst="straightConnector1">
            <a:avLst/>
          </a:prstGeom>
          <a:ln xmlns:a="http://schemas.openxmlformats.org/drawingml/2006/main" w="20955">
            <a:solidFill>
              <a:srgbClr val="C76724"/>
            </a:solidFill>
            <a:prstDash val="solid"/>
            <a:tailEnd type="arrow" w="med" len="med"/>
          </a:ln>
        </p:spPr>
      </p:cxnSp>
      <p:cxnSp>
        <p:nvCxnSpPr>
          <p:cNvPr id="35" name=""/>
          <p:cNvCxnSpPr>
            <a:stCxn xmlns:a="http://schemas.openxmlformats.org/drawingml/2006/main" id="7" idx="3"/>
            <a:endCxn xmlns:a="http://schemas.openxmlformats.org/drawingml/2006/main" id="8" idx="1"/>
          </p:cNvCxnSpPr>
          <p:nvPr/>
        </p:nvCxnSpPr>
        <p:spPr>
          <a:xfrm xmlns:a="http://schemas.openxmlformats.org/drawingml/2006/main">
            <a:off x="7696200" y="2657475"/>
            <a:ext cx="361950" cy="0"/>
          </a:xfrm>
          <a:prstGeom xmlns:a="http://schemas.openxmlformats.org/drawingml/2006/main" prst="straightConnector1">
            <a:avLst/>
          </a:prstGeom>
          <a:ln xmlns:a="http://schemas.openxmlformats.org/drawingml/2006/main" w="20955">
            <a:solidFill>
              <a:srgbClr val="14806F"/>
            </a:solidFill>
            <a:prstDash val="solid"/>
            <a:tailEnd type="arrow" w="med" len="med"/>
          </a:ln>
        </p:spPr>
      </p:cxnSp>
      <p:cxnSp>
        <p:nvCxnSpPr>
          <p:cNvPr id="36" name=""/>
          <p:cNvCxnSpPr>
            <a:stCxn xmlns:a="http://schemas.openxmlformats.org/drawingml/2006/main" id="8" idx="3"/>
            <a:endCxn xmlns:a="http://schemas.openxmlformats.org/drawingml/2006/main" id="9" idx="1"/>
          </p:cNvCxnSpPr>
          <p:nvPr/>
        </p:nvCxnSpPr>
        <p:spPr>
          <a:xfrm xmlns:a="http://schemas.openxmlformats.org/drawingml/2006/main">
            <a:off x="9734550" y="2657475"/>
            <a:ext cx="361950" cy="0"/>
          </a:xfrm>
          <a:prstGeom xmlns:a="http://schemas.openxmlformats.org/drawingml/2006/main" prst="straightConnector1">
            <a:avLst/>
          </a:prstGeom>
          <a:ln xmlns:a="http://schemas.openxmlformats.org/drawingml/2006/main" w="20955">
            <a:solidFill>
              <a:srgbClr val="2F6F98"/>
            </a:solidFill>
            <a:prstDash val="solid"/>
            <a:tailEnd type="arrow" w="med" len="med"/>
          </a:ln>
        </p:spPr>
      </p:cxnSp>
      <p:sp>
        <p:nvSpPr>
          <p:cNvPr id="15" name="">
            <a:extLst xmlns:a="http://schemas.openxmlformats.org/drawingml/2006/main">
              <a:ext uri="{FF2B5EF4-FFF2-40B4-BE49-F238E27FC236}">
                <a16:creationId xmlns:a16="http://schemas.microsoft.com/office/drawing/2014/main" id="{CF155BE7-8D37-4A3E-8A20-FDBE39D08A26}"/>
              </a:ext>
            </a:extLst>
          </p:cNvPr>
          <p:cNvSpPr>
            <a:spLocks xmlns:a="http://schemas.openxmlformats.org/drawingml/2006/main" noGrp="1"/>
          </p:cNvSpPr>
          <p:nvPr/>
        </p:nvSpPr>
        <p:spPr>
          <a:xfrm xmlns:a="http://schemas.openxmlformats.org/drawingml/2006/main">
            <a:off x="3143250" y="356235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725" b="1">
                <a:solidFill>
                  <a:srgbClr val="3C7A44"/>
                </a:solidFill>
                <a:latin typeface="Aptos"/>
                <a:ea typeface="Aptos"/>
                <a:cs typeface="Aptos"/>
              </a:defRPr>
            </a:pPr>
            <a:r>
              <a:rPr sz="1725" b="1">
                <a:solidFill>
                  <a:srgbClr val="3C7A44"/>
                </a:solidFill>
                <a:latin typeface="Aptos"/>
                <a:ea typeface="Aptos"/>
                <a:cs typeface="Aptos"/>
              </a:rPr>
              <a:t>No Cloud round trip in the decision path</a:t>
            </a:r>
          </a:p>
        </p:txBody>
      </p:sp>
      <p:sp>
        <p:nvSpPr>
          <p:cNvPr id="16" name="">
            <a:extLst xmlns:a="http://schemas.openxmlformats.org/drawingml/2006/main">
              <a:ext uri="{FF2B5EF4-FFF2-40B4-BE49-F238E27FC236}">
                <a16:creationId xmlns:a16="http://schemas.microsoft.com/office/drawing/2014/main" id="{4A626F30-C257-455F-BEDD-B00DEDFF9004}"/>
              </a:ext>
            </a:extLst>
          </p:cNvPr>
          <p:cNvSpPr>
            <a:spLocks xmlns:a="http://schemas.openxmlformats.org/drawingml/2006/main" noGrp="1"/>
          </p:cNvSpPr>
          <p:nvPr/>
        </p:nvSpPr>
        <p:spPr>
          <a:xfrm xmlns:a="http://schemas.openxmlformats.org/drawingml/2006/main">
            <a:off x="4495800" y="4457700"/>
            <a:ext cx="2133600" cy="666750"/>
          </a:xfrm>
          <a:prstGeom xmlns:a="http://schemas.openxmlformats.org/drawingml/2006/main" prst="roundRect">
            <a:avLst>
              <a:gd name="adj" fmla="val 14286"/>
            </a:avLst>
          </a:prstGeom>
          <a:solidFill xmlns:a="http://schemas.openxmlformats.org/drawingml/2006/main">
            <a:srgbClr val="FAEAEA"/>
          </a:solidFill>
          <a:ln xmlns:a="http://schemas.openxmlformats.org/drawingml/2006/main" w="14288">
            <a:solidFill>
              <a:srgbClr val="A43E3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425" b="1">
                <a:solidFill>
                  <a:srgbClr val="A43E3E"/>
                </a:solidFill>
                <a:latin typeface="Aptos"/>
                <a:ea typeface="Aptos"/>
                <a:cs typeface="Aptos"/>
              </a:defRPr>
            </a:pPr>
            <a:r>
              <a:rPr sz="1425" b="1">
                <a:solidFill>
                  <a:srgbClr val="A43E3E"/>
                </a:solidFill>
                <a:latin typeface="Aptos"/>
                <a:ea typeface="Aptos"/>
                <a:cs typeface="Aptos"/>
              </a:rPr>
              <a:t>Cloud unavailable</a:t>
            </a:r>
          </a:p>
        </p:txBody>
      </p:sp>
      <p:sp>
        <p:nvSpPr>
          <p:cNvPr id="17" name="">
            <a:extLst xmlns:a="http://schemas.openxmlformats.org/drawingml/2006/main">
              <a:ext uri="{FF2B5EF4-FFF2-40B4-BE49-F238E27FC236}">
                <a16:creationId xmlns:a16="http://schemas.microsoft.com/office/drawing/2014/main" id="{54E8105E-697E-479E-B2C9-89142A1990B2}"/>
              </a:ext>
            </a:extLst>
          </p:cNvPr>
          <p:cNvSpPr>
            <a:spLocks xmlns:a="http://schemas.openxmlformats.org/drawingml/2006/main" noGrp="1"/>
          </p:cNvSpPr>
          <p:nvPr/>
        </p:nvSpPr>
        <p:spPr>
          <a:xfrm xmlns:a="http://schemas.openxmlformats.org/drawingml/2006/main">
            <a:off x="7239000" y="4362450"/>
            <a:ext cx="2438400" cy="857250"/>
          </a:xfrm>
          <a:prstGeom xmlns:a="http://schemas.openxmlformats.org/drawingml/2006/main" prst="roundRect">
            <a:avLst>
              <a:gd name="adj" fmla="val 11111"/>
            </a:avLst>
          </a:prstGeom>
          <a:solidFill xmlns:a="http://schemas.openxmlformats.org/drawingml/2006/main">
            <a:srgbClr val="FFF4D6"/>
          </a:solidFill>
          <a:ln xmlns:a="http://schemas.openxmlformats.org/drawingml/2006/main" w="14288">
            <a:solidFill>
              <a:srgbClr val="9A6900"/>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350" b="1">
                <a:solidFill>
                  <a:srgbClr val="17212B"/>
                </a:solidFill>
                <a:latin typeface="Aptos"/>
                <a:ea typeface="Aptos"/>
                <a:cs typeface="Aptos"/>
              </a:defRPr>
            </a:pPr>
            <a:r>
              <a:rPr sz="1350" b="1">
                <a:solidFill>
                  <a:srgbClr val="17212B"/>
                </a:solidFill>
                <a:latin typeface="Aptos"/>
                <a:ea typeface="Aptos"/>
                <a:cs typeface="Aptos"/>
              </a:rPr>
              <a:t>Derived report retained</a:t>
            </a:r>
          </a:p>
          <a:p xmlns:a="http://schemas.openxmlformats.org/drawingml/2006/main">
            <a:pPr algn="ctr">
              <a:lnSpc>
                <a:spcPct val="104000"/>
              </a:lnSpc>
              <a:buNone/>
              <a:defRPr sz="1350" b="1">
                <a:solidFill>
                  <a:srgbClr val="17212B"/>
                </a:solidFill>
                <a:latin typeface="Aptos"/>
                <a:ea typeface="Aptos"/>
                <a:cs typeface="Aptos"/>
              </a:defRPr>
            </a:pPr>
            <a:r>
              <a:rPr sz="1350" b="1">
                <a:solidFill>
                  <a:srgbClr val="17212B"/>
                </a:solidFill>
                <a:latin typeface="Aptos"/>
                <a:ea typeface="Aptos"/>
                <a:cs typeface="Aptos"/>
              </a:rPr>
              <a:t>within bounded policy</a:t>
            </a:r>
          </a:p>
        </p:txBody>
      </p:sp>
      <p:cxnSp>
        <p:nvCxnSpPr>
          <p:cNvPr id="40" name=""/>
          <p:cNvCxnSpPr>
            <a:stCxn xmlns:a="http://schemas.openxmlformats.org/drawingml/2006/main" id="6" idx="2"/>
            <a:endCxn xmlns:a="http://schemas.openxmlformats.org/drawingml/2006/main" id="17" idx="1"/>
          </p:cNvCxnSpPr>
          <p:nvPr/>
        </p:nvCxnSpPr>
        <p:spPr>
          <a:xfrm xmlns:a="http://schemas.openxmlformats.org/drawingml/2006/main">
            <a:off x="3028950" y="3200400"/>
            <a:ext cx="4210050" cy="1590675"/>
          </a:xfrm>
          <a:prstGeom xmlns:a="http://schemas.openxmlformats.org/drawingml/2006/main" prst="bentConnector4">
            <a:avLst/>
          </a:prstGeom>
          <a:ln xmlns:a="http://schemas.openxmlformats.org/drawingml/2006/main" w="15240">
            <a:solidFill>
              <a:srgbClr val="9A6900"/>
            </a:solidFill>
            <a:prstDash val="dash"/>
            <a:tailEnd type="arrow" w="med" len="med"/>
          </a:ln>
        </p:spPr>
      </p:cxnSp>
      <p:cxnSp>
        <p:nvCxnSpPr>
          <p:cNvPr id="41" name=""/>
          <p:cNvCxnSpPr>
            <a:stCxn xmlns:a="http://schemas.openxmlformats.org/drawingml/2006/main" id="17" idx="1"/>
            <a:endCxn xmlns:a="http://schemas.openxmlformats.org/drawingml/2006/main" id="16" idx="3"/>
          </p:cNvCxnSpPr>
          <p:nvPr/>
        </p:nvCxnSpPr>
        <p:spPr>
          <a:xfrm xmlns:a="http://schemas.openxmlformats.org/drawingml/2006/main" flipH="1">
            <a:off x="6629400" y="4791075"/>
            <a:ext cx="609600" cy="0"/>
          </a:xfrm>
          <a:prstGeom xmlns:a="http://schemas.openxmlformats.org/drawingml/2006/main" prst="straightConnector1">
            <a:avLst/>
          </a:prstGeom>
          <a:ln xmlns:a="http://schemas.openxmlformats.org/drawingml/2006/main" w="15240">
            <a:solidFill>
              <a:srgbClr val="A43E3E"/>
            </a:solidFill>
            <a:prstDash val="dash"/>
            <a:tailEnd type="none" w="med" len="med"/>
          </a:ln>
        </p:spPr>
      </p:cxnSp>
      <p:sp>
        <p:nvSpPr>
          <p:cNvPr id="20" name="">
            <a:extLst xmlns:a="http://schemas.openxmlformats.org/drawingml/2006/main">
              <a:ext uri="{FF2B5EF4-FFF2-40B4-BE49-F238E27FC236}">
                <a16:creationId xmlns:a16="http://schemas.microsoft.com/office/drawing/2014/main" id="{45ADB239-0619-4858-92AB-1DF464C8A49C}"/>
              </a:ext>
            </a:extLst>
          </p:cNvPr>
          <p:cNvSpPr>
            <a:spLocks xmlns:a="http://schemas.openxmlformats.org/drawingml/2006/main" noGrp="1"/>
          </p:cNvSpPr>
          <p:nvPr/>
        </p:nvSpPr>
        <p:spPr>
          <a:xfrm xmlns:a="http://schemas.openxmlformats.org/drawingml/2006/main">
            <a:off x="3257550" y="55626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a:solidFill>
                  <a:srgbClr val="5E6A76"/>
                </a:solidFill>
                <a:latin typeface="Aptos"/>
                <a:ea typeface="Aptos"/>
                <a:cs typeface="Aptos"/>
              </a:defRPr>
            </a:pPr>
            <a:r>
              <a:rPr sz="1500" b="0">
                <a:solidFill>
                  <a:srgbClr val="5E6A76"/>
                </a:solidFill>
                <a:latin typeface="Aptos"/>
                <a:ea typeface="Aptos"/>
                <a:cs typeface="Aptos"/>
              </a:rPr>
              <a:t>After reconnection: synchronize to Function Backend with original event time</a:t>
            </a:r>
          </a:p>
        </p:txBody>
      </p:sp>
      <p:sp>
        <p:nvSpPr>
          <p:cNvPr id="21" name="">
            <a:extLst xmlns:a="http://schemas.openxmlformats.org/drawingml/2006/main">
              <a:ext uri="{FF2B5EF4-FFF2-40B4-BE49-F238E27FC236}">
                <a16:creationId xmlns:a16="http://schemas.microsoft.com/office/drawing/2014/main" id="{10679A26-7F38-4ABA-9150-A596699E8B69}"/>
              </a:ext>
            </a:extLst>
          </p:cNvPr>
          <p:cNvSpPr>
            <a:spLocks xmlns:a="http://schemas.openxmlformats.org/drawingml/2006/main" noGrp="1"/>
          </p:cNvSpPr>
          <p:nvPr/>
        </p:nvSpPr>
        <p:spPr>
          <a:xfrm xmlns:a="http://schemas.openxmlformats.org/drawingml/2006/main">
            <a:off x="609600" y="65341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825" b="1">
                <a:solidFill>
                  <a:srgbClr val="5E6A76"/>
                </a:solidFill>
                <a:latin typeface="Aptos"/>
                <a:ea typeface="Aptos"/>
                <a:cs typeface="Aptos"/>
              </a:defRPr>
            </a:pPr>
            <a:r>
              <a:rPr sz="825" b="1">
                <a:solidFill>
                  <a:srgbClr val="5E6A76"/>
                </a:solidFill>
                <a:latin typeface="Aptos"/>
                <a:ea typeface="Aptos"/>
                <a:cs typeface="Aptos"/>
              </a:rPr>
              <a:t>DISCUSSION DRAFT 0.1</a:t>
            </a:r>
          </a:p>
        </p:txBody>
      </p:sp>
      <p:sp>
        <p:nvSpPr>
          <p:cNvPr id="22" name="">
            <a:extLst xmlns:a="http://schemas.openxmlformats.org/drawingml/2006/main">
              <a:ext uri="{FF2B5EF4-FFF2-40B4-BE49-F238E27FC236}">
                <a16:creationId xmlns:a16="http://schemas.microsoft.com/office/drawing/2014/main" id="{E4273D9D-9113-4BD3-AD24-65FDE091A902}"/>
              </a:ext>
            </a:extLst>
          </p:cNvPr>
          <p:cNvSpPr>
            <a:spLocks xmlns:a="http://schemas.openxmlformats.org/drawingml/2006/main" noGrp="1"/>
          </p:cNvSpPr>
          <p:nvPr/>
        </p:nvSpPr>
        <p:spPr>
          <a:xfrm xmlns:a="http://schemas.openxmlformats.org/drawingml/2006/main">
            <a:off x="112014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00" b="0">
                <a:solidFill>
                  <a:srgbClr val="5E6A76"/>
                </a:solidFill>
                <a:latin typeface="Aptos"/>
                <a:ea typeface="Aptos"/>
                <a:cs typeface="Aptos"/>
              </a:defRPr>
            </a:pPr>
            <a:r>
              <a:rPr sz="900" b="0">
                <a:solidFill>
                  <a:srgbClr val="5E6A76"/>
                </a:solidFill>
                <a:latin typeface="Aptos"/>
                <a:ea typeface="Aptos"/>
                <a:cs typeface="Aptos"/>
              </a:rPr>
              <a:t>8</a:t>
            </a:r>
          </a:p>
        </p:txBody>
      </p:sp>
    </p:spTree>
    <p:extLst>
      <p:ext uri="{BB962C8B-B14F-4D97-AF65-F5344CB8AC3E}">
        <p14:creationId xmlns:p14="http://schemas.microsoft.com/office/powerpoint/2010/main" val="15395214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ection-9">
            <a:extLst xmlns:a="http://schemas.openxmlformats.org/drawingml/2006/main">
              <a:ext uri="{FF2B5EF4-FFF2-40B4-BE49-F238E27FC236}">
                <a16:creationId xmlns:a16="http://schemas.microsoft.com/office/drawing/2014/main" id="{FC16BB4A-1E51-48B7-9B83-81410FB29D0D}"/>
              </a:ext>
            </a:extLst>
          </p:cNvPr>
          <p:cNvSpPr>
            <a:spLocks xmlns:a="http://schemas.openxmlformats.org/drawingml/2006/main" noGrp="1"/>
          </p:cNvSpPr>
          <p:nvPr/>
        </p:nvSpPr>
        <p:spPr>
          <a:xfrm xmlns:a="http://schemas.openxmlformats.org/drawingml/2006/main">
            <a:off x="609600" y="3238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a:solidFill>
                  <a:srgbClr val="2F6F98"/>
                </a:solidFill>
                <a:latin typeface="Aptos"/>
                <a:ea typeface="Aptos"/>
                <a:cs typeface="Aptos"/>
              </a:defRPr>
            </a:pPr>
            <a:r>
              <a:rPr sz="975" b="1">
                <a:solidFill>
                  <a:srgbClr val="2F6F98"/>
                </a:solidFill>
                <a:latin typeface="Aptos"/>
                <a:ea typeface="Aptos"/>
                <a:cs typeface="Aptos"/>
              </a:rPr>
              <a:t>WHAT THE AUDIENCE SEES</a:t>
            </a:r>
          </a:p>
        </p:txBody>
      </p:sp>
      <p:sp>
        <p:nvSpPr>
          <p:cNvPr id="2" name="title-9">
            <a:extLst xmlns:a="http://schemas.openxmlformats.org/drawingml/2006/main">
              <a:ext uri="{FF2B5EF4-FFF2-40B4-BE49-F238E27FC236}">
                <a16:creationId xmlns:a16="http://schemas.microsoft.com/office/drawing/2014/main" id="{5EFA8F96-8634-4D54-AE2E-E729796C8C67}"/>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850" b="1">
                <a:solidFill>
                  <a:srgbClr val="17212B"/>
                </a:solidFill>
                <a:latin typeface="Aptos"/>
                <a:ea typeface="Aptos"/>
                <a:cs typeface="Aptos"/>
              </a:defRPr>
            </a:pPr>
            <a:r>
              <a:rPr sz="2850" b="1">
                <a:solidFill>
                  <a:srgbClr val="17212B"/>
                </a:solidFill>
                <a:latin typeface="Aptos"/>
                <a:ea typeface="Aptos"/>
                <a:cs typeface="Aptos"/>
              </a:rPr>
              <a:t>Four synchronized views keep the live story understandable</a:t>
            </a:r>
          </a:p>
        </p:txBody>
      </p:sp>
      <p:sp>
        <p:nvSpPr>
          <p:cNvPr id="3" name="">
            <a:extLst xmlns:a="http://schemas.openxmlformats.org/drawingml/2006/main">
              <a:ext uri="{FF2B5EF4-FFF2-40B4-BE49-F238E27FC236}">
                <a16:creationId xmlns:a16="http://schemas.microsoft.com/office/drawing/2014/main" id="{8CCBF853-8159-4B92-A4EC-0F8976E719D2}"/>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B9C3CC"/>
            </a:solidFill>
            <a:prstDash val="solid"/>
          </a:ln>
        </p:spPr>
      </p:sp>
      <p:sp>
        <p:nvSpPr>
          <p:cNvPr id="4" name="">
            <a:extLst xmlns:a="http://schemas.openxmlformats.org/drawingml/2006/main">
              <a:ext uri="{FF2B5EF4-FFF2-40B4-BE49-F238E27FC236}">
                <a16:creationId xmlns:a16="http://schemas.microsoft.com/office/drawing/2014/main" id="{E22AF6AD-0BD4-4148-BB19-7266F19DB7E4}"/>
              </a:ext>
            </a:extLst>
          </p:cNvPr>
          <p:cNvSpPr>
            <a:spLocks xmlns:a="http://schemas.openxmlformats.org/drawingml/2006/main" noGrp="1"/>
          </p:cNvSpPr>
          <p:nvPr/>
        </p:nvSpPr>
        <p:spPr>
          <a:xfrm xmlns:a="http://schemas.openxmlformats.org/drawingml/2006/main">
            <a:off x="609600" y="1571625"/>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2F6F98"/>
                </a:solidFill>
                <a:latin typeface="Aptos"/>
                <a:ea typeface="Aptos"/>
                <a:cs typeface="Aptos"/>
              </a:defRPr>
            </a:pPr>
            <a:r>
              <a:rPr sz="1500" b="1">
                <a:solidFill>
                  <a:srgbClr val="2F6F98"/>
                </a:solidFill>
                <a:latin typeface="Aptos"/>
                <a:ea typeface="Aptos"/>
                <a:cs typeface="Aptos"/>
              </a:rPr>
              <a:t>CARLA scene</a:t>
            </a:r>
          </a:p>
        </p:txBody>
      </p:sp>
      <p:sp>
        <p:nvSpPr>
          <p:cNvPr id="5" name="">
            <a:extLst xmlns:a="http://schemas.openxmlformats.org/drawingml/2006/main">
              <a:ext uri="{FF2B5EF4-FFF2-40B4-BE49-F238E27FC236}">
                <a16:creationId xmlns:a16="http://schemas.microsoft.com/office/drawing/2014/main" id="{059B228A-BB4B-406B-88B1-29B22DDEBFC2}"/>
              </a:ext>
            </a:extLst>
          </p:cNvPr>
          <p:cNvSpPr>
            <a:spLocks xmlns:a="http://schemas.openxmlformats.org/drawingml/2006/main" noGrp="1"/>
          </p:cNvSpPr>
          <p:nvPr/>
        </p:nvSpPr>
        <p:spPr>
          <a:xfrm xmlns:a="http://schemas.openxmlformats.org/drawingml/2006/main">
            <a:off x="2952750" y="15716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7212B"/>
                </a:solidFill>
                <a:latin typeface="Aptos"/>
                <a:ea typeface="Aptos"/>
                <a:cs typeface="Aptos"/>
              </a:defRPr>
            </a:pPr>
            <a:r>
              <a:rPr sz="1350" b="1">
                <a:solidFill>
                  <a:srgbClr val="17212B"/>
                </a:solidFill>
                <a:latin typeface="Aptos"/>
                <a:ea typeface="Aptos"/>
                <a:cs typeface="Aptos"/>
              </a:rPr>
              <a:t>Physical stimulus</a:t>
            </a:r>
          </a:p>
        </p:txBody>
      </p:sp>
      <p:sp>
        <p:nvSpPr>
          <p:cNvPr id="6" name="">
            <a:extLst xmlns:a="http://schemas.openxmlformats.org/drawingml/2006/main">
              <a:ext uri="{FF2B5EF4-FFF2-40B4-BE49-F238E27FC236}">
                <a16:creationId xmlns:a16="http://schemas.microsoft.com/office/drawing/2014/main" id="{2443E2EE-ED11-49EC-BAE8-D060AB8A73F6}"/>
              </a:ext>
            </a:extLst>
          </p:cNvPr>
          <p:cNvSpPr>
            <a:spLocks xmlns:a="http://schemas.openxmlformats.org/drawingml/2006/main" noGrp="1"/>
          </p:cNvSpPr>
          <p:nvPr/>
        </p:nvSpPr>
        <p:spPr>
          <a:xfrm xmlns:a="http://schemas.openxmlformats.org/drawingml/2006/main">
            <a:off x="5181600" y="1571625"/>
            <a:ext cx="6172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E6A76"/>
                </a:solidFill>
                <a:latin typeface="Aptos"/>
                <a:ea typeface="Aptos"/>
                <a:cs typeface="Aptos"/>
              </a:defRPr>
            </a:pPr>
            <a:r>
              <a:rPr sz="1425" b="0">
                <a:solidFill>
                  <a:srgbClr val="5E6A76"/>
                </a:solidFill>
                <a:latin typeface="Aptos"/>
                <a:ea typeface="Aptos"/>
                <a:cs typeface="Aptos"/>
              </a:rPr>
              <a:t>Vehicle motion and the repeatable hard-braking event</a:t>
            </a:r>
          </a:p>
        </p:txBody>
      </p:sp>
      <p:sp>
        <p:nvSpPr>
          <p:cNvPr id="7" name="">
            <a:extLst xmlns:a="http://schemas.openxmlformats.org/drawingml/2006/main">
              <a:ext uri="{FF2B5EF4-FFF2-40B4-BE49-F238E27FC236}">
                <a16:creationId xmlns:a16="http://schemas.microsoft.com/office/drawing/2014/main" id="{E7D49F4A-97A3-4AA4-85A4-C208F3C69836}"/>
              </a:ext>
            </a:extLst>
          </p:cNvPr>
          <p:cNvSpPr>
            <a:spLocks xmlns:a="http://schemas.openxmlformats.org/drawingml/2006/main" noGrp="1"/>
          </p:cNvSpPr>
          <p:nvPr/>
        </p:nvSpPr>
        <p:spPr>
          <a:xfrm xmlns:a="http://schemas.openxmlformats.org/drawingml/2006/main">
            <a:off x="609600" y="2171700"/>
            <a:ext cx="10744200" cy="0"/>
          </a:xfrm>
          <a:prstGeom xmlns:a="http://schemas.openxmlformats.org/drawingml/2006/main" prst="line">
            <a:avLst/>
          </a:prstGeom>
          <a:ln xmlns:a="http://schemas.openxmlformats.org/drawingml/2006/main" w="9525">
            <a:solidFill>
              <a:srgbClr val="B9C3CC"/>
            </a:solidFill>
            <a:prstDash val="solid"/>
          </a:ln>
        </p:spPr>
      </p:sp>
      <p:sp>
        <p:nvSpPr>
          <p:cNvPr id="8" name="">
            <a:extLst xmlns:a="http://schemas.openxmlformats.org/drawingml/2006/main">
              <a:ext uri="{FF2B5EF4-FFF2-40B4-BE49-F238E27FC236}">
                <a16:creationId xmlns:a16="http://schemas.microsoft.com/office/drawing/2014/main" id="{D179F26E-3700-42C9-B9CB-0FB6A7C21E09}"/>
              </a:ext>
            </a:extLst>
          </p:cNvPr>
          <p:cNvSpPr>
            <a:spLocks xmlns:a="http://schemas.openxmlformats.org/drawingml/2006/main" noGrp="1"/>
          </p:cNvSpPr>
          <p:nvPr/>
        </p:nvSpPr>
        <p:spPr>
          <a:xfrm xmlns:a="http://schemas.openxmlformats.org/drawingml/2006/main">
            <a:off x="609600" y="2447925"/>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2F6F98"/>
                </a:solidFill>
                <a:latin typeface="Aptos"/>
                <a:ea typeface="Aptos"/>
                <a:cs typeface="Aptos"/>
              </a:defRPr>
            </a:pPr>
            <a:r>
              <a:rPr sz="1500" b="1">
                <a:solidFill>
                  <a:srgbClr val="2F6F98"/>
                </a:solidFill>
                <a:latin typeface="Aptos"/>
                <a:ea typeface="Aptos"/>
                <a:cs typeface="Aptos"/>
              </a:rPr>
              <a:t>Engineering Telemetry</a:t>
            </a:r>
          </a:p>
        </p:txBody>
      </p:sp>
      <p:sp>
        <p:nvSpPr>
          <p:cNvPr id="9" name="">
            <a:extLst xmlns:a="http://schemas.openxmlformats.org/drawingml/2006/main">
              <a:ext uri="{FF2B5EF4-FFF2-40B4-BE49-F238E27FC236}">
                <a16:creationId xmlns:a16="http://schemas.microsoft.com/office/drawing/2014/main" id="{44CB9C40-18E4-4C8C-82E8-2D8F17538C4B}"/>
              </a:ext>
            </a:extLst>
          </p:cNvPr>
          <p:cNvSpPr>
            <a:spLocks xmlns:a="http://schemas.openxmlformats.org/drawingml/2006/main" noGrp="1"/>
          </p:cNvSpPr>
          <p:nvPr/>
        </p:nvSpPr>
        <p:spPr>
          <a:xfrm xmlns:a="http://schemas.openxmlformats.org/drawingml/2006/main">
            <a:off x="2952750" y="24479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7212B"/>
                </a:solidFill>
                <a:latin typeface="Aptos"/>
                <a:ea typeface="Aptos"/>
                <a:cs typeface="Aptos"/>
              </a:defRPr>
            </a:pPr>
            <a:r>
              <a:rPr sz="1350" b="1">
                <a:solidFill>
                  <a:srgbClr val="17212B"/>
                </a:solidFill>
                <a:latin typeface="Aptos"/>
                <a:ea typeface="Aptos"/>
                <a:cs typeface="Aptos"/>
              </a:rPr>
              <a:t>Gateway evidence</a:t>
            </a:r>
          </a:p>
        </p:txBody>
      </p:sp>
      <p:sp>
        <p:nvSpPr>
          <p:cNvPr id="10" name="">
            <a:extLst xmlns:a="http://schemas.openxmlformats.org/drawingml/2006/main">
              <a:ext uri="{FF2B5EF4-FFF2-40B4-BE49-F238E27FC236}">
                <a16:creationId xmlns:a16="http://schemas.microsoft.com/office/drawing/2014/main" id="{D2BC94DC-AC7D-4AC8-8146-8AFA87554A48}"/>
              </a:ext>
            </a:extLst>
          </p:cNvPr>
          <p:cNvSpPr>
            <a:spLocks xmlns:a="http://schemas.openxmlformats.org/drawingml/2006/main" noGrp="1"/>
          </p:cNvSpPr>
          <p:nvPr/>
        </p:nvSpPr>
        <p:spPr>
          <a:xfrm xmlns:a="http://schemas.openxmlformats.org/drawingml/2006/main">
            <a:off x="5181600" y="2447925"/>
            <a:ext cx="6172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E6A76"/>
                </a:solidFill>
                <a:latin typeface="Aptos"/>
                <a:ea typeface="Aptos"/>
                <a:cs typeface="Aptos"/>
              </a:defRPr>
            </a:pPr>
            <a:r>
              <a:rPr sz="1425" b="0">
                <a:solidFill>
                  <a:srgbClr val="5E6A76"/>
                </a:solidFill>
                <a:latin typeface="Aptos"/>
                <a:ea typeface="Aptos"/>
                <a:cs typeface="Aptos"/>
              </a:rPr>
              <a:t>Base signals plus advisory request and factual Gateway status</a:t>
            </a:r>
          </a:p>
        </p:txBody>
      </p:sp>
      <p:sp>
        <p:nvSpPr>
          <p:cNvPr id="11" name="">
            <a:extLst xmlns:a="http://schemas.openxmlformats.org/drawingml/2006/main">
              <a:ext uri="{FF2B5EF4-FFF2-40B4-BE49-F238E27FC236}">
                <a16:creationId xmlns:a16="http://schemas.microsoft.com/office/drawing/2014/main" id="{33E2E3D7-2867-40FE-A28A-CC29EA64660E}"/>
              </a:ext>
            </a:extLst>
          </p:cNvPr>
          <p:cNvSpPr>
            <a:spLocks xmlns:a="http://schemas.openxmlformats.org/drawingml/2006/main" noGrp="1"/>
          </p:cNvSpPr>
          <p:nvPr/>
        </p:nvSpPr>
        <p:spPr>
          <a:xfrm xmlns:a="http://schemas.openxmlformats.org/drawingml/2006/main">
            <a:off x="609600" y="3048000"/>
            <a:ext cx="10744200" cy="0"/>
          </a:xfrm>
          <a:prstGeom xmlns:a="http://schemas.openxmlformats.org/drawingml/2006/main" prst="line">
            <a:avLst/>
          </a:prstGeom>
          <a:ln xmlns:a="http://schemas.openxmlformats.org/drawingml/2006/main" w="9525">
            <a:solidFill>
              <a:srgbClr val="B9C3CC"/>
            </a:solidFill>
            <a:prstDash val="solid"/>
          </a:ln>
        </p:spPr>
      </p:sp>
      <p:sp>
        <p:nvSpPr>
          <p:cNvPr id="12" name="">
            <a:extLst xmlns:a="http://schemas.openxmlformats.org/drawingml/2006/main">
              <a:ext uri="{FF2B5EF4-FFF2-40B4-BE49-F238E27FC236}">
                <a16:creationId xmlns:a16="http://schemas.microsoft.com/office/drawing/2014/main" id="{62A2A7D9-8F6E-4246-ADEA-2A94CCA1A24F}"/>
              </a:ext>
            </a:extLst>
          </p:cNvPr>
          <p:cNvSpPr>
            <a:spLocks xmlns:a="http://schemas.openxmlformats.org/drawingml/2006/main" noGrp="1"/>
          </p:cNvSpPr>
          <p:nvPr/>
        </p:nvSpPr>
        <p:spPr>
          <a:xfrm xmlns:a="http://schemas.openxmlformats.org/drawingml/2006/main">
            <a:off x="609600" y="3324225"/>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6C55A3"/>
                </a:solidFill>
                <a:latin typeface="Aptos"/>
                <a:ea typeface="Aptos"/>
                <a:cs typeface="Aptos"/>
              </a:defRPr>
            </a:pPr>
            <a:r>
              <a:rPr sz="1500" b="1">
                <a:solidFill>
                  <a:srgbClr val="6C55A3"/>
                </a:solidFill>
                <a:latin typeface="Aptos"/>
                <a:ea typeface="Aptos"/>
                <a:cs typeface="Aptos"/>
              </a:rPr>
              <a:t>Software Delivery</a:t>
            </a:r>
          </a:p>
        </p:txBody>
      </p:sp>
      <p:sp>
        <p:nvSpPr>
          <p:cNvPr id="13" name="">
            <a:extLst xmlns:a="http://schemas.openxmlformats.org/drawingml/2006/main">
              <a:ext uri="{FF2B5EF4-FFF2-40B4-BE49-F238E27FC236}">
                <a16:creationId xmlns:a16="http://schemas.microsoft.com/office/drawing/2014/main" id="{643139BC-C63F-44DF-A185-88C7C44557C5}"/>
              </a:ext>
            </a:extLst>
          </p:cNvPr>
          <p:cNvSpPr>
            <a:spLocks xmlns:a="http://schemas.openxmlformats.org/drawingml/2006/main" noGrp="1"/>
          </p:cNvSpPr>
          <p:nvPr/>
        </p:nvSpPr>
        <p:spPr>
          <a:xfrm xmlns:a="http://schemas.openxmlformats.org/drawingml/2006/main">
            <a:off x="2952750" y="33242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7212B"/>
                </a:solidFill>
                <a:latin typeface="Aptos"/>
                <a:ea typeface="Aptos"/>
                <a:cs typeface="Aptos"/>
              </a:defRPr>
            </a:pPr>
            <a:r>
              <a:rPr sz="1350" b="1">
                <a:solidFill>
                  <a:srgbClr val="17212B"/>
                </a:solidFill>
                <a:latin typeface="Aptos"/>
                <a:ea typeface="Aptos"/>
                <a:cs typeface="Aptos"/>
              </a:rPr>
              <a:t>Lifecycle evidence</a:t>
            </a:r>
          </a:p>
        </p:txBody>
      </p:sp>
      <p:sp>
        <p:nvSpPr>
          <p:cNvPr id="14" name="">
            <a:extLst xmlns:a="http://schemas.openxmlformats.org/drawingml/2006/main">
              <a:ext uri="{FF2B5EF4-FFF2-40B4-BE49-F238E27FC236}">
                <a16:creationId xmlns:a16="http://schemas.microsoft.com/office/drawing/2014/main" id="{1FF0081E-ACDA-4BDC-AA67-8523DD6EED52}"/>
              </a:ext>
            </a:extLst>
          </p:cNvPr>
          <p:cNvSpPr>
            <a:spLocks xmlns:a="http://schemas.openxmlformats.org/drawingml/2006/main" noGrp="1"/>
          </p:cNvSpPr>
          <p:nvPr/>
        </p:nvSpPr>
        <p:spPr>
          <a:xfrm xmlns:a="http://schemas.openxmlformats.org/drawingml/2006/main">
            <a:off x="5181600" y="3324225"/>
            <a:ext cx="6172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E6A76"/>
                </a:solidFill>
                <a:latin typeface="Aptos"/>
                <a:ea typeface="Aptos"/>
                <a:cs typeface="Aptos"/>
              </a:defRPr>
            </a:pPr>
            <a:r>
              <a:rPr sz="1425" b="0">
                <a:solidFill>
                  <a:srgbClr val="5E6A76"/>
                </a:solidFill>
                <a:latin typeface="Aptos"/>
                <a:ea typeface="Aptos"/>
                <a:cs typeface="Aptos"/>
              </a:rPr>
              <a:t>Validation target, versions, readiness, approval and promotion</a:t>
            </a:r>
          </a:p>
        </p:txBody>
      </p:sp>
      <p:sp>
        <p:nvSpPr>
          <p:cNvPr id="15" name="">
            <a:extLst xmlns:a="http://schemas.openxmlformats.org/drawingml/2006/main">
              <a:ext uri="{FF2B5EF4-FFF2-40B4-BE49-F238E27FC236}">
                <a16:creationId xmlns:a16="http://schemas.microsoft.com/office/drawing/2014/main" id="{9C416E36-F0A7-45C3-BFE7-0415505F118C}"/>
              </a:ext>
            </a:extLst>
          </p:cNvPr>
          <p:cNvSpPr>
            <a:spLocks xmlns:a="http://schemas.openxmlformats.org/drawingml/2006/main" noGrp="1"/>
          </p:cNvSpPr>
          <p:nvPr/>
        </p:nvSpPr>
        <p:spPr>
          <a:xfrm xmlns:a="http://schemas.openxmlformats.org/drawingml/2006/main">
            <a:off x="609600" y="3924300"/>
            <a:ext cx="10744200" cy="0"/>
          </a:xfrm>
          <a:prstGeom xmlns:a="http://schemas.openxmlformats.org/drawingml/2006/main" prst="line">
            <a:avLst/>
          </a:prstGeom>
          <a:ln xmlns:a="http://schemas.openxmlformats.org/drawingml/2006/main" w="9525">
            <a:solidFill>
              <a:srgbClr val="B9C3CC"/>
            </a:solidFill>
            <a:prstDash val="solid"/>
          </a:ln>
        </p:spPr>
      </p:sp>
      <p:sp>
        <p:nvSpPr>
          <p:cNvPr id="16" name="">
            <a:extLst xmlns:a="http://schemas.openxmlformats.org/drawingml/2006/main">
              <a:ext uri="{FF2B5EF4-FFF2-40B4-BE49-F238E27FC236}">
                <a16:creationId xmlns:a16="http://schemas.microsoft.com/office/drawing/2014/main" id="{5C07DEBE-A30B-427C-8BB4-E4620E469E2E}"/>
              </a:ext>
            </a:extLst>
          </p:cNvPr>
          <p:cNvSpPr>
            <a:spLocks xmlns:a="http://schemas.openxmlformats.org/drawingml/2006/main" noGrp="1"/>
          </p:cNvSpPr>
          <p:nvPr/>
        </p:nvSpPr>
        <p:spPr>
          <a:xfrm xmlns:a="http://schemas.openxmlformats.org/drawingml/2006/main">
            <a:off x="609600" y="4200525"/>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C76724"/>
                </a:solidFill>
                <a:latin typeface="Aptos"/>
                <a:ea typeface="Aptos"/>
                <a:cs typeface="Aptos"/>
              </a:defRPr>
            </a:pPr>
            <a:r>
              <a:rPr sz="1500" b="1">
                <a:solidFill>
                  <a:srgbClr val="C76724"/>
                </a:solidFill>
                <a:latin typeface="Aptos"/>
                <a:ea typeface="Aptos"/>
                <a:cs typeface="Aptos"/>
              </a:rPr>
              <a:t>Function Dashboard</a:t>
            </a:r>
          </a:p>
        </p:txBody>
      </p:sp>
      <p:sp>
        <p:nvSpPr>
          <p:cNvPr id="17" name="">
            <a:extLst xmlns:a="http://schemas.openxmlformats.org/drawingml/2006/main">
              <a:ext uri="{FF2B5EF4-FFF2-40B4-BE49-F238E27FC236}">
                <a16:creationId xmlns:a16="http://schemas.microsoft.com/office/drawing/2014/main" id="{6F626A98-1E72-47AC-BBA3-0A89C28D24FE}"/>
              </a:ext>
            </a:extLst>
          </p:cNvPr>
          <p:cNvSpPr>
            <a:spLocks xmlns:a="http://schemas.openxmlformats.org/drawingml/2006/main" noGrp="1"/>
          </p:cNvSpPr>
          <p:nvPr/>
        </p:nvSpPr>
        <p:spPr>
          <a:xfrm xmlns:a="http://schemas.openxmlformats.org/drawingml/2006/main">
            <a:off x="2952750" y="42005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7212B"/>
                </a:solidFill>
                <a:latin typeface="Aptos"/>
                <a:ea typeface="Aptos"/>
                <a:cs typeface="Aptos"/>
              </a:defRPr>
            </a:pPr>
            <a:r>
              <a:rPr sz="1350" b="1">
                <a:solidFill>
                  <a:srgbClr val="17212B"/>
                </a:solidFill>
                <a:latin typeface="Aptos"/>
                <a:ea typeface="Aptos"/>
                <a:cs typeface="Aptos"/>
              </a:rPr>
              <a:t>Feature evidence</a:t>
            </a:r>
          </a:p>
        </p:txBody>
      </p:sp>
      <p:sp>
        <p:nvSpPr>
          <p:cNvPr id="18" name="">
            <a:extLst xmlns:a="http://schemas.openxmlformats.org/drawingml/2006/main">
              <a:ext uri="{FF2B5EF4-FFF2-40B4-BE49-F238E27FC236}">
                <a16:creationId xmlns:a16="http://schemas.microsoft.com/office/drawing/2014/main" id="{451B3D45-6CDB-444E-AD6C-F61C2C4EE2E5}"/>
              </a:ext>
            </a:extLst>
          </p:cNvPr>
          <p:cNvSpPr>
            <a:spLocks xmlns:a="http://schemas.openxmlformats.org/drawingml/2006/main" noGrp="1"/>
          </p:cNvSpPr>
          <p:nvPr/>
        </p:nvSpPr>
        <p:spPr>
          <a:xfrm xmlns:a="http://schemas.openxmlformats.org/drawingml/2006/main">
            <a:off x="5181600" y="4200525"/>
            <a:ext cx="6172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E6A76"/>
                </a:solidFill>
                <a:latin typeface="Aptos"/>
                <a:ea typeface="Aptos"/>
                <a:cs typeface="Aptos"/>
              </a:defRPr>
            </a:pPr>
            <a:r>
              <a:rPr sz="1425" b="0">
                <a:solidFill>
                  <a:srgbClr val="5E6A76"/>
                </a:solidFill>
                <a:latin typeface="Aptos"/>
                <a:ea typeface="Aptos"/>
                <a:cs typeface="Aptos"/>
              </a:rPr>
              <a:t>Available inputs, prediction, event time and backend synchronization</a:t>
            </a:r>
          </a:p>
        </p:txBody>
      </p:sp>
      <p:sp>
        <p:nvSpPr>
          <p:cNvPr id="19" name="">
            <a:extLst xmlns:a="http://schemas.openxmlformats.org/drawingml/2006/main">
              <a:ext uri="{FF2B5EF4-FFF2-40B4-BE49-F238E27FC236}">
                <a16:creationId xmlns:a16="http://schemas.microsoft.com/office/drawing/2014/main" id="{8D24D720-E6C4-46B0-8B65-6E44DBF56001}"/>
              </a:ext>
            </a:extLst>
          </p:cNvPr>
          <p:cNvSpPr>
            <a:spLocks xmlns:a="http://schemas.openxmlformats.org/drawingml/2006/main" noGrp="1"/>
          </p:cNvSpPr>
          <p:nvPr/>
        </p:nvSpPr>
        <p:spPr>
          <a:xfrm xmlns:a="http://schemas.openxmlformats.org/drawingml/2006/main">
            <a:off x="609600" y="4800600"/>
            <a:ext cx="10744200" cy="0"/>
          </a:xfrm>
          <a:prstGeom xmlns:a="http://schemas.openxmlformats.org/drawingml/2006/main" prst="line">
            <a:avLst/>
          </a:prstGeom>
          <a:ln xmlns:a="http://schemas.openxmlformats.org/drawingml/2006/main" w="9525">
            <a:solidFill>
              <a:srgbClr val="B9C3CC"/>
            </a:solidFill>
            <a:prstDash val="solid"/>
          </a:ln>
        </p:spPr>
      </p:sp>
      <p:sp>
        <p:nvSpPr>
          <p:cNvPr id="20" name="">
            <a:extLst xmlns:a="http://schemas.openxmlformats.org/drawingml/2006/main">
              <a:ext uri="{FF2B5EF4-FFF2-40B4-BE49-F238E27FC236}">
                <a16:creationId xmlns:a16="http://schemas.microsoft.com/office/drawing/2014/main" id="{0AB172FA-E15D-4903-A719-1E2ADA94B412}"/>
              </a:ext>
            </a:extLst>
          </p:cNvPr>
          <p:cNvSpPr>
            <a:spLocks xmlns:a="http://schemas.openxmlformats.org/drawingml/2006/main" noGrp="1"/>
          </p:cNvSpPr>
          <p:nvPr/>
        </p:nvSpPr>
        <p:spPr>
          <a:xfrm xmlns:a="http://schemas.openxmlformats.org/drawingml/2006/main">
            <a:off x="609600" y="5124450"/>
            <a:ext cx="2133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a:solidFill>
                  <a:srgbClr val="788692"/>
                </a:solidFill>
                <a:latin typeface="Aptos"/>
                <a:ea typeface="Aptos"/>
                <a:cs typeface="Aptos"/>
              </a:defRPr>
            </a:pPr>
            <a:r>
              <a:rPr sz="1275" b="1">
                <a:solidFill>
                  <a:srgbClr val="788692"/>
                </a:solidFill>
                <a:latin typeface="Aptos"/>
                <a:ea typeface="Aptos"/>
                <a:cs typeface="Aptos"/>
              </a:rPr>
              <a:t>Optional drill-down</a:t>
            </a:r>
          </a:p>
        </p:txBody>
      </p:sp>
      <p:sp>
        <p:nvSpPr>
          <p:cNvPr id="21" name="">
            <a:extLst xmlns:a="http://schemas.openxmlformats.org/drawingml/2006/main">
              <a:ext uri="{FF2B5EF4-FFF2-40B4-BE49-F238E27FC236}">
                <a16:creationId xmlns:a16="http://schemas.microsoft.com/office/drawing/2014/main" id="{AEBF0EC1-1ED7-4C03-925B-5A46663305E0}"/>
              </a:ext>
            </a:extLst>
          </p:cNvPr>
          <p:cNvSpPr>
            <a:spLocks xmlns:a="http://schemas.openxmlformats.org/drawingml/2006/main" noGrp="1"/>
          </p:cNvSpPr>
          <p:nvPr/>
        </p:nvSpPr>
        <p:spPr>
          <a:xfrm xmlns:a="http://schemas.openxmlformats.org/drawingml/2006/main">
            <a:off x="2952750" y="5105400"/>
            <a:ext cx="840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E6A76"/>
                </a:solidFill>
                <a:latin typeface="Aptos"/>
                <a:ea typeface="Aptos"/>
                <a:cs typeface="Aptos"/>
              </a:defRPr>
            </a:pPr>
            <a:r>
              <a:rPr sz="1350" b="0">
                <a:solidFill>
                  <a:srgbClr val="5E6A76"/>
                </a:solidFill>
                <a:latin typeface="Aptos"/>
                <a:ea typeface="Aptos"/>
                <a:cs typeface="Aptos"/>
              </a:rPr>
              <a:t>ELK shows selected lifecycle and runtime logs; AosCloud remains the software-state source of truth.</a:t>
            </a:r>
          </a:p>
        </p:txBody>
      </p:sp>
      <p:sp>
        <p:nvSpPr>
          <p:cNvPr id="22" name="">
            <a:extLst xmlns:a="http://schemas.openxmlformats.org/drawingml/2006/main">
              <a:ext uri="{FF2B5EF4-FFF2-40B4-BE49-F238E27FC236}">
                <a16:creationId xmlns:a16="http://schemas.microsoft.com/office/drawing/2014/main" id="{97F925E8-C7FC-477A-BA03-4606A75B21F5}"/>
              </a:ext>
            </a:extLst>
          </p:cNvPr>
          <p:cNvSpPr>
            <a:spLocks xmlns:a="http://schemas.openxmlformats.org/drawingml/2006/main" noGrp="1"/>
          </p:cNvSpPr>
          <p:nvPr/>
        </p:nvSpPr>
        <p:spPr>
          <a:xfrm xmlns:a="http://schemas.openxmlformats.org/drawingml/2006/main">
            <a:off x="609600" y="57150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a:solidFill>
                  <a:srgbClr val="17212B"/>
                </a:solidFill>
                <a:latin typeface="Aptos"/>
                <a:ea typeface="Aptos"/>
                <a:cs typeface="Aptos"/>
              </a:defRPr>
            </a:pPr>
            <a:r>
              <a:rPr sz="1425" b="1">
                <a:solidFill>
                  <a:srgbClr val="17212B"/>
                </a:solidFill>
                <a:latin typeface="Aptos"/>
                <a:ea typeface="Aptos"/>
                <a:cs typeface="Aptos"/>
              </a:rPr>
              <a:t>Tomorrow's alignment questions</a:t>
            </a:r>
          </a:p>
        </p:txBody>
      </p:sp>
      <p:sp>
        <p:nvSpPr>
          <p:cNvPr id="23" name="">
            <a:extLst xmlns:a="http://schemas.openxmlformats.org/drawingml/2006/main">
              <a:ext uri="{FF2B5EF4-FFF2-40B4-BE49-F238E27FC236}">
                <a16:creationId xmlns:a16="http://schemas.microsoft.com/office/drawing/2014/main" id="{C1902208-96FE-4C5B-AF35-A2BF53F50112}"/>
              </a:ext>
            </a:extLst>
          </p:cNvPr>
          <p:cNvSpPr>
            <a:spLocks xmlns:a="http://schemas.openxmlformats.org/drawingml/2006/main" noGrp="1"/>
          </p:cNvSpPr>
          <p:nvPr/>
        </p:nvSpPr>
        <p:spPr>
          <a:xfrm xmlns:a="http://schemas.openxmlformats.org/drawingml/2006/main">
            <a:off x="3476625" y="5676900"/>
            <a:ext cx="78771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7212B"/>
                </a:solidFill>
                <a:latin typeface="Aptos"/>
                <a:ea typeface="Aptos"/>
                <a:cs typeface="Aptos"/>
              </a:defRPr>
            </a:pPr>
            <a:r>
              <a:rPr sz="1350" b="0">
                <a:solidFill>
                  <a:srgbClr val="17212B"/>
                </a:solidFill>
                <a:latin typeface="Aptos"/>
                <a:ea typeface="Aptos"/>
                <a:cs typeface="Aptos"/>
              </a:rPr>
              <a:t>Is the G0→G4 story credible?  •  Are ownership boundaries right?  •  Are the four views sufficient?  •  Is Gateway receipt enough for this demo?</a:t>
            </a:r>
          </a:p>
        </p:txBody>
      </p:sp>
      <p:sp>
        <p:nvSpPr>
          <p:cNvPr id="24" name="">
            <a:extLst xmlns:a="http://schemas.openxmlformats.org/drawingml/2006/main">
              <a:ext uri="{FF2B5EF4-FFF2-40B4-BE49-F238E27FC236}">
                <a16:creationId xmlns:a16="http://schemas.microsoft.com/office/drawing/2014/main" id="{5C459699-5BB5-4577-A956-E56060877EB1}"/>
              </a:ext>
            </a:extLst>
          </p:cNvPr>
          <p:cNvSpPr>
            <a:spLocks xmlns:a="http://schemas.openxmlformats.org/drawingml/2006/main" noGrp="1"/>
          </p:cNvSpPr>
          <p:nvPr/>
        </p:nvSpPr>
        <p:spPr>
          <a:xfrm xmlns:a="http://schemas.openxmlformats.org/drawingml/2006/main">
            <a:off x="609600" y="65341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825" b="1">
                <a:solidFill>
                  <a:srgbClr val="5E6A76"/>
                </a:solidFill>
                <a:latin typeface="Aptos"/>
                <a:ea typeface="Aptos"/>
                <a:cs typeface="Aptos"/>
              </a:defRPr>
            </a:pPr>
            <a:r>
              <a:rPr sz="825" b="1">
                <a:solidFill>
                  <a:srgbClr val="5E6A76"/>
                </a:solidFill>
                <a:latin typeface="Aptos"/>
                <a:ea typeface="Aptos"/>
                <a:cs typeface="Aptos"/>
              </a:rPr>
              <a:t>DISCUSSION DRAFT 0.1</a:t>
            </a:r>
          </a:p>
        </p:txBody>
      </p:sp>
      <p:sp>
        <p:nvSpPr>
          <p:cNvPr id="25" name="">
            <a:extLst xmlns:a="http://schemas.openxmlformats.org/drawingml/2006/main">
              <a:ext uri="{FF2B5EF4-FFF2-40B4-BE49-F238E27FC236}">
                <a16:creationId xmlns:a16="http://schemas.microsoft.com/office/drawing/2014/main" id="{A7A6D154-1C5E-449A-9FA5-112F906CFFBE}"/>
              </a:ext>
            </a:extLst>
          </p:cNvPr>
          <p:cNvSpPr>
            <a:spLocks xmlns:a="http://schemas.openxmlformats.org/drawingml/2006/main" noGrp="1"/>
          </p:cNvSpPr>
          <p:nvPr/>
        </p:nvSpPr>
        <p:spPr>
          <a:xfrm xmlns:a="http://schemas.openxmlformats.org/drawingml/2006/main">
            <a:off x="112014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00" b="0">
                <a:solidFill>
                  <a:srgbClr val="5E6A76"/>
                </a:solidFill>
                <a:latin typeface="Aptos"/>
                <a:ea typeface="Aptos"/>
                <a:cs typeface="Aptos"/>
              </a:defRPr>
            </a:pPr>
            <a:r>
              <a:rPr sz="900" b="0">
                <a:solidFill>
                  <a:srgbClr val="5E6A76"/>
                </a:solidFill>
                <a:latin typeface="Aptos"/>
                <a:ea typeface="Aptos"/>
                <a:cs typeface="Aptos"/>
              </a:rPr>
              <a:t>9</a:t>
            </a:r>
          </a:p>
        </p:txBody>
      </p:sp>
    </p:spTree>
    <p:extLst>
      <p:ext uri="{BB962C8B-B14F-4D97-AF65-F5344CB8AC3E}">
        <p14:creationId xmlns:p14="http://schemas.microsoft.com/office/powerpoint/2010/main" val="20996262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section-10">
            <a:extLst xmlns:a="http://schemas.openxmlformats.org/drawingml/2006/main">
              <a:ext uri="{FF2B5EF4-FFF2-40B4-BE49-F238E27FC236}">
                <a16:creationId xmlns:a16="http://schemas.microsoft.com/office/drawing/2014/main" id="{A8D8A97E-6C31-4D20-A3C9-6928DAAF0891}"/>
              </a:ext>
            </a:extLst>
          </p:cNvPr>
          <p:cNvSpPr>
            <a:spLocks xmlns:a="http://schemas.openxmlformats.org/drawingml/2006/main" noGrp="1"/>
          </p:cNvSpPr>
          <p:nvPr/>
        </p:nvSpPr>
        <p:spPr>
          <a:xfrm xmlns:a="http://schemas.openxmlformats.org/drawingml/2006/main">
            <a:off x="609600" y="3238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a:solidFill>
                  <a:srgbClr val="2F6F98"/>
                </a:solidFill>
                <a:latin typeface="Aptos"/>
                <a:ea typeface="Aptos"/>
                <a:cs typeface="Aptos"/>
              </a:defRPr>
            </a:pPr>
            <a:r>
              <a:rPr sz="975" b="1">
                <a:solidFill>
                  <a:srgbClr val="2F6F98"/>
                </a:solidFill>
                <a:latin typeface="Aptos"/>
                <a:ea typeface="Aptos"/>
                <a:cs typeface="Aptos"/>
              </a:rPr>
              <a:t>BACKUP — CONSOLIDATED GAP REGISTER</a:t>
            </a:r>
          </a:p>
        </p:txBody>
      </p:sp>
      <p:sp>
        <p:nvSpPr>
          <p:cNvPr id="2" name="title-10">
            <a:extLst xmlns:a="http://schemas.openxmlformats.org/drawingml/2006/main">
              <a:ext uri="{FF2B5EF4-FFF2-40B4-BE49-F238E27FC236}">
                <a16:creationId xmlns:a16="http://schemas.microsoft.com/office/drawing/2014/main" id="{D106D6D7-DC28-4344-BC9E-FCA58BE0DFB9}"/>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850" b="1">
                <a:solidFill>
                  <a:srgbClr val="17212B"/>
                </a:solidFill>
                <a:latin typeface="Aptos"/>
                <a:ea typeface="Aptos"/>
                <a:cs typeface="Aptos"/>
              </a:defRPr>
            </a:pPr>
            <a:r>
              <a:rPr sz="2850" b="1">
                <a:solidFill>
                  <a:srgbClr val="17212B"/>
                </a:solidFill>
                <a:latin typeface="Aptos"/>
                <a:ea typeface="Aptos"/>
                <a:cs typeface="Aptos"/>
              </a:rPr>
              <a:t>Implementation gaps are tracked outside the main story</a:t>
            </a:r>
          </a:p>
        </p:txBody>
      </p:sp>
      <p:sp>
        <p:nvSpPr>
          <p:cNvPr id="3" name="">
            <a:extLst xmlns:a="http://schemas.openxmlformats.org/drawingml/2006/main">
              <a:ext uri="{FF2B5EF4-FFF2-40B4-BE49-F238E27FC236}">
                <a16:creationId xmlns:a16="http://schemas.microsoft.com/office/drawing/2014/main" id="{86B9D480-6BED-4F09-BD50-3BE5BAB3773C}"/>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B9C3CC"/>
            </a:solidFill>
            <a:prstDash val="solid"/>
          </a:ln>
        </p:spPr>
      </p:sp>
      <p:sp>
        <p:nvSpPr>
          <p:cNvPr id="4" name="">
            <a:extLst xmlns:a="http://schemas.openxmlformats.org/drawingml/2006/main">
              <a:ext uri="{FF2B5EF4-FFF2-40B4-BE49-F238E27FC236}">
                <a16:creationId xmlns:a16="http://schemas.microsoft.com/office/drawing/2014/main" id="{10372E55-1DDD-4686-AD1E-FD32AF266E58}"/>
              </a:ext>
            </a:extLst>
          </p:cNvPr>
          <p:cNvSpPr>
            <a:spLocks xmlns:a="http://schemas.openxmlformats.org/drawingml/2006/main" noGrp="1"/>
          </p:cNvSpPr>
          <p:nvPr/>
        </p:nvSpPr>
        <p:spPr>
          <a:xfrm xmlns:a="http://schemas.openxmlformats.org/drawingml/2006/main">
            <a:off x="609600" y="14668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7212B"/>
                </a:solidFill>
                <a:latin typeface="Aptos"/>
                <a:ea typeface="Aptos"/>
                <a:cs typeface="Aptos"/>
              </a:defRPr>
            </a:pPr>
            <a:r>
              <a:rPr sz="1350" b="1">
                <a:solidFill>
                  <a:srgbClr val="17212B"/>
                </a:solidFill>
                <a:latin typeface="Aptos"/>
                <a:ea typeface="Aptos"/>
                <a:cs typeface="Aptos"/>
              </a:rPr>
              <a:t>SOP substrate</a:t>
            </a:r>
          </a:p>
        </p:txBody>
      </p:sp>
      <p:sp>
        <p:nvSpPr>
          <p:cNvPr id="5" name="">
            <a:extLst xmlns:a="http://schemas.openxmlformats.org/drawingml/2006/main">
              <a:ext uri="{FF2B5EF4-FFF2-40B4-BE49-F238E27FC236}">
                <a16:creationId xmlns:a16="http://schemas.microsoft.com/office/drawing/2014/main" id="{BAD6BF65-ED18-4A5B-AEA7-C7D5F295D02E}"/>
              </a:ext>
            </a:extLst>
          </p:cNvPr>
          <p:cNvSpPr>
            <a:spLocks xmlns:a="http://schemas.openxmlformats.org/drawingml/2006/main" noGrp="1"/>
          </p:cNvSpPr>
          <p:nvPr/>
        </p:nvSpPr>
        <p:spPr>
          <a:xfrm xmlns:a="http://schemas.openxmlformats.org/drawingml/2006/main">
            <a:off x="2533650" y="1466850"/>
            <a:ext cx="304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E6A76"/>
                </a:solidFill>
                <a:latin typeface="Aptos"/>
                <a:ea typeface="Aptos"/>
                <a:cs typeface="Aptos"/>
              </a:defRPr>
            </a:pPr>
            <a:r>
              <a:rPr sz="1200" b="0">
                <a:solidFill>
                  <a:srgbClr val="5E6A76"/>
                </a:solidFill>
                <a:latin typeface="Aptos"/>
                <a:ea typeface="Aptos"/>
                <a:cs typeface="Aptos"/>
              </a:rPr>
              <a:t>Generic runtime installed and proven on both Units</a:t>
            </a:r>
          </a:p>
        </p:txBody>
      </p:sp>
      <p:sp>
        <p:nvSpPr>
          <p:cNvPr id="6" name="">
            <a:extLst xmlns:a="http://schemas.openxmlformats.org/drawingml/2006/main">
              <a:ext uri="{FF2B5EF4-FFF2-40B4-BE49-F238E27FC236}">
                <a16:creationId xmlns:a16="http://schemas.microsoft.com/office/drawing/2014/main" id="{97AA0438-C6D2-4C3E-B86B-3D5E2CA03496}"/>
              </a:ext>
            </a:extLst>
          </p:cNvPr>
          <p:cNvSpPr>
            <a:spLocks xmlns:a="http://schemas.openxmlformats.org/drawingml/2006/main" noGrp="1"/>
          </p:cNvSpPr>
          <p:nvPr/>
        </p:nvSpPr>
        <p:spPr>
          <a:xfrm xmlns:a="http://schemas.openxmlformats.org/drawingml/2006/main">
            <a:off x="609600" y="2019300"/>
            <a:ext cx="4972050" cy="0"/>
          </a:xfrm>
          <a:prstGeom xmlns:a="http://schemas.openxmlformats.org/drawingml/2006/main" prst="line">
            <a:avLst/>
          </a:prstGeom>
          <a:ln xmlns:a="http://schemas.openxmlformats.org/drawingml/2006/main" w="9525">
            <a:solidFill>
              <a:srgbClr val="B9C3CC"/>
            </a:solidFill>
            <a:prstDash val="solid"/>
          </a:ln>
        </p:spPr>
      </p:sp>
      <p:sp>
        <p:nvSpPr>
          <p:cNvPr id="7" name="">
            <a:extLst xmlns:a="http://schemas.openxmlformats.org/drawingml/2006/main">
              <a:ext uri="{FF2B5EF4-FFF2-40B4-BE49-F238E27FC236}">
                <a16:creationId xmlns:a16="http://schemas.microsoft.com/office/drawing/2014/main" id="{D9883F97-236E-4938-A752-898FF9F4672F}"/>
              </a:ext>
            </a:extLst>
          </p:cNvPr>
          <p:cNvSpPr>
            <a:spLocks xmlns:a="http://schemas.openxmlformats.org/drawingml/2006/main" noGrp="1"/>
          </p:cNvSpPr>
          <p:nvPr/>
        </p:nvSpPr>
        <p:spPr>
          <a:xfrm xmlns:a="http://schemas.openxmlformats.org/drawingml/2006/main">
            <a:off x="609600" y="220980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7212B"/>
                </a:solidFill>
                <a:latin typeface="Aptos"/>
                <a:ea typeface="Aptos"/>
                <a:cs typeface="Aptos"/>
              </a:defRPr>
            </a:pPr>
            <a:r>
              <a:rPr sz="1350" b="1">
                <a:solidFill>
                  <a:srgbClr val="17212B"/>
                </a:solidFill>
                <a:latin typeface="Aptos"/>
                <a:ea typeface="Aptos"/>
                <a:cs typeface="Aptos"/>
              </a:rPr>
              <a:t>Desired-state control</a:t>
            </a:r>
          </a:p>
        </p:txBody>
      </p:sp>
      <p:sp>
        <p:nvSpPr>
          <p:cNvPr id="8" name="">
            <a:extLst xmlns:a="http://schemas.openxmlformats.org/drawingml/2006/main">
              <a:ext uri="{FF2B5EF4-FFF2-40B4-BE49-F238E27FC236}">
                <a16:creationId xmlns:a16="http://schemas.microsoft.com/office/drawing/2014/main" id="{85E514BF-00A5-48D9-91E3-AC9AF445EA65}"/>
              </a:ext>
            </a:extLst>
          </p:cNvPr>
          <p:cNvSpPr>
            <a:spLocks xmlns:a="http://schemas.openxmlformats.org/drawingml/2006/main" noGrp="1"/>
          </p:cNvSpPr>
          <p:nvPr/>
        </p:nvSpPr>
        <p:spPr>
          <a:xfrm xmlns:a="http://schemas.openxmlformats.org/drawingml/2006/main">
            <a:off x="2533650" y="2209800"/>
            <a:ext cx="304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E6A76"/>
                </a:solidFill>
                <a:latin typeface="Aptos"/>
                <a:ea typeface="Aptos"/>
                <a:cs typeface="Aptos"/>
              </a:defRPr>
            </a:pPr>
            <a:r>
              <a:rPr sz="1200" b="0">
                <a:solidFill>
                  <a:srgbClr val="5E6A76"/>
                </a:solidFill>
                <a:latin typeface="Aptos"/>
                <a:ea typeface="Aptos"/>
                <a:cs typeface="Aptos"/>
              </a:rPr>
              <a:t>Represent G0–G4, dependencies and exact targets</a:t>
            </a:r>
          </a:p>
        </p:txBody>
      </p:sp>
      <p:sp>
        <p:nvSpPr>
          <p:cNvPr id="9" name="">
            <a:extLst xmlns:a="http://schemas.openxmlformats.org/drawingml/2006/main">
              <a:ext uri="{FF2B5EF4-FFF2-40B4-BE49-F238E27FC236}">
                <a16:creationId xmlns:a16="http://schemas.microsoft.com/office/drawing/2014/main" id="{AA166ECB-DEC2-49F9-9874-C12C19E6BCDC}"/>
              </a:ext>
            </a:extLst>
          </p:cNvPr>
          <p:cNvSpPr>
            <a:spLocks xmlns:a="http://schemas.openxmlformats.org/drawingml/2006/main" noGrp="1"/>
          </p:cNvSpPr>
          <p:nvPr/>
        </p:nvSpPr>
        <p:spPr>
          <a:xfrm xmlns:a="http://schemas.openxmlformats.org/drawingml/2006/main">
            <a:off x="609600" y="2762250"/>
            <a:ext cx="4972050" cy="0"/>
          </a:xfrm>
          <a:prstGeom xmlns:a="http://schemas.openxmlformats.org/drawingml/2006/main" prst="line">
            <a:avLst/>
          </a:prstGeom>
          <a:ln xmlns:a="http://schemas.openxmlformats.org/drawingml/2006/main" w="9525">
            <a:solidFill>
              <a:srgbClr val="B9C3CC"/>
            </a:solidFill>
            <a:prstDash val="solid"/>
          </a:ln>
        </p:spPr>
      </p:sp>
      <p:sp>
        <p:nvSpPr>
          <p:cNvPr id="10" name="">
            <a:extLst xmlns:a="http://schemas.openxmlformats.org/drawingml/2006/main">
              <a:ext uri="{FF2B5EF4-FFF2-40B4-BE49-F238E27FC236}">
                <a16:creationId xmlns:a16="http://schemas.microsoft.com/office/drawing/2014/main" id="{6322243F-EAD7-4649-9B81-F4035B5866B4}"/>
              </a:ext>
            </a:extLst>
          </p:cNvPr>
          <p:cNvSpPr>
            <a:spLocks xmlns:a="http://schemas.openxmlformats.org/drawingml/2006/main" noGrp="1"/>
          </p:cNvSpPr>
          <p:nvPr/>
        </p:nvSpPr>
        <p:spPr>
          <a:xfrm xmlns:a="http://schemas.openxmlformats.org/drawingml/2006/main">
            <a:off x="609600" y="29527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7212B"/>
                </a:solidFill>
                <a:latin typeface="Aptos"/>
                <a:ea typeface="Aptos"/>
                <a:cs typeface="Aptos"/>
              </a:defRPr>
            </a:pPr>
            <a:r>
              <a:rPr sz="1350" b="1">
                <a:solidFill>
                  <a:srgbClr val="17212B"/>
                </a:solidFill>
                <a:latin typeface="Aptos"/>
                <a:ea typeface="Aptos"/>
                <a:cs typeface="Aptos"/>
              </a:rPr>
              <a:t>CARLA stimulus</a:t>
            </a:r>
          </a:p>
        </p:txBody>
      </p:sp>
      <p:sp>
        <p:nvSpPr>
          <p:cNvPr id="11" name="">
            <a:extLst xmlns:a="http://schemas.openxmlformats.org/drawingml/2006/main">
              <a:ext uri="{FF2B5EF4-FFF2-40B4-BE49-F238E27FC236}">
                <a16:creationId xmlns:a16="http://schemas.microsoft.com/office/drawing/2014/main" id="{B7DC1239-297C-4D18-9B6F-EE7D35D5229D}"/>
              </a:ext>
            </a:extLst>
          </p:cNvPr>
          <p:cNvSpPr>
            <a:spLocks xmlns:a="http://schemas.openxmlformats.org/drawingml/2006/main" noGrp="1"/>
          </p:cNvSpPr>
          <p:nvPr/>
        </p:nvSpPr>
        <p:spPr>
          <a:xfrm xmlns:a="http://schemas.openxmlformats.org/drawingml/2006/main">
            <a:off x="2533650" y="2952750"/>
            <a:ext cx="304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E6A76"/>
                </a:solidFill>
                <a:latin typeface="Aptos"/>
                <a:ea typeface="Aptos"/>
                <a:cs typeface="Aptos"/>
              </a:defRPr>
            </a:pPr>
            <a:r>
              <a:rPr sz="1200" b="0">
                <a:solidFill>
                  <a:srgbClr val="5E6A76"/>
                </a:solidFill>
                <a:latin typeface="Aptos"/>
                <a:ea typeface="Aptos"/>
                <a:cs typeface="Aptos"/>
              </a:rPr>
              <a:t>Deterministic obstacle, braking event and replay</a:t>
            </a:r>
          </a:p>
        </p:txBody>
      </p:sp>
      <p:sp>
        <p:nvSpPr>
          <p:cNvPr id="12" name="">
            <a:extLst xmlns:a="http://schemas.openxmlformats.org/drawingml/2006/main">
              <a:ext uri="{FF2B5EF4-FFF2-40B4-BE49-F238E27FC236}">
                <a16:creationId xmlns:a16="http://schemas.microsoft.com/office/drawing/2014/main" id="{6F44F5BE-37D7-49D8-9160-A9DDC826285E}"/>
              </a:ext>
            </a:extLst>
          </p:cNvPr>
          <p:cNvSpPr>
            <a:spLocks xmlns:a="http://schemas.openxmlformats.org/drawingml/2006/main" noGrp="1"/>
          </p:cNvSpPr>
          <p:nvPr/>
        </p:nvSpPr>
        <p:spPr>
          <a:xfrm xmlns:a="http://schemas.openxmlformats.org/drawingml/2006/main">
            <a:off x="609600" y="3505200"/>
            <a:ext cx="4972050" cy="0"/>
          </a:xfrm>
          <a:prstGeom xmlns:a="http://schemas.openxmlformats.org/drawingml/2006/main" prst="line">
            <a:avLst/>
          </a:prstGeom>
          <a:ln xmlns:a="http://schemas.openxmlformats.org/drawingml/2006/main" w="9525">
            <a:solidFill>
              <a:srgbClr val="B9C3CC"/>
            </a:solidFill>
            <a:prstDash val="solid"/>
          </a:ln>
        </p:spPr>
      </p:sp>
      <p:sp>
        <p:nvSpPr>
          <p:cNvPr id="13" name="">
            <a:extLst xmlns:a="http://schemas.openxmlformats.org/drawingml/2006/main">
              <a:ext uri="{FF2B5EF4-FFF2-40B4-BE49-F238E27FC236}">
                <a16:creationId xmlns:a16="http://schemas.microsoft.com/office/drawing/2014/main" id="{3054BD61-1D76-406B-A3A4-8B20EE5DC3E8}"/>
              </a:ext>
            </a:extLst>
          </p:cNvPr>
          <p:cNvSpPr>
            <a:spLocks xmlns:a="http://schemas.openxmlformats.org/drawingml/2006/main" noGrp="1"/>
          </p:cNvSpPr>
          <p:nvPr/>
        </p:nvSpPr>
        <p:spPr>
          <a:xfrm xmlns:a="http://schemas.openxmlformats.org/drawingml/2006/main">
            <a:off x="609600" y="369570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7212B"/>
                </a:solidFill>
                <a:latin typeface="Aptos"/>
                <a:ea typeface="Aptos"/>
                <a:cs typeface="Aptos"/>
              </a:defRPr>
            </a:pPr>
            <a:r>
              <a:rPr sz="1350" b="1">
                <a:solidFill>
                  <a:srgbClr val="17212B"/>
                </a:solidFill>
                <a:latin typeface="Aptos"/>
                <a:ea typeface="Aptos"/>
                <a:cs typeface="Aptos"/>
              </a:rPr>
              <a:t>Inbound platform</a:t>
            </a:r>
          </a:p>
        </p:txBody>
      </p:sp>
      <p:sp>
        <p:nvSpPr>
          <p:cNvPr id="14" name="">
            <a:extLst xmlns:a="http://schemas.openxmlformats.org/drawingml/2006/main">
              <a:ext uri="{FF2B5EF4-FFF2-40B4-BE49-F238E27FC236}">
                <a16:creationId xmlns:a16="http://schemas.microsoft.com/office/drawing/2014/main" id="{8E8F380A-5636-4082-8F2B-D9E657A68FB2}"/>
              </a:ext>
            </a:extLst>
          </p:cNvPr>
          <p:cNvSpPr>
            <a:spLocks xmlns:a="http://schemas.openxmlformats.org/drawingml/2006/main" noGrp="1"/>
          </p:cNvSpPr>
          <p:nvPr/>
        </p:nvSpPr>
        <p:spPr>
          <a:xfrm xmlns:a="http://schemas.openxmlformats.org/drawingml/2006/main">
            <a:off x="2533650" y="3695700"/>
            <a:ext cx="304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E6A76"/>
                </a:solidFill>
                <a:latin typeface="Aptos"/>
                <a:ea typeface="Aptos"/>
                <a:cs typeface="Aptos"/>
              </a:defRPr>
            </a:pPr>
            <a:r>
              <a:rPr sz="1200" b="0">
                <a:solidFill>
                  <a:srgbClr val="5E6A76"/>
                </a:solidFill>
                <a:latin typeface="Aptos"/>
                <a:ea typeface="Aptos"/>
                <a:cs typeface="Aptos"/>
              </a:rPr>
              <a:t>P1/P2 contracts, health and compatibility</a:t>
            </a:r>
          </a:p>
        </p:txBody>
      </p:sp>
      <p:sp>
        <p:nvSpPr>
          <p:cNvPr id="15" name="">
            <a:extLst xmlns:a="http://schemas.openxmlformats.org/drawingml/2006/main">
              <a:ext uri="{FF2B5EF4-FFF2-40B4-BE49-F238E27FC236}">
                <a16:creationId xmlns:a16="http://schemas.microsoft.com/office/drawing/2014/main" id="{CEEBEAD6-9DC6-4D4D-9AC5-3392FFC9B80C}"/>
              </a:ext>
            </a:extLst>
          </p:cNvPr>
          <p:cNvSpPr>
            <a:spLocks xmlns:a="http://schemas.openxmlformats.org/drawingml/2006/main" noGrp="1"/>
          </p:cNvSpPr>
          <p:nvPr/>
        </p:nvSpPr>
        <p:spPr>
          <a:xfrm xmlns:a="http://schemas.openxmlformats.org/drawingml/2006/main">
            <a:off x="609600" y="4248150"/>
            <a:ext cx="4972050" cy="0"/>
          </a:xfrm>
          <a:prstGeom xmlns:a="http://schemas.openxmlformats.org/drawingml/2006/main" prst="line">
            <a:avLst/>
          </a:prstGeom>
          <a:ln xmlns:a="http://schemas.openxmlformats.org/drawingml/2006/main" w="9525">
            <a:solidFill>
              <a:srgbClr val="B9C3CC"/>
            </a:solidFill>
            <a:prstDash val="solid"/>
          </a:ln>
        </p:spPr>
      </p:sp>
      <p:sp>
        <p:nvSpPr>
          <p:cNvPr id="16" name="">
            <a:extLst xmlns:a="http://schemas.openxmlformats.org/drawingml/2006/main">
              <a:ext uri="{FF2B5EF4-FFF2-40B4-BE49-F238E27FC236}">
                <a16:creationId xmlns:a16="http://schemas.microsoft.com/office/drawing/2014/main" id="{B1ACA9D8-23BF-4E7C-A2C9-DAABFA9A0584}"/>
              </a:ext>
            </a:extLst>
          </p:cNvPr>
          <p:cNvSpPr>
            <a:spLocks xmlns:a="http://schemas.openxmlformats.org/drawingml/2006/main" noGrp="1"/>
          </p:cNvSpPr>
          <p:nvPr/>
        </p:nvSpPr>
        <p:spPr>
          <a:xfrm xmlns:a="http://schemas.openxmlformats.org/drawingml/2006/main">
            <a:off x="609600" y="44386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7212B"/>
                </a:solidFill>
                <a:latin typeface="Aptos"/>
                <a:ea typeface="Aptos"/>
                <a:cs typeface="Aptos"/>
              </a:defRPr>
            </a:pPr>
            <a:r>
              <a:rPr sz="1350" b="1">
                <a:solidFill>
                  <a:srgbClr val="17212B"/>
                </a:solidFill>
                <a:latin typeface="Aptos"/>
                <a:ea typeface="Aptos"/>
                <a:cs typeface="Aptos"/>
              </a:rPr>
              <a:t>SOTA application</a:t>
            </a:r>
          </a:p>
        </p:txBody>
      </p:sp>
      <p:sp>
        <p:nvSpPr>
          <p:cNvPr id="17" name="">
            <a:extLst xmlns:a="http://schemas.openxmlformats.org/drawingml/2006/main">
              <a:ext uri="{FF2B5EF4-FFF2-40B4-BE49-F238E27FC236}">
                <a16:creationId xmlns:a16="http://schemas.microsoft.com/office/drawing/2014/main" id="{6EEBAC7A-9083-4046-BC2E-8258D7BFE9BE}"/>
              </a:ext>
            </a:extLst>
          </p:cNvPr>
          <p:cNvSpPr>
            <a:spLocks xmlns:a="http://schemas.openxmlformats.org/drawingml/2006/main" noGrp="1"/>
          </p:cNvSpPr>
          <p:nvPr/>
        </p:nvSpPr>
        <p:spPr>
          <a:xfrm xmlns:a="http://schemas.openxmlformats.org/drawingml/2006/main">
            <a:off x="2533650" y="4438650"/>
            <a:ext cx="304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E6A76"/>
                </a:solidFill>
                <a:latin typeface="Aptos"/>
                <a:ea typeface="Aptos"/>
                <a:cs typeface="Aptos"/>
              </a:defRPr>
            </a:pPr>
            <a:r>
              <a:rPr sz="1200" b="0">
                <a:solidFill>
                  <a:srgbClr val="5E6A76"/>
                </a:solidFill>
                <a:latin typeface="Aptos"/>
                <a:ea typeface="Aptos"/>
                <a:cs typeface="Aptos"/>
              </a:rPr>
              <a:t>Service v1, predictive v2 and advisory v3</a:t>
            </a:r>
          </a:p>
        </p:txBody>
      </p:sp>
      <p:sp>
        <p:nvSpPr>
          <p:cNvPr id="18" name="">
            <a:extLst xmlns:a="http://schemas.openxmlformats.org/drawingml/2006/main">
              <a:ext uri="{FF2B5EF4-FFF2-40B4-BE49-F238E27FC236}">
                <a16:creationId xmlns:a16="http://schemas.microsoft.com/office/drawing/2014/main" id="{B0A259D5-1E2F-41A2-A42E-792A9019A48E}"/>
              </a:ext>
            </a:extLst>
          </p:cNvPr>
          <p:cNvSpPr>
            <a:spLocks xmlns:a="http://schemas.openxmlformats.org/drawingml/2006/main" noGrp="1"/>
          </p:cNvSpPr>
          <p:nvPr/>
        </p:nvSpPr>
        <p:spPr>
          <a:xfrm xmlns:a="http://schemas.openxmlformats.org/drawingml/2006/main">
            <a:off x="609600" y="4991100"/>
            <a:ext cx="4972050" cy="0"/>
          </a:xfrm>
          <a:prstGeom xmlns:a="http://schemas.openxmlformats.org/drawingml/2006/main" prst="line">
            <a:avLst/>
          </a:prstGeom>
          <a:ln xmlns:a="http://schemas.openxmlformats.org/drawingml/2006/main" w="9525">
            <a:solidFill>
              <a:srgbClr val="B9C3CC"/>
            </a:solidFill>
            <a:prstDash val="solid"/>
          </a:ln>
        </p:spPr>
      </p:sp>
      <p:sp>
        <p:nvSpPr>
          <p:cNvPr id="19" name="">
            <a:extLst xmlns:a="http://schemas.openxmlformats.org/drawingml/2006/main">
              <a:ext uri="{FF2B5EF4-FFF2-40B4-BE49-F238E27FC236}">
                <a16:creationId xmlns:a16="http://schemas.microsoft.com/office/drawing/2014/main" id="{D6E18E68-E9EC-4A6C-B84B-B73D37568FE8}"/>
              </a:ext>
            </a:extLst>
          </p:cNvPr>
          <p:cNvSpPr>
            <a:spLocks xmlns:a="http://schemas.openxmlformats.org/drawingml/2006/main" noGrp="1"/>
          </p:cNvSpPr>
          <p:nvPr/>
        </p:nvSpPr>
        <p:spPr>
          <a:xfrm xmlns:a="http://schemas.openxmlformats.org/drawingml/2006/main">
            <a:off x="609600" y="518160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7212B"/>
                </a:solidFill>
                <a:latin typeface="Aptos"/>
                <a:ea typeface="Aptos"/>
                <a:cs typeface="Aptos"/>
              </a:defRPr>
            </a:pPr>
            <a:r>
              <a:rPr sz="1350" b="1">
                <a:solidFill>
                  <a:srgbClr val="17212B"/>
                </a:solidFill>
                <a:latin typeface="Aptos"/>
                <a:ea typeface="Aptos"/>
                <a:cs typeface="Aptos"/>
              </a:rPr>
              <a:t>Functional Cloud</a:t>
            </a:r>
          </a:p>
        </p:txBody>
      </p:sp>
      <p:sp>
        <p:nvSpPr>
          <p:cNvPr id="20" name="">
            <a:extLst xmlns:a="http://schemas.openxmlformats.org/drawingml/2006/main">
              <a:ext uri="{FF2B5EF4-FFF2-40B4-BE49-F238E27FC236}">
                <a16:creationId xmlns:a16="http://schemas.microsoft.com/office/drawing/2014/main" id="{DAB7F378-B34C-436A-8D12-81F9BECCEED5}"/>
              </a:ext>
            </a:extLst>
          </p:cNvPr>
          <p:cNvSpPr>
            <a:spLocks xmlns:a="http://schemas.openxmlformats.org/drawingml/2006/main" noGrp="1"/>
          </p:cNvSpPr>
          <p:nvPr/>
        </p:nvSpPr>
        <p:spPr>
          <a:xfrm xmlns:a="http://schemas.openxmlformats.org/drawingml/2006/main">
            <a:off x="2533650" y="5181600"/>
            <a:ext cx="304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E6A76"/>
                </a:solidFill>
                <a:latin typeface="Aptos"/>
                <a:ea typeface="Aptos"/>
                <a:cs typeface="Aptos"/>
              </a:defRPr>
            </a:pPr>
            <a:r>
              <a:rPr sz="1200" b="0">
                <a:solidFill>
                  <a:srgbClr val="5E6A76"/>
                </a:solidFill>
                <a:latin typeface="Aptos"/>
                <a:ea typeface="Aptos"/>
                <a:cs typeface="Aptos"/>
              </a:rPr>
              <a:t>Backend, bounded ingestion and Function Dashboard</a:t>
            </a:r>
          </a:p>
        </p:txBody>
      </p:sp>
      <p:sp>
        <p:nvSpPr>
          <p:cNvPr id="21" name="">
            <a:extLst xmlns:a="http://schemas.openxmlformats.org/drawingml/2006/main">
              <a:ext uri="{FF2B5EF4-FFF2-40B4-BE49-F238E27FC236}">
                <a16:creationId xmlns:a16="http://schemas.microsoft.com/office/drawing/2014/main" id="{2637CA9E-4ABE-4083-AC3A-1F08A7196B54}"/>
              </a:ext>
            </a:extLst>
          </p:cNvPr>
          <p:cNvSpPr>
            <a:spLocks xmlns:a="http://schemas.openxmlformats.org/drawingml/2006/main" noGrp="1"/>
          </p:cNvSpPr>
          <p:nvPr/>
        </p:nvSpPr>
        <p:spPr>
          <a:xfrm xmlns:a="http://schemas.openxmlformats.org/drawingml/2006/main">
            <a:off x="609600" y="5734050"/>
            <a:ext cx="4972050" cy="0"/>
          </a:xfrm>
          <a:prstGeom xmlns:a="http://schemas.openxmlformats.org/drawingml/2006/main" prst="line">
            <a:avLst/>
          </a:prstGeom>
          <a:ln xmlns:a="http://schemas.openxmlformats.org/drawingml/2006/main" w="9525">
            <a:solidFill>
              <a:srgbClr val="B9C3CC"/>
            </a:solidFill>
            <a:prstDash val="solid"/>
          </a:ln>
        </p:spPr>
      </p:sp>
      <p:sp>
        <p:nvSpPr>
          <p:cNvPr id="22" name="">
            <a:extLst xmlns:a="http://schemas.openxmlformats.org/drawingml/2006/main">
              <a:ext uri="{FF2B5EF4-FFF2-40B4-BE49-F238E27FC236}">
                <a16:creationId xmlns:a16="http://schemas.microsoft.com/office/drawing/2014/main" id="{B929D31D-9ACB-4177-9FED-7E872F97EE11}"/>
              </a:ext>
            </a:extLst>
          </p:cNvPr>
          <p:cNvSpPr>
            <a:spLocks xmlns:a="http://schemas.openxmlformats.org/drawingml/2006/main" noGrp="1"/>
          </p:cNvSpPr>
          <p:nvPr/>
        </p:nvSpPr>
        <p:spPr>
          <a:xfrm xmlns:a="http://schemas.openxmlformats.org/drawingml/2006/main">
            <a:off x="6267450" y="14668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7212B"/>
                </a:solidFill>
                <a:latin typeface="Aptos"/>
                <a:ea typeface="Aptos"/>
                <a:cs typeface="Aptos"/>
              </a:defRPr>
            </a:pPr>
            <a:r>
              <a:rPr sz="1350" b="1">
                <a:solidFill>
                  <a:srgbClr val="17212B"/>
                </a:solidFill>
                <a:latin typeface="Aptos"/>
                <a:ea typeface="Aptos"/>
                <a:cs typeface="Aptos"/>
              </a:rPr>
              <a:t>Bidirectional platform</a:t>
            </a:r>
          </a:p>
        </p:txBody>
      </p:sp>
      <p:sp>
        <p:nvSpPr>
          <p:cNvPr id="23" name="">
            <a:extLst xmlns:a="http://schemas.openxmlformats.org/drawingml/2006/main">
              <a:ext uri="{FF2B5EF4-FFF2-40B4-BE49-F238E27FC236}">
                <a16:creationId xmlns:a16="http://schemas.microsoft.com/office/drawing/2014/main" id="{0EB1B12D-31EB-4923-9AD2-C067687C9363}"/>
              </a:ext>
            </a:extLst>
          </p:cNvPr>
          <p:cNvSpPr>
            <a:spLocks xmlns:a="http://schemas.openxmlformats.org/drawingml/2006/main" noGrp="1"/>
          </p:cNvSpPr>
          <p:nvPr/>
        </p:nvSpPr>
        <p:spPr>
          <a:xfrm xmlns:a="http://schemas.openxmlformats.org/drawingml/2006/main">
            <a:off x="8191500" y="1466850"/>
            <a:ext cx="304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E6A76"/>
                </a:solidFill>
                <a:latin typeface="Aptos"/>
                <a:ea typeface="Aptos"/>
                <a:cs typeface="Aptos"/>
              </a:defRPr>
            </a:pPr>
            <a:r>
              <a:rPr sz="1200" b="0">
                <a:solidFill>
                  <a:srgbClr val="5E6A76"/>
                </a:solidFill>
                <a:latin typeface="Aptos"/>
                <a:ea typeface="Aptos"/>
                <a:cs typeface="Aptos"/>
              </a:rPr>
              <a:t>Actuator contract, outbound provider and Gateway status</a:t>
            </a:r>
          </a:p>
        </p:txBody>
      </p:sp>
      <p:sp>
        <p:nvSpPr>
          <p:cNvPr id="24" name="">
            <a:extLst xmlns:a="http://schemas.openxmlformats.org/drawingml/2006/main">
              <a:ext uri="{FF2B5EF4-FFF2-40B4-BE49-F238E27FC236}">
                <a16:creationId xmlns:a16="http://schemas.microsoft.com/office/drawing/2014/main" id="{52CC8A04-9493-4D91-BD43-C8E6E776BA96}"/>
              </a:ext>
            </a:extLst>
          </p:cNvPr>
          <p:cNvSpPr>
            <a:spLocks xmlns:a="http://schemas.openxmlformats.org/drawingml/2006/main" noGrp="1"/>
          </p:cNvSpPr>
          <p:nvPr/>
        </p:nvSpPr>
        <p:spPr>
          <a:xfrm xmlns:a="http://schemas.openxmlformats.org/drawingml/2006/main">
            <a:off x="6267450" y="2019300"/>
            <a:ext cx="4972050" cy="0"/>
          </a:xfrm>
          <a:prstGeom xmlns:a="http://schemas.openxmlformats.org/drawingml/2006/main" prst="line">
            <a:avLst/>
          </a:prstGeom>
          <a:ln xmlns:a="http://schemas.openxmlformats.org/drawingml/2006/main" w="9525">
            <a:solidFill>
              <a:srgbClr val="B9C3CC"/>
            </a:solidFill>
            <a:prstDash val="solid"/>
          </a:ln>
        </p:spPr>
      </p:sp>
      <p:sp>
        <p:nvSpPr>
          <p:cNvPr id="25" name="">
            <a:extLst xmlns:a="http://schemas.openxmlformats.org/drawingml/2006/main">
              <a:ext uri="{FF2B5EF4-FFF2-40B4-BE49-F238E27FC236}">
                <a16:creationId xmlns:a16="http://schemas.microsoft.com/office/drawing/2014/main" id="{8CBF212B-5893-403B-B68F-2CAB2C2FFE44}"/>
              </a:ext>
            </a:extLst>
          </p:cNvPr>
          <p:cNvSpPr>
            <a:spLocks xmlns:a="http://schemas.openxmlformats.org/drawingml/2006/main" noGrp="1"/>
          </p:cNvSpPr>
          <p:nvPr/>
        </p:nvSpPr>
        <p:spPr>
          <a:xfrm xmlns:a="http://schemas.openxmlformats.org/drawingml/2006/main">
            <a:off x="6267450" y="220980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7212B"/>
                </a:solidFill>
                <a:latin typeface="Aptos"/>
                <a:ea typeface="Aptos"/>
                <a:cs typeface="Aptos"/>
              </a:defRPr>
            </a:pPr>
            <a:r>
              <a:rPr sz="1350" b="1">
                <a:solidFill>
                  <a:srgbClr val="17212B"/>
                </a:solidFill>
                <a:latin typeface="Aptos"/>
                <a:ea typeface="Aptos"/>
                <a:cs typeface="Aptos"/>
              </a:rPr>
              <a:t>Authorization</a:t>
            </a:r>
          </a:p>
        </p:txBody>
      </p:sp>
      <p:sp>
        <p:nvSpPr>
          <p:cNvPr id="26" name="">
            <a:extLst xmlns:a="http://schemas.openxmlformats.org/drawingml/2006/main">
              <a:ext uri="{FF2B5EF4-FFF2-40B4-BE49-F238E27FC236}">
                <a16:creationId xmlns:a16="http://schemas.microsoft.com/office/drawing/2014/main" id="{139429DA-8582-460B-8EB0-DCCCCB7AA5C0}"/>
              </a:ext>
            </a:extLst>
          </p:cNvPr>
          <p:cNvSpPr>
            <a:spLocks xmlns:a="http://schemas.openxmlformats.org/drawingml/2006/main" noGrp="1"/>
          </p:cNvSpPr>
          <p:nvPr/>
        </p:nvSpPr>
        <p:spPr>
          <a:xfrm xmlns:a="http://schemas.openxmlformats.org/drawingml/2006/main">
            <a:off x="8191500" y="2209800"/>
            <a:ext cx="304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E6A76"/>
                </a:solidFill>
                <a:latin typeface="Aptos"/>
                <a:ea typeface="Aptos"/>
                <a:cs typeface="Aptos"/>
              </a:defRPr>
            </a:pPr>
            <a:r>
              <a:rPr sz="1200" b="0">
                <a:solidFill>
                  <a:srgbClr val="5E6A76"/>
                </a:solidFill>
                <a:latin typeface="Aptos"/>
                <a:ea typeface="Aptos"/>
                <a:cs typeface="Aptos"/>
              </a:rPr>
              <a:t>Least privilege and future Aos authorization adapter</a:t>
            </a:r>
          </a:p>
        </p:txBody>
      </p:sp>
      <p:sp>
        <p:nvSpPr>
          <p:cNvPr id="27" name="">
            <a:extLst xmlns:a="http://schemas.openxmlformats.org/drawingml/2006/main">
              <a:ext uri="{FF2B5EF4-FFF2-40B4-BE49-F238E27FC236}">
                <a16:creationId xmlns:a16="http://schemas.microsoft.com/office/drawing/2014/main" id="{5B87C6A7-CC0B-4A05-8721-AB7C47B4C435}"/>
              </a:ext>
            </a:extLst>
          </p:cNvPr>
          <p:cNvSpPr>
            <a:spLocks xmlns:a="http://schemas.openxmlformats.org/drawingml/2006/main" noGrp="1"/>
          </p:cNvSpPr>
          <p:nvPr/>
        </p:nvSpPr>
        <p:spPr>
          <a:xfrm xmlns:a="http://schemas.openxmlformats.org/drawingml/2006/main">
            <a:off x="6267450" y="2762250"/>
            <a:ext cx="4972050" cy="0"/>
          </a:xfrm>
          <a:prstGeom xmlns:a="http://schemas.openxmlformats.org/drawingml/2006/main" prst="line">
            <a:avLst/>
          </a:prstGeom>
          <a:ln xmlns:a="http://schemas.openxmlformats.org/drawingml/2006/main" w="9525">
            <a:solidFill>
              <a:srgbClr val="B9C3CC"/>
            </a:solidFill>
            <a:prstDash val="solid"/>
          </a:ln>
        </p:spPr>
      </p:sp>
      <p:sp>
        <p:nvSpPr>
          <p:cNvPr id="28" name="">
            <a:extLst xmlns:a="http://schemas.openxmlformats.org/drawingml/2006/main">
              <a:ext uri="{FF2B5EF4-FFF2-40B4-BE49-F238E27FC236}">
                <a16:creationId xmlns:a16="http://schemas.microsoft.com/office/drawing/2014/main" id="{06F06449-0C25-4C9E-8979-0641743EBD31}"/>
              </a:ext>
            </a:extLst>
          </p:cNvPr>
          <p:cNvSpPr>
            <a:spLocks xmlns:a="http://schemas.openxmlformats.org/drawingml/2006/main" noGrp="1"/>
          </p:cNvSpPr>
          <p:nvPr/>
        </p:nvSpPr>
        <p:spPr>
          <a:xfrm xmlns:a="http://schemas.openxmlformats.org/drawingml/2006/main">
            <a:off x="6267450" y="29527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7212B"/>
                </a:solidFill>
                <a:latin typeface="Aptos"/>
                <a:ea typeface="Aptos"/>
                <a:cs typeface="Aptos"/>
              </a:defRPr>
            </a:pPr>
            <a:r>
              <a:rPr sz="1350" b="1">
                <a:solidFill>
                  <a:srgbClr val="17212B"/>
                </a:solidFill>
                <a:latin typeface="Aptos"/>
                <a:ea typeface="Aptos"/>
                <a:cs typeface="Aptos"/>
              </a:rPr>
              <a:t>Logging</a:t>
            </a:r>
          </a:p>
        </p:txBody>
      </p:sp>
      <p:sp>
        <p:nvSpPr>
          <p:cNvPr id="29" name="">
            <a:extLst xmlns:a="http://schemas.openxmlformats.org/drawingml/2006/main">
              <a:ext uri="{FF2B5EF4-FFF2-40B4-BE49-F238E27FC236}">
                <a16:creationId xmlns:a16="http://schemas.microsoft.com/office/drawing/2014/main" id="{55791778-B8DF-4585-9059-B6651BFBA8BD}"/>
              </a:ext>
            </a:extLst>
          </p:cNvPr>
          <p:cNvSpPr>
            <a:spLocks xmlns:a="http://schemas.openxmlformats.org/drawingml/2006/main" noGrp="1"/>
          </p:cNvSpPr>
          <p:nvPr/>
        </p:nvSpPr>
        <p:spPr>
          <a:xfrm xmlns:a="http://schemas.openxmlformats.org/drawingml/2006/main">
            <a:off x="8191500" y="2952750"/>
            <a:ext cx="304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E6A76"/>
                </a:solidFill>
                <a:latin typeface="Aptos"/>
                <a:ea typeface="Aptos"/>
                <a:cs typeface="Aptos"/>
              </a:defRPr>
            </a:pPr>
            <a:r>
              <a:rPr sz="1200" b="0">
                <a:solidFill>
                  <a:srgbClr val="5E6A76"/>
                </a:solidFill>
                <a:latin typeface="Aptos"/>
                <a:ea typeface="Aptos"/>
                <a:cs typeface="Aptos"/>
              </a:rPr>
              <a:t>Qualify export, ELK filtering, access and retention</a:t>
            </a:r>
          </a:p>
        </p:txBody>
      </p:sp>
      <p:sp>
        <p:nvSpPr>
          <p:cNvPr id="30" name="">
            <a:extLst xmlns:a="http://schemas.openxmlformats.org/drawingml/2006/main">
              <a:ext uri="{FF2B5EF4-FFF2-40B4-BE49-F238E27FC236}">
                <a16:creationId xmlns:a16="http://schemas.microsoft.com/office/drawing/2014/main" id="{9FCC9A81-E14A-4998-8DFC-F8A38A6CBB37}"/>
              </a:ext>
            </a:extLst>
          </p:cNvPr>
          <p:cNvSpPr>
            <a:spLocks xmlns:a="http://schemas.openxmlformats.org/drawingml/2006/main" noGrp="1"/>
          </p:cNvSpPr>
          <p:nvPr/>
        </p:nvSpPr>
        <p:spPr>
          <a:xfrm xmlns:a="http://schemas.openxmlformats.org/drawingml/2006/main">
            <a:off x="6267450" y="3505200"/>
            <a:ext cx="4972050" cy="0"/>
          </a:xfrm>
          <a:prstGeom xmlns:a="http://schemas.openxmlformats.org/drawingml/2006/main" prst="line">
            <a:avLst/>
          </a:prstGeom>
          <a:ln xmlns:a="http://schemas.openxmlformats.org/drawingml/2006/main" w="9525">
            <a:solidFill>
              <a:srgbClr val="B9C3CC"/>
            </a:solidFill>
            <a:prstDash val="solid"/>
          </a:ln>
        </p:spPr>
      </p:sp>
      <p:sp>
        <p:nvSpPr>
          <p:cNvPr id="31" name="">
            <a:extLst xmlns:a="http://schemas.openxmlformats.org/drawingml/2006/main">
              <a:ext uri="{FF2B5EF4-FFF2-40B4-BE49-F238E27FC236}">
                <a16:creationId xmlns:a16="http://schemas.microsoft.com/office/drawing/2014/main" id="{9950C1C3-92E4-465C-96B6-98D671819C0D}"/>
              </a:ext>
            </a:extLst>
          </p:cNvPr>
          <p:cNvSpPr>
            <a:spLocks xmlns:a="http://schemas.openxmlformats.org/drawingml/2006/main" noGrp="1"/>
          </p:cNvSpPr>
          <p:nvPr/>
        </p:nvSpPr>
        <p:spPr>
          <a:xfrm xmlns:a="http://schemas.openxmlformats.org/drawingml/2006/main">
            <a:off x="6267450" y="369570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7212B"/>
                </a:solidFill>
                <a:latin typeface="Aptos"/>
                <a:ea typeface="Aptos"/>
                <a:cs typeface="Aptos"/>
              </a:defRPr>
            </a:pPr>
            <a:r>
              <a:rPr sz="1350" b="1">
                <a:solidFill>
                  <a:srgbClr val="17212B"/>
                </a:solidFill>
                <a:latin typeface="Aptos"/>
                <a:ea typeface="Aptos"/>
                <a:cs typeface="Aptos"/>
              </a:rPr>
              <a:t>Demo presentation</a:t>
            </a:r>
          </a:p>
        </p:txBody>
      </p:sp>
      <p:sp>
        <p:nvSpPr>
          <p:cNvPr id="32" name="">
            <a:extLst xmlns:a="http://schemas.openxmlformats.org/drawingml/2006/main">
              <a:ext uri="{FF2B5EF4-FFF2-40B4-BE49-F238E27FC236}">
                <a16:creationId xmlns:a16="http://schemas.microsoft.com/office/drawing/2014/main" id="{8A765766-92E6-420F-B58F-AD9FD8520539}"/>
              </a:ext>
            </a:extLst>
          </p:cNvPr>
          <p:cNvSpPr>
            <a:spLocks xmlns:a="http://schemas.openxmlformats.org/drawingml/2006/main" noGrp="1"/>
          </p:cNvSpPr>
          <p:nvPr/>
        </p:nvSpPr>
        <p:spPr>
          <a:xfrm xmlns:a="http://schemas.openxmlformats.org/drawingml/2006/main">
            <a:off x="8191500" y="3695700"/>
            <a:ext cx="304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E6A76"/>
                </a:solidFill>
                <a:latin typeface="Aptos"/>
                <a:ea typeface="Aptos"/>
                <a:cs typeface="Aptos"/>
              </a:defRPr>
            </a:pPr>
            <a:r>
              <a:rPr sz="1200" b="0">
                <a:solidFill>
                  <a:srgbClr val="5E6A76"/>
                </a:solidFill>
                <a:latin typeface="Aptos"/>
                <a:ea typeface="Aptos"/>
                <a:cs typeface="Aptos"/>
              </a:rPr>
              <a:t>Software Delivery and Engineering Dashboard changes</a:t>
            </a:r>
          </a:p>
        </p:txBody>
      </p:sp>
      <p:sp>
        <p:nvSpPr>
          <p:cNvPr id="33" name="">
            <a:extLst xmlns:a="http://schemas.openxmlformats.org/drawingml/2006/main">
              <a:ext uri="{FF2B5EF4-FFF2-40B4-BE49-F238E27FC236}">
                <a16:creationId xmlns:a16="http://schemas.microsoft.com/office/drawing/2014/main" id="{66455C35-570A-4D95-9D6C-2F6D647A5915}"/>
              </a:ext>
            </a:extLst>
          </p:cNvPr>
          <p:cNvSpPr>
            <a:spLocks xmlns:a="http://schemas.openxmlformats.org/drawingml/2006/main" noGrp="1"/>
          </p:cNvSpPr>
          <p:nvPr/>
        </p:nvSpPr>
        <p:spPr>
          <a:xfrm xmlns:a="http://schemas.openxmlformats.org/drawingml/2006/main">
            <a:off x="6267450" y="4248150"/>
            <a:ext cx="4972050" cy="0"/>
          </a:xfrm>
          <a:prstGeom xmlns:a="http://schemas.openxmlformats.org/drawingml/2006/main" prst="line">
            <a:avLst/>
          </a:prstGeom>
          <a:ln xmlns:a="http://schemas.openxmlformats.org/drawingml/2006/main" w="9525">
            <a:solidFill>
              <a:srgbClr val="B9C3CC"/>
            </a:solidFill>
            <a:prstDash val="solid"/>
          </a:ln>
        </p:spPr>
      </p:sp>
      <p:sp>
        <p:nvSpPr>
          <p:cNvPr id="34" name="">
            <a:extLst xmlns:a="http://schemas.openxmlformats.org/drawingml/2006/main">
              <a:ext uri="{FF2B5EF4-FFF2-40B4-BE49-F238E27FC236}">
                <a16:creationId xmlns:a16="http://schemas.microsoft.com/office/drawing/2014/main" id="{D033DA68-DF1B-4A15-9628-8EB85755CDA0}"/>
              </a:ext>
            </a:extLst>
          </p:cNvPr>
          <p:cNvSpPr>
            <a:spLocks xmlns:a="http://schemas.openxmlformats.org/drawingml/2006/main" noGrp="1"/>
          </p:cNvSpPr>
          <p:nvPr/>
        </p:nvSpPr>
        <p:spPr>
          <a:xfrm xmlns:a="http://schemas.openxmlformats.org/drawingml/2006/main">
            <a:off x="6267450" y="44386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a:solidFill>
                  <a:srgbClr val="A43E3E"/>
                </a:solidFill>
                <a:latin typeface="Aptos"/>
                <a:ea typeface="Aptos"/>
                <a:cs typeface="Aptos"/>
              </a:defRPr>
            </a:pPr>
            <a:r>
              <a:rPr sz="1350" b="1">
                <a:solidFill>
                  <a:srgbClr val="A43E3E"/>
                </a:solidFill>
                <a:latin typeface="Aptos"/>
                <a:ea typeface="Aptos"/>
                <a:cs typeface="Aptos"/>
              </a:rPr>
              <a:t>Reset</a:t>
            </a:r>
          </a:p>
        </p:txBody>
      </p:sp>
      <p:sp>
        <p:nvSpPr>
          <p:cNvPr id="35" name="">
            <a:extLst xmlns:a="http://schemas.openxmlformats.org/drawingml/2006/main">
              <a:ext uri="{FF2B5EF4-FFF2-40B4-BE49-F238E27FC236}">
                <a16:creationId xmlns:a16="http://schemas.microsoft.com/office/drawing/2014/main" id="{A0FE5073-4FA3-4F2C-A852-5B9EA87B6473}"/>
              </a:ext>
            </a:extLst>
          </p:cNvPr>
          <p:cNvSpPr>
            <a:spLocks xmlns:a="http://schemas.openxmlformats.org/drawingml/2006/main" noGrp="1"/>
          </p:cNvSpPr>
          <p:nvPr/>
        </p:nvSpPr>
        <p:spPr>
          <a:xfrm xmlns:a="http://schemas.openxmlformats.org/drawingml/2006/main">
            <a:off x="8191500" y="4438650"/>
            <a:ext cx="304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0">
                <a:solidFill>
                  <a:srgbClr val="A43E3E"/>
                </a:solidFill>
                <a:latin typeface="Aptos"/>
                <a:ea typeface="Aptos"/>
                <a:cs typeface="Aptos"/>
              </a:defRPr>
            </a:pPr>
            <a:r>
              <a:rPr sz="1200" b="0">
                <a:solidFill>
                  <a:srgbClr val="A43E3E"/>
                </a:solidFill>
                <a:latin typeface="Aptos"/>
                <a:ea typeface="Aptos"/>
                <a:cs typeface="Aptos"/>
              </a:rPr>
              <a:t>Prove repeatable return to G0 without stale Cloud state</a:t>
            </a:r>
          </a:p>
        </p:txBody>
      </p:sp>
      <p:sp>
        <p:nvSpPr>
          <p:cNvPr id="36" name="">
            <a:extLst xmlns:a="http://schemas.openxmlformats.org/drawingml/2006/main">
              <a:ext uri="{FF2B5EF4-FFF2-40B4-BE49-F238E27FC236}">
                <a16:creationId xmlns:a16="http://schemas.microsoft.com/office/drawing/2014/main" id="{0A79C7DD-F115-4476-8356-AF0FA8C69417}"/>
              </a:ext>
            </a:extLst>
          </p:cNvPr>
          <p:cNvSpPr>
            <a:spLocks xmlns:a="http://schemas.openxmlformats.org/drawingml/2006/main" noGrp="1"/>
          </p:cNvSpPr>
          <p:nvPr/>
        </p:nvSpPr>
        <p:spPr>
          <a:xfrm xmlns:a="http://schemas.openxmlformats.org/drawingml/2006/main">
            <a:off x="6267450" y="4991100"/>
            <a:ext cx="4972050" cy="0"/>
          </a:xfrm>
          <a:prstGeom xmlns:a="http://schemas.openxmlformats.org/drawingml/2006/main" prst="line">
            <a:avLst/>
          </a:prstGeom>
          <a:ln xmlns:a="http://schemas.openxmlformats.org/drawingml/2006/main" w="19050">
            <a:solidFill>
              <a:srgbClr val="A43E3E"/>
            </a:solidFill>
            <a:prstDash val="solid"/>
          </a:ln>
        </p:spPr>
      </p:sp>
      <p:sp>
        <p:nvSpPr>
          <p:cNvPr id="37" name="">
            <a:extLst xmlns:a="http://schemas.openxmlformats.org/drawingml/2006/main">
              <a:ext uri="{FF2B5EF4-FFF2-40B4-BE49-F238E27FC236}">
                <a16:creationId xmlns:a16="http://schemas.microsoft.com/office/drawing/2014/main" id="{7013B213-A187-49CE-9129-DC1C12DA87AB}"/>
              </a:ext>
            </a:extLst>
          </p:cNvPr>
          <p:cNvSpPr>
            <a:spLocks xmlns:a="http://schemas.openxmlformats.org/drawingml/2006/main" noGrp="1"/>
          </p:cNvSpPr>
          <p:nvPr/>
        </p:nvSpPr>
        <p:spPr>
          <a:xfrm xmlns:a="http://schemas.openxmlformats.org/drawingml/2006/main">
            <a:off x="6267450" y="518160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7212B"/>
                </a:solidFill>
                <a:latin typeface="Aptos"/>
                <a:ea typeface="Aptos"/>
                <a:cs typeface="Aptos"/>
              </a:defRPr>
            </a:pPr>
            <a:r>
              <a:rPr sz="1350" b="1">
                <a:solidFill>
                  <a:srgbClr val="17212B"/>
                </a:solidFill>
                <a:latin typeface="Aptos"/>
                <a:ea typeface="Aptos"/>
                <a:cs typeface="Aptos"/>
              </a:rPr>
              <a:t>Timing</a:t>
            </a:r>
          </a:p>
        </p:txBody>
      </p:sp>
      <p:sp>
        <p:nvSpPr>
          <p:cNvPr id="38" name="">
            <a:extLst xmlns:a="http://schemas.openxmlformats.org/drawingml/2006/main">
              <a:ext uri="{FF2B5EF4-FFF2-40B4-BE49-F238E27FC236}">
                <a16:creationId xmlns:a16="http://schemas.microsoft.com/office/drawing/2014/main" id="{B44C28AB-A6F0-4BE4-A396-4371A2A3904E}"/>
              </a:ext>
            </a:extLst>
          </p:cNvPr>
          <p:cNvSpPr>
            <a:spLocks xmlns:a="http://schemas.openxmlformats.org/drawingml/2006/main" noGrp="1"/>
          </p:cNvSpPr>
          <p:nvPr/>
        </p:nvSpPr>
        <p:spPr>
          <a:xfrm xmlns:a="http://schemas.openxmlformats.org/drawingml/2006/main">
            <a:off x="8191500" y="5181600"/>
            <a:ext cx="304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E6A76"/>
                </a:solidFill>
                <a:latin typeface="Aptos"/>
                <a:ea typeface="Aptos"/>
                <a:cs typeface="Aptos"/>
              </a:defRPr>
            </a:pPr>
            <a:r>
              <a:rPr sz="1200" b="0">
                <a:solidFill>
                  <a:srgbClr val="5E6A76"/>
                </a:solidFill>
                <a:latin typeface="Aptos"/>
                <a:ea typeface="Aptos"/>
                <a:cs typeface="Aptos"/>
              </a:rPr>
              <a:t>Bound updates, advisory latency, recovery and reset</a:t>
            </a:r>
          </a:p>
        </p:txBody>
      </p:sp>
      <p:sp>
        <p:nvSpPr>
          <p:cNvPr id="39" name="">
            <a:extLst xmlns:a="http://schemas.openxmlformats.org/drawingml/2006/main">
              <a:ext uri="{FF2B5EF4-FFF2-40B4-BE49-F238E27FC236}">
                <a16:creationId xmlns:a16="http://schemas.microsoft.com/office/drawing/2014/main" id="{00F904FA-8F70-4ED5-8120-733CDCCEACF7}"/>
              </a:ext>
            </a:extLst>
          </p:cNvPr>
          <p:cNvSpPr>
            <a:spLocks xmlns:a="http://schemas.openxmlformats.org/drawingml/2006/main" noGrp="1"/>
          </p:cNvSpPr>
          <p:nvPr/>
        </p:nvSpPr>
        <p:spPr>
          <a:xfrm xmlns:a="http://schemas.openxmlformats.org/drawingml/2006/main">
            <a:off x="6267450" y="5734050"/>
            <a:ext cx="4972050" cy="0"/>
          </a:xfrm>
          <a:prstGeom xmlns:a="http://schemas.openxmlformats.org/drawingml/2006/main" prst="line">
            <a:avLst/>
          </a:prstGeom>
          <a:ln xmlns:a="http://schemas.openxmlformats.org/drawingml/2006/main" w="9525">
            <a:solidFill>
              <a:srgbClr val="B9C3CC"/>
            </a:solidFill>
            <a:prstDash val="solid"/>
          </a:ln>
        </p:spPr>
      </p:sp>
      <p:sp>
        <p:nvSpPr>
          <p:cNvPr id="40" name="">
            <a:extLst xmlns:a="http://schemas.openxmlformats.org/drawingml/2006/main">
              <a:ext uri="{FF2B5EF4-FFF2-40B4-BE49-F238E27FC236}">
                <a16:creationId xmlns:a16="http://schemas.microsoft.com/office/drawing/2014/main" id="{2C9DF9BF-0695-4AEE-8020-AFCC09FBB42C}"/>
              </a:ext>
            </a:extLst>
          </p:cNvPr>
          <p:cNvSpPr>
            <a:spLocks xmlns:a="http://schemas.openxmlformats.org/drawingml/2006/main" noGrp="1"/>
          </p:cNvSpPr>
          <p:nvPr/>
        </p:nvSpPr>
        <p:spPr>
          <a:xfrm xmlns:a="http://schemas.openxmlformats.org/drawingml/2006/main">
            <a:off x="609600" y="65341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825" b="1">
                <a:solidFill>
                  <a:srgbClr val="5E6A76"/>
                </a:solidFill>
                <a:latin typeface="Aptos"/>
                <a:ea typeface="Aptos"/>
                <a:cs typeface="Aptos"/>
              </a:defRPr>
            </a:pPr>
            <a:r>
              <a:rPr sz="825" b="1">
                <a:solidFill>
                  <a:srgbClr val="5E6A76"/>
                </a:solidFill>
                <a:latin typeface="Aptos"/>
                <a:ea typeface="Aptos"/>
                <a:cs typeface="Aptos"/>
              </a:rPr>
              <a:t>BACKUP • DISCUSSION DRAFT 0.1</a:t>
            </a:r>
          </a:p>
        </p:txBody>
      </p:sp>
      <p:sp>
        <p:nvSpPr>
          <p:cNvPr id="41" name="">
            <a:extLst xmlns:a="http://schemas.openxmlformats.org/drawingml/2006/main">
              <a:ext uri="{FF2B5EF4-FFF2-40B4-BE49-F238E27FC236}">
                <a16:creationId xmlns:a16="http://schemas.microsoft.com/office/drawing/2014/main" id="{37400E1C-B33F-4F5E-B653-E4E779AF7A2A}"/>
              </a:ext>
            </a:extLst>
          </p:cNvPr>
          <p:cNvSpPr>
            <a:spLocks xmlns:a="http://schemas.openxmlformats.org/drawingml/2006/main" noGrp="1"/>
          </p:cNvSpPr>
          <p:nvPr/>
        </p:nvSpPr>
        <p:spPr>
          <a:xfrm xmlns:a="http://schemas.openxmlformats.org/drawingml/2006/main">
            <a:off x="112014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00" b="0">
                <a:solidFill>
                  <a:srgbClr val="5E6A76"/>
                </a:solidFill>
                <a:latin typeface="Aptos"/>
                <a:ea typeface="Aptos"/>
                <a:cs typeface="Aptos"/>
              </a:defRPr>
            </a:pPr>
            <a:r>
              <a:rPr sz="900" b="0">
                <a:solidFill>
                  <a:srgbClr val="5E6A76"/>
                </a:solidFill>
                <a:latin typeface="Aptos"/>
                <a:ea typeface="Aptos"/>
                <a:cs typeface="Aptos"/>
              </a:rPr>
              <a:t>10</a:t>
            </a:r>
          </a:p>
        </p:txBody>
      </p:sp>
    </p:spTree>
    <p:extLst>
      <p:ext uri="{BB962C8B-B14F-4D97-AF65-F5344CB8AC3E}">
        <p14:creationId xmlns:p14="http://schemas.microsoft.com/office/powerpoint/2010/main" val="12940141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ection-11">
            <a:extLst xmlns:a="http://schemas.openxmlformats.org/drawingml/2006/main">
              <a:ext uri="{FF2B5EF4-FFF2-40B4-BE49-F238E27FC236}">
                <a16:creationId xmlns:a16="http://schemas.microsoft.com/office/drawing/2014/main" id="{43653F1F-7196-4F87-8D50-5EBD6D3E5B61}"/>
              </a:ext>
            </a:extLst>
          </p:cNvPr>
          <p:cNvSpPr>
            <a:spLocks xmlns:a="http://schemas.openxmlformats.org/drawingml/2006/main" noGrp="1"/>
          </p:cNvSpPr>
          <p:nvPr/>
        </p:nvSpPr>
        <p:spPr>
          <a:xfrm xmlns:a="http://schemas.openxmlformats.org/drawingml/2006/main">
            <a:off x="609600" y="3238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a:solidFill>
                  <a:srgbClr val="2F6F98"/>
                </a:solidFill>
                <a:latin typeface="Aptos"/>
                <a:ea typeface="Aptos"/>
                <a:cs typeface="Aptos"/>
              </a:defRPr>
            </a:pPr>
            <a:r>
              <a:rPr sz="975" b="1">
                <a:solidFill>
                  <a:srgbClr val="2F6F98"/>
                </a:solidFill>
                <a:latin typeface="Aptos"/>
                <a:ea typeface="Aptos"/>
                <a:cs typeface="Aptos"/>
              </a:rPr>
              <a:t>BACKUP — REPEATABLE DEMONSTRATION RESET</a:t>
            </a:r>
          </a:p>
        </p:txBody>
      </p:sp>
      <p:sp>
        <p:nvSpPr>
          <p:cNvPr id="2" name="title-11">
            <a:extLst xmlns:a="http://schemas.openxmlformats.org/drawingml/2006/main">
              <a:ext uri="{FF2B5EF4-FFF2-40B4-BE49-F238E27FC236}">
                <a16:creationId xmlns:a16="http://schemas.microsoft.com/office/drawing/2014/main" id="{0C91B565-FAD9-4D92-9A8E-C222F2F45CEE}"/>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850" b="1">
                <a:solidFill>
                  <a:srgbClr val="17212B"/>
                </a:solidFill>
                <a:latin typeface="Aptos"/>
                <a:ea typeface="Aptos"/>
                <a:cs typeface="Aptos"/>
              </a:defRPr>
            </a:pPr>
            <a:r>
              <a:rPr sz="2850" b="1">
                <a:solidFill>
                  <a:srgbClr val="17212B"/>
                </a:solidFill>
                <a:latin typeface="Aptos"/>
                <a:ea typeface="Aptos"/>
                <a:cs typeface="Aptos"/>
              </a:rPr>
              <a:t>Reset to G0 is a research gate—not an assumed capability</a:t>
            </a:r>
          </a:p>
        </p:txBody>
      </p:sp>
      <p:sp>
        <p:nvSpPr>
          <p:cNvPr id="3" name="">
            <a:extLst xmlns:a="http://schemas.openxmlformats.org/drawingml/2006/main">
              <a:ext uri="{FF2B5EF4-FFF2-40B4-BE49-F238E27FC236}">
                <a16:creationId xmlns:a16="http://schemas.microsoft.com/office/drawing/2014/main" id="{7108EDAA-A89B-41BA-BD22-5E0EA8288CED}"/>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B9C3CC"/>
            </a:solidFill>
            <a:prstDash val="solid"/>
          </a:ln>
        </p:spPr>
      </p:sp>
      <p:sp>
        <p:nvSpPr>
          <p:cNvPr id="4" name="">
            <a:extLst xmlns:a="http://schemas.openxmlformats.org/drawingml/2006/main">
              <a:ext uri="{FF2B5EF4-FFF2-40B4-BE49-F238E27FC236}">
                <a16:creationId xmlns:a16="http://schemas.microsoft.com/office/drawing/2014/main" id="{608AC3E1-7B5A-4441-8C03-FF5997B83627}"/>
              </a:ext>
            </a:extLst>
          </p:cNvPr>
          <p:cNvSpPr>
            <a:spLocks xmlns:a="http://schemas.openxmlformats.org/drawingml/2006/main" noGrp="1"/>
          </p:cNvSpPr>
          <p:nvPr/>
        </p:nvSpPr>
        <p:spPr>
          <a:xfrm xmlns:a="http://schemas.openxmlformats.org/drawingml/2006/main">
            <a:off x="609600" y="14287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a:solidFill>
                  <a:srgbClr val="17212B"/>
                </a:solidFill>
                <a:latin typeface="Aptos"/>
                <a:ea typeface="Aptos"/>
                <a:cs typeface="Aptos"/>
              </a:defRPr>
            </a:pPr>
            <a:r>
              <a:rPr sz="1425" b="1">
                <a:solidFill>
                  <a:srgbClr val="17212B"/>
                </a:solidFill>
                <a:latin typeface="Aptos"/>
                <a:ea typeface="Aptos"/>
                <a:cs typeface="Aptos"/>
              </a:rPr>
              <a:t>The goal</a:t>
            </a:r>
          </a:p>
        </p:txBody>
      </p:sp>
      <p:sp>
        <p:nvSpPr>
          <p:cNvPr id="5" name="">
            <a:extLst xmlns:a="http://schemas.openxmlformats.org/drawingml/2006/main">
              <a:ext uri="{FF2B5EF4-FFF2-40B4-BE49-F238E27FC236}">
                <a16:creationId xmlns:a16="http://schemas.microsoft.com/office/drawing/2014/main" id="{49D867CA-429D-49CA-8E68-123594F8F760}"/>
              </a:ext>
            </a:extLst>
          </p:cNvPr>
          <p:cNvSpPr>
            <a:spLocks xmlns:a="http://schemas.openxmlformats.org/drawingml/2006/main" noGrp="1"/>
          </p:cNvSpPr>
          <p:nvPr/>
        </p:nvSpPr>
        <p:spPr>
          <a:xfrm xmlns:a="http://schemas.openxmlformats.org/drawingml/2006/main">
            <a:off x="2133600" y="1390650"/>
            <a:ext cx="9220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58"/>
          </a:bodyPr>
          <a:lstStyle xmlns:a="http://schemas.openxmlformats.org/drawingml/2006/main"/>
          <a:p xmlns:a="http://schemas.openxmlformats.org/drawingml/2006/main">
            <a:pPr algn="l">
              <a:lnSpc>
                <a:spcPct val="108000"/>
              </a:lnSpc>
              <a:buNone/>
              <a:defRPr sz="1575" b="0">
                <a:solidFill>
                  <a:srgbClr val="17212B"/>
                </a:solidFill>
                <a:latin typeface="Aptos"/>
                <a:ea typeface="Aptos"/>
                <a:cs typeface="Aptos"/>
              </a:defRPr>
            </a:pPr>
            <a:r>
              <a:rPr sz="1575" b="0">
                <a:solidFill>
                  <a:srgbClr val="17212B"/>
                </a:solidFill>
                <a:latin typeface="Aptos"/>
                <a:ea typeface="Aptos"/>
                <a:cs typeface="Aptos"/>
              </a:rPr>
              <a:t>Return both Units, Cloud state, dashboards, backend and CARLA to a known G0 baseline while preserving Unit identity and the SOP platform substrate.</a:t>
            </a:r>
          </a:p>
        </p:txBody>
      </p:sp>
      <p:sp>
        <p:nvSpPr>
          <p:cNvPr id="6" name="">
            <a:extLst xmlns:a="http://schemas.openxmlformats.org/drawingml/2006/main">
              <a:ext uri="{FF2B5EF4-FFF2-40B4-BE49-F238E27FC236}">
                <a16:creationId xmlns:a16="http://schemas.microsoft.com/office/drawing/2014/main" id="{DBE675D1-DA36-4709-B12A-DE1D752D1FDA}"/>
              </a:ext>
            </a:extLst>
          </p:cNvPr>
          <p:cNvSpPr>
            <a:spLocks xmlns:a="http://schemas.openxmlformats.org/drawingml/2006/main" noGrp="1"/>
          </p:cNvSpPr>
          <p:nvPr/>
        </p:nvSpPr>
        <p:spPr>
          <a:xfrm xmlns:a="http://schemas.openxmlformats.org/drawingml/2006/main">
            <a:off x="609600" y="2343150"/>
            <a:ext cx="2381250" cy="952500"/>
          </a:xfrm>
          <a:prstGeom xmlns:a="http://schemas.openxmlformats.org/drawingml/2006/main" prst="roundRect">
            <a:avLst>
              <a:gd name="adj" fmla="val 10000"/>
            </a:avLst>
          </a:prstGeom>
          <a:solidFill xmlns:a="http://schemas.openxmlformats.org/drawingml/2006/main">
            <a:srgbClr val="E5F4F0"/>
          </a:solidFill>
          <a:ln xmlns:a="http://schemas.openxmlformats.org/drawingml/2006/main" w="14288">
            <a:solidFill>
              <a:srgbClr val="14806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1  Native desired-state</a:t>
            </a:r>
          </a:p>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removal / rollback</a:t>
            </a:r>
          </a:p>
        </p:txBody>
      </p:sp>
      <p:sp>
        <p:nvSpPr>
          <p:cNvPr id="7" name="">
            <a:extLst xmlns:a="http://schemas.openxmlformats.org/drawingml/2006/main">
              <a:ext uri="{FF2B5EF4-FFF2-40B4-BE49-F238E27FC236}">
                <a16:creationId xmlns:a16="http://schemas.microsoft.com/office/drawing/2014/main" id="{8461B58F-0EF7-4BFB-8B30-ACD34EAE148F}"/>
              </a:ext>
            </a:extLst>
          </p:cNvPr>
          <p:cNvSpPr>
            <a:spLocks xmlns:a="http://schemas.openxmlformats.org/drawingml/2006/main" noGrp="1"/>
          </p:cNvSpPr>
          <p:nvPr/>
        </p:nvSpPr>
        <p:spPr>
          <a:xfrm xmlns:a="http://schemas.openxmlformats.org/drawingml/2006/main">
            <a:off x="3333750" y="2343150"/>
            <a:ext cx="2381250" cy="952500"/>
          </a:xfrm>
          <a:prstGeom xmlns:a="http://schemas.openxmlformats.org/drawingml/2006/main" prst="roundRect">
            <a:avLst>
              <a:gd name="adj" fmla="val 10000"/>
            </a:avLst>
          </a:prstGeom>
          <a:solidFill xmlns:a="http://schemas.openxmlformats.org/drawingml/2006/main">
            <a:srgbClr val="F0ECF8"/>
          </a:solidFill>
          <a:ln xmlns:a="http://schemas.openxmlformats.org/drawingml/2006/main" w="14288">
            <a:solidFill>
              <a:srgbClr val="6C55A3"/>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2  Forward reset release</a:t>
            </a:r>
          </a:p>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new accepted version</a:t>
            </a:r>
          </a:p>
        </p:txBody>
      </p:sp>
      <p:sp>
        <p:nvSpPr>
          <p:cNvPr id="8" name="">
            <a:extLst xmlns:a="http://schemas.openxmlformats.org/drawingml/2006/main">
              <a:ext uri="{FF2B5EF4-FFF2-40B4-BE49-F238E27FC236}">
                <a16:creationId xmlns:a16="http://schemas.microsoft.com/office/drawing/2014/main" id="{6BE6142E-414C-4218-B76C-6938843CA3FA}"/>
              </a:ext>
            </a:extLst>
          </p:cNvPr>
          <p:cNvSpPr>
            <a:spLocks xmlns:a="http://schemas.openxmlformats.org/drawingml/2006/main" noGrp="1"/>
          </p:cNvSpPr>
          <p:nvPr/>
        </p:nvSpPr>
        <p:spPr>
          <a:xfrm xmlns:a="http://schemas.openxmlformats.org/drawingml/2006/main">
            <a:off x="6057900" y="2343150"/>
            <a:ext cx="2381250" cy="952500"/>
          </a:xfrm>
          <a:prstGeom xmlns:a="http://schemas.openxmlformats.org/drawingml/2006/main" prst="roundRect">
            <a:avLst>
              <a:gd name="adj" fmla="val 10000"/>
            </a:avLst>
          </a:prstGeom>
          <a:solidFill xmlns:a="http://schemas.openxmlformats.org/drawingml/2006/main">
            <a:srgbClr val="FFF4D6"/>
          </a:solidFill>
          <a:ln xmlns:a="http://schemas.openxmlformats.org/drawingml/2006/main" w="14288">
            <a:solidFill>
              <a:srgbClr val="9A6900"/>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3  Golden VM snapshot</a:t>
            </a:r>
          </a:p>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 Cloud reconciliation</a:t>
            </a:r>
          </a:p>
        </p:txBody>
      </p:sp>
      <p:sp>
        <p:nvSpPr>
          <p:cNvPr id="9" name="">
            <a:extLst xmlns:a="http://schemas.openxmlformats.org/drawingml/2006/main">
              <a:ext uri="{FF2B5EF4-FFF2-40B4-BE49-F238E27FC236}">
                <a16:creationId xmlns:a16="http://schemas.microsoft.com/office/drawing/2014/main" id="{3BD064E8-80B1-46F6-8D03-7C98F55A042B}"/>
              </a:ext>
            </a:extLst>
          </p:cNvPr>
          <p:cNvSpPr>
            <a:spLocks xmlns:a="http://schemas.openxmlformats.org/drawingml/2006/main" noGrp="1"/>
          </p:cNvSpPr>
          <p:nvPr/>
        </p:nvSpPr>
        <p:spPr>
          <a:xfrm xmlns:a="http://schemas.openxmlformats.org/drawingml/2006/main">
            <a:off x="8782050" y="2343150"/>
            <a:ext cx="2381250" cy="952500"/>
          </a:xfrm>
          <a:prstGeom xmlns:a="http://schemas.openxmlformats.org/drawingml/2006/main" prst="roundRect">
            <a:avLst>
              <a:gd name="adj" fmla="val 10000"/>
            </a:avLst>
          </a:prstGeom>
          <a:solidFill xmlns:a="http://schemas.openxmlformats.org/drawingml/2006/main">
            <a:srgbClr val="F5F7F9"/>
          </a:solidFill>
          <a:ln xmlns:a="http://schemas.openxmlformats.org/drawingml/2006/main" w="14288">
            <a:solidFill>
              <a:srgbClr val="78869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4  Replacement Unit</a:t>
            </a:r>
          </a:p>
          <a:p xmlns:a="http://schemas.openxmlformats.org/drawingml/2006/main">
            <a:pPr algn="ctr">
              <a:lnSpc>
                <a:spcPct val="104000"/>
              </a:lnSpc>
              <a:buNone/>
              <a:defRPr sz="1425" b="1">
                <a:solidFill>
                  <a:srgbClr val="17212B"/>
                </a:solidFill>
                <a:latin typeface="Aptos"/>
                <a:ea typeface="Aptos"/>
                <a:cs typeface="Aptos"/>
              </a:defRPr>
            </a:pPr>
            <a:r>
              <a:rPr sz="1425" b="1">
                <a:solidFill>
                  <a:srgbClr val="17212B"/>
                </a:solidFill>
                <a:latin typeface="Aptos"/>
                <a:ea typeface="Aptos"/>
                <a:cs typeface="Aptos"/>
              </a:rPr>
              <a:t>last-resort fallback</a:t>
            </a:r>
          </a:p>
        </p:txBody>
      </p:sp>
      <p:sp>
        <p:nvSpPr>
          <p:cNvPr id="10" name="">
            <a:extLst xmlns:a="http://schemas.openxmlformats.org/drawingml/2006/main">
              <a:ext uri="{FF2B5EF4-FFF2-40B4-BE49-F238E27FC236}">
                <a16:creationId xmlns:a16="http://schemas.microsoft.com/office/drawing/2014/main" id="{9968AE60-6586-40FE-A804-87A89BE7FCB6}"/>
              </a:ext>
            </a:extLst>
          </p:cNvPr>
          <p:cNvSpPr>
            <a:spLocks xmlns:a="http://schemas.openxmlformats.org/drawingml/2006/main" noGrp="1"/>
          </p:cNvSpPr>
          <p:nvPr/>
        </p:nvSpPr>
        <p:spPr>
          <a:xfrm xmlns:a="http://schemas.openxmlformats.org/drawingml/2006/main">
            <a:off x="2400300" y="4038600"/>
            <a:ext cx="7391400" cy="1047750"/>
          </a:xfrm>
          <a:prstGeom xmlns:a="http://schemas.openxmlformats.org/drawingml/2006/main" prst="roundRect">
            <a:avLst>
              <a:gd name="adj" fmla="val 9091"/>
            </a:avLst>
          </a:prstGeom>
          <a:solidFill xmlns:a="http://schemas.openxmlformats.org/drawingml/2006/main">
            <a:srgbClr val="FAEAEA"/>
          </a:solidFill>
          <a:ln xmlns:a="http://schemas.openxmlformats.org/drawingml/2006/main" w="17145">
            <a:solidFill>
              <a:srgbClr val="A43E3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104000"/>
              </a:lnSpc>
              <a:buNone/>
              <a:defRPr sz="1575" b="1">
                <a:solidFill>
                  <a:srgbClr val="17212B"/>
                </a:solidFill>
                <a:latin typeface="Aptos"/>
                <a:ea typeface="Aptos"/>
                <a:cs typeface="Aptos"/>
              </a:defRPr>
            </a:pPr>
            <a:r>
              <a:rPr sz="1575" b="1">
                <a:solidFill>
                  <a:srgbClr val="17212B"/>
                </a:solidFill>
                <a:latin typeface="Aptos"/>
                <a:ea typeface="Aptos"/>
                <a:cs typeface="Aptos"/>
              </a:rPr>
              <a:t>Research output</a:t>
            </a:r>
          </a:p>
          <a:p xmlns:a="http://schemas.openxmlformats.org/drawingml/2006/main">
            <a:pPr algn="ctr">
              <a:lnSpc>
                <a:spcPct val="104000"/>
              </a:lnSpc>
              <a:buNone/>
              <a:defRPr sz="1575" b="1">
                <a:solidFill>
                  <a:srgbClr val="17212B"/>
                </a:solidFill>
                <a:latin typeface="Aptos"/>
                <a:ea typeface="Aptos"/>
                <a:cs typeface="Aptos"/>
              </a:defRPr>
            </a:pPr>
            <a:r>
              <a:rPr sz="1575" b="1">
                <a:solidFill>
                  <a:srgbClr val="17212B"/>
                </a:solidFill>
                <a:latin typeface="Aptos"/>
                <a:ea typeface="Aptos"/>
                <a:cs typeface="Aptos"/>
              </a:rPr>
              <a:t>Primary mechanism + fallback + measured readiness bound + exact state-reconciliation sequence</a:t>
            </a:r>
          </a:p>
        </p:txBody>
      </p:sp>
      <p:cxnSp>
        <p:nvCxnSpPr>
          <p:cNvPr id="28" name=""/>
          <p:cNvCxnSpPr>
            <a:stCxn xmlns:a="http://schemas.openxmlformats.org/drawingml/2006/main" id="6" idx="2"/>
            <a:endCxn xmlns:a="http://schemas.openxmlformats.org/drawingml/2006/main" id="10" idx="0"/>
          </p:cNvCxnSpPr>
          <p:nvPr/>
        </p:nvCxnSpPr>
        <p:spPr>
          <a:xfrm xmlns:a="http://schemas.openxmlformats.org/drawingml/2006/main">
            <a:off x="1800225" y="3295650"/>
            <a:ext cx="4295775" cy="742950"/>
          </a:xfrm>
          <a:prstGeom xmlns:a="http://schemas.openxmlformats.org/drawingml/2006/main" prst="straightConnector1">
            <a:avLst/>
          </a:prstGeom>
          <a:ln xmlns:a="http://schemas.openxmlformats.org/drawingml/2006/main" w="14288">
            <a:solidFill>
              <a:srgbClr val="14806F"/>
            </a:solidFill>
            <a:prstDash val="solid"/>
            <a:tailEnd type="arrow" w="med" len="med"/>
          </a:ln>
        </p:spPr>
      </p:cxnSp>
      <p:cxnSp>
        <p:nvCxnSpPr>
          <p:cNvPr id="29" name=""/>
          <p:cNvCxnSpPr>
            <a:stCxn xmlns:a="http://schemas.openxmlformats.org/drawingml/2006/main" id="7" idx="2"/>
            <a:endCxn xmlns:a="http://schemas.openxmlformats.org/drawingml/2006/main" id="10" idx="0"/>
          </p:cNvCxnSpPr>
          <p:nvPr/>
        </p:nvCxnSpPr>
        <p:spPr>
          <a:xfrm xmlns:a="http://schemas.openxmlformats.org/drawingml/2006/main">
            <a:off x="4524375" y="3295650"/>
            <a:ext cx="1571625" cy="742950"/>
          </a:xfrm>
          <a:prstGeom xmlns:a="http://schemas.openxmlformats.org/drawingml/2006/main" prst="straightConnector1">
            <a:avLst/>
          </a:prstGeom>
          <a:ln xmlns:a="http://schemas.openxmlformats.org/drawingml/2006/main" w="14288">
            <a:solidFill>
              <a:srgbClr val="6C55A3"/>
            </a:solidFill>
            <a:prstDash val="solid"/>
            <a:tailEnd type="arrow" w="med" len="med"/>
          </a:ln>
        </p:spPr>
      </p:cxnSp>
      <p:cxnSp>
        <p:nvCxnSpPr>
          <p:cNvPr id="30" name=""/>
          <p:cNvCxnSpPr>
            <a:stCxn xmlns:a="http://schemas.openxmlformats.org/drawingml/2006/main" id="8" idx="2"/>
            <a:endCxn xmlns:a="http://schemas.openxmlformats.org/drawingml/2006/main" id="10" idx="0"/>
          </p:cNvCxnSpPr>
          <p:nvPr/>
        </p:nvCxnSpPr>
        <p:spPr>
          <a:xfrm xmlns:a="http://schemas.openxmlformats.org/drawingml/2006/main" flipH="1">
            <a:off x="6096000" y="3295650"/>
            <a:ext cx="1152525" cy="742950"/>
          </a:xfrm>
          <a:prstGeom xmlns:a="http://schemas.openxmlformats.org/drawingml/2006/main" prst="straightConnector1">
            <a:avLst/>
          </a:prstGeom>
          <a:ln xmlns:a="http://schemas.openxmlformats.org/drawingml/2006/main" w="14288">
            <a:solidFill>
              <a:srgbClr val="9A6900"/>
            </a:solidFill>
            <a:prstDash val="solid"/>
            <a:tailEnd type="arrow" w="med" len="med"/>
          </a:ln>
        </p:spPr>
      </p:cxnSp>
      <p:cxnSp>
        <p:nvCxnSpPr>
          <p:cNvPr id="31" name=""/>
          <p:cNvCxnSpPr>
            <a:stCxn xmlns:a="http://schemas.openxmlformats.org/drawingml/2006/main" id="9" idx="2"/>
            <a:endCxn xmlns:a="http://schemas.openxmlformats.org/drawingml/2006/main" id="10" idx="0"/>
          </p:cNvCxnSpPr>
          <p:nvPr/>
        </p:nvCxnSpPr>
        <p:spPr>
          <a:xfrm xmlns:a="http://schemas.openxmlformats.org/drawingml/2006/main" flipH="1">
            <a:off x="6096000" y="3295650"/>
            <a:ext cx="3876675" cy="742950"/>
          </a:xfrm>
          <a:prstGeom xmlns:a="http://schemas.openxmlformats.org/drawingml/2006/main" prst="straightConnector1">
            <a:avLst/>
          </a:prstGeom>
          <a:ln xmlns:a="http://schemas.openxmlformats.org/drawingml/2006/main" w="14288">
            <a:solidFill>
              <a:srgbClr val="788692"/>
            </a:solidFill>
            <a:prstDash val="solid"/>
            <a:tailEnd type="arrow" w="med" len="med"/>
          </a:ln>
        </p:spPr>
      </p:cxnSp>
      <p:sp>
        <p:nvSpPr>
          <p:cNvPr id="15" name="">
            <a:extLst xmlns:a="http://schemas.openxmlformats.org/drawingml/2006/main">
              <a:ext uri="{FF2B5EF4-FFF2-40B4-BE49-F238E27FC236}">
                <a16:creationId xmlns:a16="http://schemas.microsoft.com/office/drawing/2014/main" id="{20655C3B-D0AA-4C96-831A-DC3310DFCF63}"/>
              </a:ext>
            </a:extLst>
          </p:cNvPr>
          <p:cNvSpPr>
            <a:spLocks xmlns:a="http://schemas.openxmlformats.org/drawingml/2006/main" noGrp="1"/>
          </p:cNvSpPr>
          <p:nvPr/>
        </p:nvSpPr>
        <p:spPr>
          <a:xfrm xmlns:a="http://schemas.openxmlformats.org/drawingml/2006/main">
            <a:off x="1581150" y="5619750"/>
            <a:ext cx="9029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272"/>
          </a:bodyPr>
          <a:lstStyle xmlns:a="http://schemas.openxmlformats.org/drawingml/2006/main"/>
          <a:p xmlns:a="http://schemas.openxmlformats.org/drawingml/2006/main">
            <a:pPr algn="ctr">
              <a:lnSpc>
                <a:spcPct val="108000"/>
              </a:lnSpc>
              <a:buNone/>
              <a:defRPr sz="1500" b="1">
                <a:solidFill>
                  <a:srgbClr val="A43E3E"/>
                </a:solidFill>
                <a:latin typeface="Aptos"/>
                <a:ea typeface="Aptos"/>
                <a:cs typeface="Aptos"/>
              </a:defRPr>
            </a:pPr>
            <a:r>
              <a:rPr sz="1500" b="1">
                <a:solidFill>
                  <a:srgbClr val="A43E3E"/>
                </a:solidFill>
                <a:latin typeface="Aptos"/>
                <a:ea typeface="Aptos"/>
                <a:cs typeface="Aptos"/>
              </a:rPr>
              <a:t>No reset experiment, Cloud mutation, snapshot replacement or implementation has been started by recording this gate.</a:t>
            </a:r>
          </a:p>
        </p:txBody>
      </p:sp>
      <p:sp>
        <p:nvSpPr>
          <p:cNvPr id="16" name="">
            <a:extLst xmlns:a="http://schemas.openxmlformats.org/drawingml/2006/main">
              <a:ext uri="{FF2B5EF4-FFF2-40B4-BE49-F238E27FC236}">
                <a16:creationId xmlns:a16="http://schemas.microsoft.com/office/drawing/2014/main" id="{1D87A4EA-4FF7-47B1-9D9D-6C9AE1A60984}"/>
              </a:ext>
            </a:extLst>
          </p:cNvPr>
          <p:cNvSpPr>
            <a:spLocks xmlns:a="http://schemas.openxmlformats.org/drawingml/2006/main" noGrp="1"/>
          </p:cNvSpPr>
          <p:nvPr/>
        </p:nvSpPr>
        <p:spPr>
          <a:xfrm xmlns:a="http://schemas.openxmlformats.org/drawingml/2006/main">
            <a:off x="609600" y="65341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825" b="1">
                <a:solidFill>
                  <a:srgbClr val="5E6A76"/>
                </a:solidFill>
                <a:latin typeface="Aptos"/>
                <a:ea typeface="Aptos"/>
                <a:cs typeface="Aptos"/>
              </a:defRPr>
            </a:pPr>
            <a:r>
              <a:rPr sz="825" b="1">
                <a:solidFill>
                  <a:srgbClr val="5E6A76"/>
                </a:solidFill>
                <a:latin typeface="Aptos"/>
                <a:ea typeface="Aptos"/>
                <a:cs typeface="Aptos"/>
              </a:rPr>
              <a:t>BACKUP • DISCUSSION DRAFT 0.1</a:t>
            </a:r>
          </a:p>
        </p:txBody>
      </p:sp>
      <p:sp>
        <p:nvSpPr>
          <p:cNvPr id="17" name="">
            <a:extLst xmlns:a="http://schemas.openxmlformats.org/drawingml/2006/main">
              <a:ext uri="{FF2B5EF4-FFF2-40B4-BE49-F238E27FC236}">
                <a16:creationId xmlns:a16="http://schemas.microsoft.com/office/drawing/2014/main" id="{AA80398D-4FF5-4BFC-BB08-B656A55A0D4C}"/>
              </a:ext>
            </a:extLst>
          </p:cNvPr>
          <p:cNvSpPr>
            <a:spLocks xmlns:a="http://schemas.openxmlformats.org/drawingml/2006/main" noGrp="1"/>
          </p:cNvSpPr>
          <p:nvPr/>
        </p:nvSpPr>
        <p:spPr>
          <a:xfrm xmlns:a="http://schemas.openxmlformats.org/drawingml/2006/main">
            <a:off x="112014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00" b="0">
                <a:solidFill>
                  <a:srgbClr val="5E6A76"/>
                </a:solidFill>
                <a:latin typeface="Aptos"/>
                <a:ea typeface="Aptos"/>
                <a:cs typeface="Aptos"/>
              </a:defRPr>
            </a:pPr>
            <a:r>
              <a:rPr sz="900" b="0">
                <a:solidFill>
                  <a:srgbClr val="5E6A76"/>
                </a:solidFill>
                <a:latin typeface="Aptos"/>
                <a:ea typeface="Aptos"/>
                <a:cs typeface="Aptos"/>
              </a:rPr>
              <a:t>11</a:t>
            </a:r>
          </a:p>
        </p:txBody>
      </p:sp>
    </p:spTree>
    <p:extLst>
      <p:ext uri="{BB962C8B-B14F-4D97-AF65-F5344CB8AC3E}">
        <p14:creationId xmlns:p14="http://schemas.microsoft.com/office/powerpoint/2010/main" val="13057595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2026-08-16T19:55:48.8260000Z</dcterms:created>
  <dcterms:modified xsi:type="dcterms:W3CDTF">2026-08-16T19:55:48.8260000Z</dcterms:modified>
</coreProperties>
</file>